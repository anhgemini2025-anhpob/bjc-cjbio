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6.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media/image59.jpg" ContentType="image/jpg"/>
  <Override PartName="/ppt/theme/themeOverride6.xml" ContentType="application/vnd.openxmlformats-officedocument.themeOverride+xml"/>
  <Override PartName="/ppt/notesSlides/notesSlide7.xml" ContentType="application/vnd.openxmlformats-officedocument.presentationml.notesSlide+xml"/>
  <Override PartName="/ppt/media/image62.jpg" ContentType="image/jpg"/>
  <Override PartName="/ppt/media/image63.jpg" ContentType="image/jpg"/>
  <Override PartName="/ppt/media/image64.jpg" ContentType="image/jpg"/>
  <Override PartName="/ppt/media/image65.jpg" ContentType="image/jpg"/>
  <Override PartName="/ppt/media/image66.jpg" ContentType="image/jpg"/>
  <Override PartName="/ppt/media/image67.jpg" ContentType="image/jpg"/>
  <Override PartName="/ppt/media/image68.jpg" ContentType="image/jpg"/>
  <Override PartName="/ppt/media/image69.jpg" ContentType="image/jpg"/>
  <Override PartName="/ppt/media/image70.jpg" ContentType="image/jpg"/>
  <Override PartName="/ppt/media/image71.jpg" ContentType="image/jpg"/>
  <Override PartName="/ppt/media/image72.jpg" ContentType="image/jpg"/>
  <Override PartName="/ppt/media/image73.jpg" ContentType="image/jpg"/>
  <Override PartName="/ppt/media/image74.jpg" ContentType="image/jpg"/>
  <Override PartName="/ppt/media/image75.jpg" ContentType="image/jpg"/>
  <Override PartName="/ppt/media/image76.jpg" ContentType="image/jpg"/>
  <Override PartName="/ppt/media/image77.jpg" ContentType="image/jpg"/>
  <Override PartName="/ppt/media/image78.jpg" ContentType="image/jpg"/>
  <Override PartName="/ppt/media/image79.jpg" ContentType="image/jpg"/>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ppt/notesSlides/notesSlide19.xml" ContentType="application/vnd.openxmlformats-officedocument.presentationml.notesSlide+xml"/>
  <Override PartName="/ppt/theme/themeOverride19.xml" ContentType="application/vnd.openxmlformats-officedocument.themeOverride+xml"/>
  <Override PartName="/ppt/notesSlides/notesSlide20.xml" ContentType="application/vnd.openxmlformats-officedocument.presentationml.notesSlide+xml"/>
  <Override PartName="/ppt/theme/themeOverride20.xml" ContentType="application/vnd.openxmlformats-officedocument.themeOverride+xml"/>
  <Override PartName="/ppt/notesSlides/notesSlide21.xml" ContentType="application/vnd.openxmlformats-officedocument.presentationml.notesSlide+xml"/>
  <Override PartName="/ppt/theme/themeOverride21.xml" ContentType="application/vnd.openxmlformats-officedocument.themeOverride+xml"/>
  <Override PartName="/ppt/notesSlides/notesSlide22.xml" ContentType="application/vnd.openxmlformats-officedocument.presentationml.notesSlide+xml"/>
  <Override PartName="/ppt/theme/themeOverride22.xml" ContentType="application/vnd.openxmlformats-officedocument.themeOverride+xml"/>
  <Override PartName="/ppt/notesSlides/notesSlide23.xml" ContentType="application/vnd.openxmlformats-officedocument.presentationml.notesSlide+xml"/>
  <Override PartName="/ppt/theme/themeOverride23.xml" ContentType="application/vnd.openxmlformats-officedocument.themeOverride+xml"/>
  <Override PartName="/ppt/notesSlides/notesSlide24.xml" ContentType="application/vnd.openxmlformats-officedocument.presentationml.notesSlide+xml"/>
  <Override PartName="/ppt/theme/themeOverride24.xml" ContentType="application/vnd.openxmlformats-officedocument.themeOverride+xml"/>
  <Override PartName="/ppt/notesSlides/notesSlide25.xml" ContentType="application/vnd.openxmlformats-officedocument.presentationml.notesSlide+xml"/>
  <Override PartName="/ppt/theme/themeOverride25.xml" ContentType="application/vnd.openxmlformats-officedocument.themeOverride+xml"/>
  <Override PartName="/ppt/notesSlides/notesSlide26.xml" ContentType="application/vnd.openxmlformats-officedocument.presentationml.notesSlide+xml"/>
  <Override PartName="/ppt/theme/themeOverride26.xml" ContentType="application/vnd.openxmlformats-officedocument.themeOverride+xml"/>
  <Override PartName="/ppt/notesSlides/notesSlide27.xml" ContentType="application/vnd.openxmlformats-officedocument.presentationml.notesSlide+xml"/>
  <Override PartName="/ppt/theme/themeOverride27.xml" ContentType="application/vnd.openxmlformats-officedocument.themeOverr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75" r:id="rId2"/>
    <p:sldMasterId id="2147483787" r:id="rId3"/>
    <p:sldMasterId id="2147483799" r:id="rId4"/>
    <p:sldMasterId id="2147483806" r:id="rId5"/>
    <p:sldMasterId id="2147483813" r:id="rId6"/>
  </p:sldMasterIdLst>
  <p:notesMasterIdLst>
    <p:notesMasterId r:id="rId36"/>
  </p:notesMasterIdLst>
  <p:sldIdLst>
    <p:sldId id="1336" r:id="rId7"/>
    <p:sldId id="275" r:id="rId8"/>
    <p:sldId id="1659" r:id="rId9"/>
    <p:sldId id="1370" r:id="rId10"/>
    <p:sldId id="1647" r:id="rId11"/>
    <p:sldId id="266" r:id="rId12"/>
    <p:sldId id="262" r:id="rId13"/>
    <p:sldId id="1641" r:id="rId14"/>
    <p:sldId id="1648" r:id="rId15"/>
    <p:sldId id="1660" r:id="rId16"/>
    <p:sldId id="1661" r:id="rId17"/>
    <p:sldId id="1662" r:id="rId18"/>
    <p:sldId id="1663" r:id="rId19"/>
    <p:sldId id="1649" r:id="rId20"/>
    <p:sldId id="1650" r:id="rId21"/>
    <p:sldId id="1651" r:id="rId22"/>
    <p:sldId id="1652" r:id="rId23"/>
    <p:sldId id="1658" r:id="rId24"/>
    <p:sldId id="1653" r:id="rId25"/>
    <p:sldId id="1654" r:id="rId26"/>
    <p:sldId id="1664" r:id="rId27"/>
    <p:sldId id="1665" r:id="rId28"/>
    <p:sldId id="1666" r:id="rId29"/>
    <p:sldId id="1667" r:id="rId30"/>
    <p:sldId id="1668" r:id="rId31"/>
    <p:sldId id="1655" r:id="rId32"/>
    <p:sldId id="1656" r:id="rId33"/>
    <p:sldId id="1657" r:id="rId34"/>
    <p:sldId id="268" r:id="rId35"/>
  </p:sldIdLst>
  <p:sldSz cx="12192000" cy="9144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0000"/>
    <a:srgbClr val="008763"/>
    <a:srgbClr val="04AD48"/>
    <a:srgbClr val="284F3E"/>
    <a:srgbClr val="08B446"/>
    <a:srgbClr val="006800"/>
    <a:srgbClr val="24BD51"/>
    <a:srgbClr val="17D752"/>
    <a:srgbClr val="12A6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41" autoAdjust="0"/>
    <p:restoredTop sz="94660"/>
  </p:normalViewPr>
  <p:slideViewPr>
    <p:cSldViewPr snapToGrid="0">
      <p:cViewPr>
        <p:scale>
          <a:sx n="66" d="100"/>
          <a:sy n="66" d="100"/>
        </p:scale>
        <p:origin x="748" y="-1208"/>
      </p:cViewPr>
      <p:guideLst/>
    </p:cSldViewPr>
  </p:slideViewPr>
  <p:notesTextViewPr>
    <p:cViewPr>
      <p:scale>
        <a:sx n="1" d="1"/>
        <a:sy n="1" d="1"/>
      </p:scale>
      <p:origin x="0" y="0"/>
    </p:cViewPr>
  </p:notesTextViewPr>
  <p:sorterViewPr>
    <p:cViewPr varScale="1">
      <p:scale>
        <a:sx n="1" d="1"/>
        <a:sy n="1" d="1"/>
      </p:scale>
      <p:origin x="0" y="-258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slide" Target="slides/slide28.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717" cy="48059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2775" y="0"/>
            <a:ext cx="3170717" cy="480598"/>
          </a:xfrm>
          <a:prstGeom prst="rect">
            <a:avLst/>
          </a:prstGeom>
        </p:spPr>
        <p:txBody>
          <a:bodyPr vert="horz" lIns="91440" tIns="45720" rIns="91440" bIns="45720" rtlCol="0"/>
          <a:lstStyle>
            <a:lvl1pPr algn="r">
              <a:defRPr sz="1200"/>
            </a:lvl1pPr>
          </a:lstStyle>
          <a:p>
            <a:fld id="{B4F3C084-96E0-4A34-AFD1-ABC0D3FA67A7}" type="datetimeFigureOut">
              <a:rPr lang="en-US" smtClean="0"/>
              <a:t>13-Oct-26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179" y="4620185"/>
            <a:ext cx="5852843" cy="378029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602"/>
            <a:ext cx="3170717" cy="48059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2775" y="9120602"/>
            <a:ext cx="3170717" cy="480598"/>
          </a:xfrm>
          <a:prstGeom prst="rect">
            <a:avLst/>
          </a:prstGeom>
        </p:spPr>
        <p:txBody>
          <a:bodyPr vert="horz" lIns="91440" tIns="45720" rIns="91440" bIns="45720" rtlCol="0" anchor="b"/>
          <a:lstStyle>
            <a:lvl1pPr algn="r">
              <a:defRPr sz="1200"/>
            </a:lvl1pPr>
          </a:lstStyle>
          <a:p>
            <a:fld id="{69E84D6C-F38B-4B5C-B33D-022EE010F4F7}" type="slidenum">
              <a:rPr lang="en-US" smtClean="0"/>
              <a:t>‹#›</a:t>
            </a:fld>
            <a:endParaRPr lang="en-US"/>
          </a:p>
        </p:txBody>
      </p:sp>
    </p:spTree>
    <p:extLst>
      <p:ext uri="{BB962C8B-B14F-4D97-AF65-F5344CB8AC3E}">
        <p14:creationId xmlns:p14="http://schemas.microsoft.com/office/powerpoint/2010/main" val="3213729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Tram Anh and Daniel for their time. Purpose today: (1) introduce BJC Specialties and our Vietnam platform, (2) share market and regulatory insights for HYBIND and FGAA in Vietnam as requested, (3) show where and how we would grow these products, and (4) agree next steps. For a 60-minute call, focus on slides 2, 5-7, 9-13, 14, 21-25 and 27-28; account detail slides can be shown on request.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message: we are not starting from zero. BJC is already CJ BIO's partner for the same portfolio in Thailand, and in Vietnam we already sell daily to processors and brand owners who are natural users of HYBIND and FGAA. Our ask: appointment as distributor, then a structured trial programme with ~20 priority accounts.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parts. If time is short, go quickly through part 1 and spend most time on parts 2-4.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BJC Specialties represents global leaders across food, cosmetic, industrial and lab chemicals. CJ BIO would join a portfolio managed with the same discipline as these principals.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CJ BIO Vietnam manages the same portfolio as CJ BIO Bangkok, and BJC Thailand already serves CJ there. Extending the partnership to Vietnam gives CJ one regional partner, consistent positioning, and faster ramp-up. Be transparent: the Vietnam team is new to these two products, so we ask for product training and will learn from BJC Thailand.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platform: 19 years in Vietnam, HCMC and Hanoi offices, both ex-stock and indent models, and a structured team with account owners by division plus an NPD manager. We manage import and product-declaration dossiers in-house. Current principals show we can manage global brands with strict compliance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products of customers we supply today. Note that we already serve CJ Foods Vietnam (Cau Tre / bibigo). Do not mention prices or volumes of any customer.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Vietnam has no lab today, so we will use the BJCS Application Lab in Bangkok, which already has savory and meat equipment (mincer, Thermomix, stuffing) for sausages, meatballs, nuggets and Vietnamese sausage, plus trials directly at customer plants.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Context from USDA's April 2026 ingredients report: an US$88 bn food processing industry growing 11%, with food safety, convenience, domestic brands and functional products as the main shifts. All four favour HYBIND and FGAA.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 for HYBIND: a pork-centred meat market of ~39 kg per capita, a fast-growing frozen seafood sector and record seafood exports. We have not invented a phosphate volume: we propose to size it with CJ using import data and plant audits.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FGAA rides on supplements (~US$0.9 bn, growing ~8%) and energy/functional drinks (~US$1.3 bn). Our customer Masan Consumer already holds ~10% of energy drinks with Wake-up 247. Amino-acid-specific volumes are not public; we will size bottom-up with CJ.</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Important update: Decree 46/2026 is suspended. Resolution 15/2026/NQ-CP (6 April 2026) keeps it suspended until the amended Food Safety Law and its decree take effect, so Decree 15/2018 still applies. The amended law had its first reading in October 2026 and is targeted for adoption in May 2027.</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regulatory decision is HYBIND's classification in Vietnam, because it determines self-declaration versus MOH registration and how customers name it on labels. BJCS handles import dossiers; CJ's plant certificates help us get reduced inspection.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Where the products fit. HYBIND: processed meat, poultry, frozen convenience food, and potentially seafood (to be validated with CJ). FGAA: arginine is the broadest (supplements, energy drinks, nutrition, personal care); citrulline is sports/energy; histidine is supplements and medical nutrition.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Target map by region. The South is the core: we already serve Masan Group, CJ Cau Tre, LC Foods and Nitto Fuji, and can add Vissan, C.P., Koyu &amp; Unitek, San Ha and Saigon Food. In the North: Masan's Ha Nam plant plus Duc Viet, Ha Long Canfoods, DABACO, Mavin. Central is a fragmented SME base for phase 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Priority accounts with the pain point we expect, the value HYBIND brings, and what it takes to win. The first four are existing BJCS relationships, so access is immediate. CJ Cau Tre can become the first reference case inside the CJ group. Duc Viet is owned by Daesang, a CJ competitor in Korea, so we will align with CJ before approaching.</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Seafood is potentially the largest volume opportunity in Vietnam, but CJ positions HYBIND for processed meat. We propose to validate seafood with CJ R&amp;D first, using our existing customers Seapimex, Navico and LC Foods as pilot partners.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each seafood account: expected pain point, potential HYBIND value and how to win. Proposed sequence: validate with CJ R&amp;D, pilot with our three existing seafood customers, then extend to the large exporters.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FGAA target map. We already supply pharma and personal-care players in the North (Merap, Hoa Linh), a pharma customer in Da Nang, and beverage brands across all regions (Masan Consumer, Tribeco, Yen Viet in Khanh Hoa, The He Moi in Phu Tho). Dairy and medical nutrition are new accounts for us.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FGAA priority accounts: six are existing BJCS customers, so we can prototype fast. Then new accounts such as DHG Pharma and Tan Hiep Phat where documentation and speed-to-market win.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what CJ already states publicly versus what we need CJ to confirm before we claim it in Vietnam. Right: the value proposition canvas we will use with processors. Bottom: we sell total cost of ownership, not price per kg.</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four families of objections we expect from meat processors, and how BJCS with CJ answers each. This is our playbook; we will refine it with CJ Thailand's experience.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logic for FGAA: claim only what CJ confirms, and sell formulation solutions (for example arginine plus citrulline for energy drinks, with taste masking from our flavor partner) rather than commodity amino acids.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FGAA objections are mostly technical (taste, solubility, stability) and documentary (registration and audits). Our flavor portfolio and in-house regulatory handling are direct answers.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we sell: we map the three buyers in each account, then run structured trial protocols. For HYBIND: lab, pilot, blind test. For FGAA: concept, taste and stability, scale-up. We open with SPIN questions such as the one shown.</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General positioning only. HYBIND competes with low-cost phosphates and with other clean-label systems; we will win on cost-in-use and label benefits proven by trials. For FGAA, CJ sits between premium Japanese and low-cost Chinese supply: quality, reliability and the fermented, vegan story.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four-phase plan. We commit to activities and milestones, not volumes, until trials give real data. Monthly reporting on accounts, samples, trials, approvals and pipeline keeps CJ fully informed.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ask: exclusive appointment for HYBIND and FGAA, a joint plan with targets set after trials, and openness to the wider CJ BIO portfolio later, without commitment today. Agree concrete next steps and dates before ending the call.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Confirm next steps and the owner of each action on both sides.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1.xml"/><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Master" Target="../slideMasters/slideMaster4.xml"/><Relationship Id="rId7" Type="http://schemas.openxmlformats.org/officeDocument/2006/relationships/image" Target="../media/image8.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5.xml"/><Relationship Id="rId4" Type="http://schemas.openxmlformats.org/officeDocument/2006/relationships/image" Target="../media/image2.em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6.xml"/><Relationship Id="rId4" Type="http://schemas.openxmlformats.org/officeDocument/2006/relationships/image" Target="../media/image2.emf"/></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Master" Target="../slideMasters/slideMaster5.xml"/><Relationship Id="rId7" Type="http://schemas.openxmlformats.org/officeDocument/2006/relationships/image" Target="../media/image8.jpe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10.xml"/><Relationship Id="rId4" Type="http://schemas.openxmlformats.org/officeDocument/2006/relationships/image" Target="../media/image2.emf"/></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11.xml"/><Relationship Id="rId4" Type="http://schemas.openxmlformats.org/officeDocument/2006/relationships/image" Target="../media/image2.emf"/></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5.jpeg"/><Relationship Id="rId3" Type="http://schemas.openxmlformats.org/officeDocument/2006/relationships/slideMaster" Target="../slideMasters/slideMaster6.xml"/><Relationship Id="rId7" Type="http://schemas.openxmlformats.org/officeDocument/2006/relationships/image" Target="../media/image8.jpeg"/><Relationship Id="rId12" Type="http://schemas.openxmlformats.org/officeDocument/2006/relationships/image" Target="../media/image14.jpe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7.png"/><Relationship Id="rId11" Type="http://schemas.openxmlformats.org/officeDocument/2006/relationships/image" Target="../media/image13.jpeg"/><Relationship Id="rId5" Type="http://schemas.openxmlformats.org/officeDocument/2006/relationships/image" Target="../media/image6.emf"/><Relationship Id="rId15" Type="http://schemas.openxmlformats.org/officeDocument/2006/relationships/image" Target="../media/image17.jpeg"/><Relationship Id="rId10" Type="http://schemas.openxmlformats.org/officeDocument/2006/relationships/image" Target="../media/image12.jpeg"/><Relationship Id="rId4" Type="http://schemas.openxmlformats.org/officeDocument/2006/relationships/oleObject" Target="../embeddings/oleObject3.bin"/><Relationship Id="rId9" Type="http://schemas.openxmlformats.org/officeDocument/2006/relationships/image" Target="../media/image11.jpeg"/><Relationship Id="rId14" Type="http://schemas.openxmlformats.org/officeDocument/2006/relationships/image" Target="../media/image16.png"/></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6.xml"/><Relationship Id="rId1" Type="http://schemas.openxmlformats.org/officeDocument/2006/relationships/tags" Target="../tags/tag15.xml"/><Relationship Id="rId4" Type="http://schemas.openxmlformats.org/officeDocument/2006/relationships/image" Target="../media/image6.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6.xml"/><Relationship Id="rId1" Type="http://schemas.openxmlformats.org/officeDocument/2006/relationships/tags" Target="../tags/tag16.xml"/><Relationship Id="rId4" Type="http://schemas.openxmlformats.org/officeDocument/2006/relationships/image" Target="../media/image6.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96484"/>
            <a:ext cx="103632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524000" y="4802717"/>
            <a:ext cx="9144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9F8EBF-CBD5-4F21-A12D-5D1656ABADCC}" type="datetimeFigureOut">
              <a:rPr lang="en-US" smtClean="0"/>
              <a:t>13-Oct-26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8C0B6-70B8-4A46-8231-0FD0E353AE33}" type="slidenum">
              <a:rPr lang="en-US" smtClean="0"/>
              <a:t>‹#›</a:t>
            </a:fld>
            <a:endParaRPr lang="en-US"/>
          </a:p>
        </p:txBody>
      </p:sp>
      <p:pic>
        <p:nvPicPr>
          <p:cNvPr id="7" name="Picture 6">
            <a:extLst>
              <a:ext uri="{FF2B5EF4-FFF2-40B4-BE49-F238E27FC236}">
                <a16:creationId xmlns:a16="http://schemas.microsoft.com/office/drawing/2014/main" id="{EBCEB8AE-1398-4309-A7ED-B047DC0E657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59" t="2174" r="815" b="2174"/>
          <a:stretch/>
        </p:blipFill>
        <p:spPr>
          <a:xfrm rot="5400000">
            <a:off x="-3074196" y="3040854"/>
            <a:ext cx="9144002" cy="3062290"/>
          </a:xfrm>
          <a:prstGeom prst="rect">
            <a:avLst/>
          </a:prstGeom>
        </p:spPr>
      </p:pic>
    </p:spTree>
    <p:extLst>
      <p:ext uri="{BB962C8B-B14F-4D97-AF65-F5344CB8AC3E}">
        <p14:creationId xmlns:p14="http://schemas.microsoft.com/office/powerpoint/2010/main" val="2919622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0A9677B7-60FC-4E15-9731-50FB5BB3A9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359" t="2174" r="815" b="2174"/>
          <a:stretch/>
        </p:blipFill>
        <p:spPr>
          <a:xfrm>
            <a:off x="0" y="7562849"/>
            <a:ext cx="12192000" cy="1544109"/>
          </a:xfrm>
          <a:prstGeom prst="rect">
            <a:avLst/>
          </a:prstGeom>
        </p:spPr>
      </p:pic>
      <p:sp>
        <p:nvSpPr>
          <p:cNvPr id="8" name="Title 1">
            <a:extLst>
              <a:ext uri="{FF2B5EF4-FFF2-40B4-BE49-F238E27FC236}">
                <a16:creationId xmlns:a16="http://schemas.microsoft.com/office/drawing/2014/main" id="{DA6FCF81-12A7-41A2-B21D-36460A41B3F7}"/>
              </a:ext>
            </a:extLst>
          </p:cNvPr>
          <p:cNvSpPr>
            <a:spLocks noGrp="1"/>
          </p:cNvSpPr>
          <p:nvPr>
            <p:ph type="title"/>
          </p:nvPr>
        </p:nvSpPr>
        <p:spPr>
          <a:xfrm>
            <a:off x="272141" y="630623"/>
            <a:ext cx="11919859" cy="766989"/>
          </a:xfrm>
        </p:spPr>
        <p:style>
          <a:lnRef idx="3">
            <a:schemeClr val="lt1"/>
          </a:lnRef>
          <a:fillRef idx="1">
            <a:schemeClr val="accent6"/>
          </a:fillRef>
          <a:effectRef idx="1">
            <a:schemeClr val="accent6"/>
          </a:effectRef>
          <a:fontRef idx="minor">
            <a:schemeClr val="lt1"/>
          </a:fontRef>
        </p:style>
        <p:txBody>
          <a:bodyPr>
            <a:normAutofit fontScale="90000"/>
          </a:bodyPr>
          <a:lstStyle/>
          <a:p>
            <a:endParaRPr lang="en-US" dirty="0"/>
          </a:p>
        </p:txBody>
      </p:sp>
    </p:spTree>
    <p:extLst>
      <p:ext uri="{BB962C8B-B14F-4D97-AF65-F5344CB8AC3E}">
        <p14:creationId xmlns:p14="http://schemas.microsoft.com/office/powerpoint/2010/main" val="1536500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279653"/>
            <a:ext cx="105156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31851" y="6119286"/>
            <a:ext cx="10515600" cy="2000249"/>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E9F8EBF-CBD5-4F21-A12D-5D1656ABADCC}" type="datetimeFigureOut">
              <a:rPr lang="en-US" smtClean="0"/>
              <a:t>13-Oct-26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4115562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434167"/>
            <a:ext cx="518160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434167"/>
            <a:ext cx="5181600" cy="5801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9F8EBF-CBD5-4F21-A12D-5D1656ABADCC}" type="datetimeFigureOut">
              <a:rPr lang="en-US" smtClean="0"/>
              <a:t>13-Oct-26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3518096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486836"/>
            <a:ext cx="105156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241551"/>
            <a:ext cx="515778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Edit Master text styles</a:t>
            </a:r>
          </a:p>
        </p:txBody>
      </p:sp>
      <p:sp>
        <p:nvSpPr>
          <p:cNvPr id="4" name="Content Placeholder 3"/>
          <p:cNvSpPr>
            <a:spLocks noGrp="1"/>
          </p:cNvSpPr>
          <p:nvPr>
            <p:ph sz="half" idx="2"/>
          </p:nvPr>
        </p:nvSpPr>
        <p:spPr>
          <a:xfrm>
            <a:off x="839789" y="3340100"/>
            <a:ext cx="5157787"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241551"/>
            <a:ext cx="5183188"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Edit Master text styles</a:t>
            </a:r>
          </a:p>
        </p:txBody>
      </p:sp>
      <p:sp>
        <p:nvSpPr>
          <p:cNvPr id="6" name="Content Placeholder 5"/>
          <p:cNvSpPr>
            <a:spLocks noGrp="1"/>
          </p:cNvSpPr>
          <p:nvPr>
            <p:ph sz="quarter" idx="4"/>
          </p:nvPr>
        </p:nvSpPr>
        <p:spPr>
          <a:xfrm>
            <a:off x="6172201" y="3340100"/>
            <a:ext cx="5183188" cy="49127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9F8EBF-CBD5-4F21-A12D-5D1656ABADCC}" type="datetimeFigureOut">
              <a:rPr lang="en-US" smtClean="0"/>
              <a:t>13-Oct-26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3630033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9F8EBF-CBD5-4F21-A12D-5D1656ABADCC}" type="datetimeFigureOut">
              <a:rPr lang="en-US" smtClean="0"/>
              <a:t>13-Oct-26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183370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9F8EBF-CBD5-4F21-A12D-5D1656ABADCC}" type="datetimeFigureOut">
              <a:rPr lang="en-US" smtClean="0"/>
              <a:t>13-Oct-26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3229559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188" y="1316569"/>
            <a:ext cx="61722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Edit Master text styles</a:t>
            </a:r>
          </a:p>
        </p:txBody>
      </p:sp>
      <p:sp>
        <p:nvSpPr>
          <p:cNvPr id="5" name="Date Placeholder 4"/>
          <p:cNvSpPr>
            <a:spLocks noGrp="1"/>
          </p:cNvSpPr>
          <p:nvPr>
            <p:ph type="dt" sz="half" idx="10"/>
          </p:nvPr>
        </p:nvSpPr>
        <p:spPr/>
        <p:txBody>
          <a:bodyPr/>
          <a:lstStyle/>
          <a:p>
            <a:fld id="{1E9F8EBF-CBD5-4F21-A12D-5D1656ABADCC}" type="datetimeFigureOut">
              <a:rPr lang="en-US" smtClean="0"/>
              <a:t>13-Oct-26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1544451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316569"/>
            <a:ext cx="61722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Edit Master text styles</a:t>
            </a:r>
          </a:p>
        </p:txBody>
      </p:sp>
      <p:sp>
        <p:nvSpPr>
          <p:cNvPr id="5" name="Date Placeholder 4"/>
          <p:cNvSpPr>
            <a:spLocks noGrp="1"/>
          </p:cNvSpPr>
          <p:nvPr>
            <p:ph type="dt" sz="half" idx="10"/>
          </p:nvPr>
        </p:nvSpPr>
        <p:spPr/>
        <p:txBody>
          <a:bodyPr/>
          <a:lstStyle/>
          <a:p>
            <a:fld id="{1E9F8EBF-CBD5-4F21-A12D-5D1656ABADCC}" type="datetimeFigureOut">
              <a:rPr lang="en-US" smtClean="0"/>
              <a:t>13-Oct-26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19980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9F8EBF-CBD5-4F21-A12D-5D1656ABADCC}" type="datetimeFigureOut">
              <a:rPr lang="en-US" smtClean="0"/>
              <a:t>13-Oct-26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3570253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486834"/>
            <a:ext cx="262890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86834"/>
            <a:ext cx="7734300" cy="77491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9F8EBF-CBD5-4F21-A12D-5D1656ABADCC}" type="datetimeFigureOut">
              <a:rPr lang="en-US" smtClean="0"/>
              <a:t>13-Oct-26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8C0B6-70B8-4A46-8231-0FD0E353AE33}" type="slidenum">
              <a:rPr lang="en-US" smtClean="0"/>
              <a:t>‹#›</a:t>
            </a:fld>
            <a:endParaRPr lang="en-US"/>
          </a:p>
        </p:txBody>
      </p:sp>
    </p:spTree>
    <p:extLst>
      <p:ext uri="{BB962C8B-B14F-4D97-AF65-F5344CB8AC3E}">
        <p14:creationId xmlns:p14="http://schemas.microsoft.com/office/powerpoint/2010/main" val="4274301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96484"/>
            <a:ext cx="103632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524000" y="4802717"/>
            <a:ext cx="9144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427864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41129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279653"/>
            <a:ext cx="105156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31851" y="6119286"/>
            <a:ext cx="10515600" cy="2000249"/>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380342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434167"/>
            <a:ext cx="51816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434167"/>
            <a:ext cx="51816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00532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486836"/>
            <a:ext cx="105156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241551"/>
            <a:ext cx="515778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839789" y="3340100"/>
            <a:ext cx="515778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241551"/>
            <a:ext cx="5183188"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72201" y="3340100"/>
            <a:ext cx="5183188"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35823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32375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74886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188" y="1316569"/>
            <a:ext cx="61722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18384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316569"/>
            <a:ext cx="61722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740619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589637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486834"/>
            <a:ext cx="262890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86834"/>
            <a:ext cx="77343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921870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re. Texte et 2 contenu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337" imgH="336" progId="TCLayout.ActiveDocument.1">
                  <p:embed/>
                </p:oleObj>
              </mc:Choice>
              <mc:Fallback>
                <p:oleObj name="think-cell Slide" r:id="rId3" imgW="337" imgH="336" progId="TCLayout.ActiveDocument.1">
                  <p:embed/>
                  <p:pic>
                    <p:nvPicPr>
                      <p:cNvPr id="2" name="Object 1" hidden="1"/>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3" name="Espace réservé du texte 2"/>
          <p:cNvSpPr>
            <a:spLocks noGrp="1"/>
          </p:cNvSpPr>
          <p:nvPr>
            <p:ph type="body" sz="half" idx="1"/>
          </p:nvPr>
        </p:nvSpPr>
        <p:spPr>
          <a:xfrm>
            <a:off x="1102785" y="1500717"/>
            <a:ext cx="458258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Espace réservé du contenu 3"/>
          <p:cNvSpPr>
            <a:spLocks noGrp="1"/>
          </p:cNvSpPr>
          <p:nvPr>
            <p:ph sz="quarter" idx="2"/>
          </p:nvPr>
        </p:nvSpPr>
        <p:spPr>
          <a:xfrm>
            <a:off x="5888567" y="15007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Espace réservé du contenu 4"/>
          <p:cNvSpPr>
            <a:spLocks noGrp="1"/>
          </p:cNvSpPr>
          <p:nvPr>
            <p:ph sz="quarter" idx="3"/>
          </p:nvPr>
        </p:nvSpPr>
        <p:spPr>
          <a:xfrm>
            <a:off x="5888567" y="44979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Rectangle 6"/>
          <p:cNvSpPr>
            <a:spLocks noGrp="1" noChangeArrowheads="1"/>
          </p:cNvSpPr>
          <p:nvPr>
            <p:ph type="sldNum" sz="quarter" idx="10"/>
          </p:nvPr>
        </p:nvSpPr>
        <p:spPr>
          <a:ln/>
        </p:spPr>
        <p:txBody>
          <a:bodyPr/>
          <a:lstStyle>
            <a:lvl1pPr>
              <a:defRPr/>
            </a:lvl1pPr>
          </a:lstStyle>
          <a:p>
            <a:pPr>
              <a:defRPr/>
            </a:pPr>
            <a:fld id="{DEE60E16-0EA1-44C5-A74D-4C75D8EB0EA1}" type="slidenum">
              <a:rPr lang="en-US"/>
              <a:pPr>
                <a:defRPr/>
              </a:pPr>
              <a:t>‹#›</a:t>
            </a:fld>
            <a:endParaRPr lang="en-US" dirty="0"/>
          </a:p>
        </p:txBody>
      </p:sp>
      <p:sp>
        <p:nvSpPr>
          <p:cNvPr id="7" name="Rectangle 2"/>
          <p:cNvSpPr>
            <a:spLocks noGrp="1" noChangeArrowheads="1"/>
          </p:cNvSpPr>
          <p:nvPr>
            <p:ph type="title"/>
          </p:nvPr>
        </p:nvSpPr>
        <p:spPr bwMode="auto">
          <a:xfrm>
            <a:off x="502027" y="527051"/>
            <a:ext cx="9771527"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Tree>
    <p:extLst>
      <p:ext uri="{BB962C8B-B14F-4D97-AF65-F5344CB8AC3E}">
        <p14:creationId xmlns:p14="http://schemas.microsoft.com/office/powerpoint/2010/main" val="5255364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496484"/>
            <a:ext cx="10363200" cy="3183467"/>
          </a:xfrm>
        </p:spPr>
        <p:txBody>
          <a:bodyPr anchor="b"/>
          <a:lstStyle>
            <a:lvl1pPr algn="ctr">
              <a:defRPr sz="8000"/>
            </a:lvl1pPr>
          </a:lstStyle>
          <a:p>
            <a:r>
              <a:rPr lang="en-US"/>
              <a:t>Click to edit Master title style</a:t>
            </a:r>
            <a:endParaRPr lang="en-US" dirty="0"/>
          </a:p>
        </p:txBody>
      </p:sp>
      <p:sp>
        <p:nvSpPr>
          <p:cNvPr id="3" name="Subtitle 2"/>
          <p:cNvSpPr>
            <a:spLocks noGrp="1"/>
          </p:cNvSpPr>
          <p:nvPr>
            <p:ph type="subTitle" idx="1"/>
          </p:nvPr>
        </p:nvSpPr>
        <p:spPr>
          <a:xfrm>
            <a:off x="1524000" y="4802717"/>
            <a:ext cx="9144000" cy="220768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001163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32738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2279653"/>
            <a:ext cx="10515600" cy="3803649"/>
          </a:xfrm>
        </p:spPr>
        <p:txBody>
          <a:bodyPr anchor="b"/>
          <a:lstStyle>
            <a:lvl1pPr>
              <a:defRPr sz="8000"/>
            </a:lvl1pPr>
          </a:lstStyle>
          <a:p>
            <a:r>
              <a:rPr lang="en-US"/>
              <a:t>Click to edit Master title style</a:t>
            </a:r>
            <a:endParaRPr lang="en-US" dirty="0"/>
          </a:p>
        </p:txBody>
      </p:sp>
      <p:sp>
        <p:nvSpPr>
          <p:cNvPr id="3" name="Text Placeholder 2"/>
          <p:cNvSpPr>
            <a:spLocks noGrp="1"/>
          </p:cNvSpPr>
          <p:nvPr>
            <p:ph type="body" idx="1"/>
          </p:nvPr>
        </p:nvSpPr>
        <p:spPr>
          <a:xfrm>
            <a:off x="831851" y="6119286"/>
            <a:ext cx="10515600" cy="2000249"/>
          </a:xfrm>
        </p:spPr>
        <p:txBody>
          <a:bodyPr/>
          <a:lstStyle>
            <a:lvl1pPr marL="0" indent="0">
              <a:buNone/>
              <a:defRPr sz="320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422211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2434167"/>
            <a:ext cx="51816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434167"/>
            <a:ext cx="51816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809247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486836"/>
            <a:ext cx="10515600"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2241551"/>
            <a:ext cx="5157787"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839789" y="3340100"/>
            <a:ext cx="515778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2241551"/>
            <a:ext cx="5183188" cy="109854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172201" y="3340100"/>
            <a:ext cx="5183188"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84927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191507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093330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Content Placeholder 2"/>
          <p:cNvSpPr>
            <a:spLocks noGrp="1"/>
          </p:cNvSpPr>
          <p:nvPr>
            <p:ph idx="1"/>
          </p:nvPr>
        </p:nvSpPr>
        <p:spPr>
          <a:xfrm>
            <a:off x="5183188" y="1316569"/>
            <a:ext cx="6172200" cy="6498167"/>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558857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609600"/>
            <a:ext cx="3932237" cy="2133600"/>
          </a:xfrm>
        </p:spPr>
        <p:txBody>
          <a:bodyPr anchor="b"/>
          <a:lstStyle>
            <a:lvl1pPr>
              <a:defRPr sz="4267"/>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316569"/>
            <a:ext cx="6172200" cy="6498167"/>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839788" y="2743200"/>
            <a:ext cx="3932237" cy="5082117"/>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a:t>Click to edit Master text styles</a:t>
            </a:r>
          </a:p>
        </p:txBody>
      </p:sp>
      <p:sp>
        <p:nvSpPr>
          <p:cNvPr id="5" name="Date Placeholder 4"/>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890911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714335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486834"/>
            <a:ext cx="2628900"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86834"/>
            <a:ext cx="77343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22B186-8720-4441-A8F7-B4B9922BF0B2}" type="datetimeFigureOut">
              <a:rPr lang="en-US" smtClean="0">
                <a:solidFill>
                  <a:prstClr val="black">
                    <a:tint val="75000"/>
                  </a:prstClr>
                </a:solidFill>
              </a:rPr>
              <a:pPr/>
              <a:t>13-Oct-26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D7751AC3-115C-462D-8B59-8105D8EC56E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517058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2118" y="2118"/>
                        <a:ext cx="2116" cy="2116"/>
                      </a:xfrm>
                      <a:prstGeom prst="rect">
                        <a:avLst/>
                      </a:prstGeom>
                    </p:spPr>
                  </p:pic>
                </p:oleObj>
              </mc:Fallback>
            </mc:AlternateContent>
          </a:graphicData>
        </a:graphic>
      </p:graphicFrame>
      <p:sp>
        <p:nvSpPr>
          <p:cNvPr id="18" name="Freeform 1244"/>
          <p:cNvSpPr>
            <a:spLocks/>
          </p:cNvSpPr>
          <p:nvPr userDrawn="1"/>
        </p:nvSpPr>
        <p:spPr bwMode="gray">
          <a:xfrm>
            <a:off x="1" y="-16934"/>
            <a:ext cx="12680951" cy="3335867"/>
          </a:xfrm>
          <a:custGeom>
            <a:avLst/>
            <a:gdLst>
              <a:gd name="T0" fmla="*/ 0 w 5991"/>
              <a:gd name="T1" fmla="*/ 1576 h 1576"/>
              <a:gd name="T2" fmla="*/ 200 w 5991"/>
              <a:gd name="T3" fmla="*/ 1320 h 1576"/>
              <a:gd name="T4" fmla="*/ 464 w 5991"/>
              <a:gd name="T5" fmla="*/ 1104 h 1576"/>
              <a:gd name="T6" fmla="*/ 808 w 5991"/>
              <a:gd name="T7" fmla="*/ 896 h 1576"/>
              <a:gd name="T8" fmla="*/ 1240 w 5991"/>
              <a:gd name="T9" fmla="*/ 688 h 1576"/>
              <a:gd name="T10" fmla="*/ 1824 w 5991"/>
              <a:gd name="T11" fmla="*/ 488 h 1576"/>
              <a:gd name="T12" fmla="*/ 2368 w 5991"/>
              <a:gd name="T13" fmla="*/ 344 h 1576"/>
              <a:gd name="T14" fmla="*/ 3032 w 5991"/>
              <a:gd name="T15" fmla="*/ 200 h 1576"/>
              <a:gd name="T16" fmla="*/ 3888 w 5991"/>
              <a:gd name="T17" fmla="*/ 88 h 1576"/>
              <a:gd name="T18" fmla="*/ 4432 w 5991"/>
              <a:gd name="T19" fmla="*/ 48 h 1576"/>
              <a:gd name="T20" fmla="*/ 4888 w 5991"/>
              <a:gd name="T21" fmla="*/ 24 h 1576"/>
              <a:gd name="T22" fmla="*/ 5176 w 5991"/>
              <a:gd name="T23" fmla="*/ 0 h 1576"/>
              <a:gd name="T24" fmla="*/ 0 w 5991"/>
              <a:gd name="T25" fmla="*/ 0 h 1576"/>
              <a:gd name="T26" fmla="*/ 0 w 5991"/>
              <a:gd name="T27"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91" h="1576">
                <a:moveTo>
                  <a:pt x="0" y="1576"/>
                </a:moveTo>
                <a:lnTo>
                  <a:pt x="200" y="1320"/>
                </a:lnTo>
                <a:cubicBezTo>
                  <a:pt x="277" y="1241"/>
                  <a:pt x="363" y="1175"/>
                  <a:pt x="464" y="1104"/>
                </a:cubicBezTo>
                <a:cubicBezTo>
                  <a:pt x="565" y="1033"/>
                  <a:pt x="679" y="965"/>
                  <a:pt x="808" y="896"/>
                </a:cubicBezTo>
                <a:cubicBezTo>
                  <a:pt x="937" y="827"/>
                  <a:pt x="1071" y="756"/>
                  <a:pt x="1240" y="688"/>
                </a:cubicBezTo>
                <a:cubicBezTo>
                  <a:pt x="1409" y="620"/>
                  <a:pt x="1636" y="545"/>
                  <a:pt x="1824" y="488"/>
                </a:cubicBezTo>
                <a:cubicBezTo>
                  <a:pt x="2012" y="431"/>
                  <a:pt x="2167" y="392"/>
                  <a:pt x="2368" y="344"/>
                </a:cubicBezTo>
                <a:cubicBezTo>
                  <a:pt x="2569" y="296"/>
                  <a:pt x="2779" y="243"/>
                  <a:pt x="3032" y="200"/>
                </a:cubicBezTo>
                <a:cubicBezTo>
                  <a:pt x="3285" y="157"/>
                  <a:pt x="3655" y="113"/>
                  <a:pt x="3888" y="88"/>
                </a:cubicBezTo>
                <a:cubicBezTo>
                  <a:pt x="4121" y="63"/>
                  <a:pt x="4265" y="59"/>
                  <a:pt x="4432" y="48"/>
                </a:cubicBezTo>
                <a:cubicBezTo>
                  <a:pt x="4599" y="37"/>
                  <a:pt x="4764" y="32"/>
                  <a:pt x="4888" y="24"/>
                </a:cubicBezTo>
                <a:cubicBezTo>
                  <a:pt x="5012" y="16"/>
                  <a:pt x="5991" y="4"/>
                  <a:pt x="5176" y="0"/>
                </a:cubicBezTo>
                <a:lnTo>
                  <a:pt x="0" y="0"/>
                </a:lnTo>
                <a:lnTo>
                  <a:pt x="0" y="1576"/>
                </a:lnTo>
                <a:close/>
              </a:path>
            </a:pathLst>
          </a:custGeom>
          <a:solidFill>
            <a:schemeClr val="accent3"/>
          </a:solidFill>
          <a:ln w="9525" cap="flat" cmpd="sng">
            <a:solidFill>
              <a:schemeClr val="accent2"/>
            </a:solidFill>
            <a:prstDash val="solid"/>
            <a:round/>
            <a:headEnd type="none" w="med" len="med"/>
            <a:tailEnd type="none" w="med" len="med"/>
          </a:ln>
          <a:effectLst/>
        </p:spPr>
        <p:txBody>
          <a:bodyPr/>
          <a:lstStyle/>
          <a:p>
            <a:pPr defTabSz="1219170" fontAlgn="base">
              <a:spcBef>
                <a:spcPct val="0"/>
              </a:spcBef>
              <a:spcAft>
                <a:spcPct val="0"/>
              </a:spcAft>
            </a:pPr>
            <a:endParaRPr lang="en-AU" sz="3200">
              <a:solidFill>
                <a:srgbClr val="000000"/>
              </a:solidFill>
              <a:cs typeface="Arial" charset="0"/>
            </a:endParaRPr>
          </a:p>
        </p:txBody>
      </p:sp>
      <p:pic>
        <p:nvPicPr>
          <p:cNvPr id="39" name="Picture 43" descr="C:\Users\ex0285\Desktop\Picture3.pn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6783" y="1"/>
            <a:ext cx="12367684" cy="3795183"/>
          </a:xfrm>
          <a:prstGeom prst="rect">
            <a:avLst/>
          </a:prstGeom>
          <a:noFill/>
          <a:extLst>
            <a:ext uri="{909E8E84-426E-40DD-AFC4-6F175D3DCCD1}">
              <a14:hiddenFill xmlns:a14="http://schemas.microsoft.com/office/drawing/2010/main">
                <a:solidFill>
                  <a:srgbClr val="FFFFFF"/>
                </a:solidFill>
              </a14:hiddenFill>
            </a:ext>
          </a:extLst>
        </p:spPr>
      </p:pic>
      <p:sp>
        <p:nvSpPr>
          <p:cNvPr id="30" name="Rounded Rectangle 29"/>
          <p:cNvSpPr/>
          <p:nvPr userDrawn="1"/>
        </p:nvSpPr>
        <p:spPr bwMode="auto">
          <a:xfrm>
            <a:off x="663388" y="607359"/>
            <a:ext cx="3771669" cy="1813112"/>
          </a:xfrm>
          <a:prstGeom prst="roundRect">
            <a:avLst>
              <a:gd name="adj" fmla="val 0"/>
            </a:avLst>
          </a:prstGeom>
          <a:solidFill>
            <a:schemeClr val="bg1"/>
          </a:solidFill>
          <a:ln w="9525" cap="flat"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121920" tIns="60960" rIns="121920" bIns="60960" numCol="1" rtlCol="0" anchor="ctr" anchorCtr="0" compatLnSpc="1">
            <a:prstTxWarp prst="textNoShape">
              <a:avLst/>
            </a:prstTxWarp>
          </a:bodyPr>
          <a:lstStyle/>
          <a:p>
            <a:pPr algn="ctr" defTabSz="1243918" fontAlgn="base">
              <a:spcBef>
                <a:spcPct val="0"/>
              </a:spcBef>
              <a:spcAft>
                <a:spcPct val="0"/>
              </a:spcAft>
            </a:pPr>
            <a:endParaRPr lang="en-US" sz="1600" b="1" dirty="0">
              <a:solidFill>
                <a:srgbClr val="000000"/>
              </a:solidFill>
              <a:cs typeface="Arial" charset="0"/>
            </a:endParaRPr>
          </a:p>
        </p:txBody>
      </p:sp>
      <p:sp>
        <p:nvSpPr>
          <p:cNvPr id="5" name="Rectangle 8"/>
          <p:cNvSpPr>
            <a:spLocks noChangeArrowheads="1"/>
          </p:cNvSpPr>
          <p:nvPr/>
        </p:nvSpPr>
        <p:spPr bwMode="auto">
          <a:xfrm>
            <a:off x="4117010" y="4898891"/>
            <a:ext cx="8074991" cy="914400"/>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000000"/>
              </a:solidFill>
              <a:cs typeface="Arial" charset="0"/>
            </a:endParaRPr>
          </a:p>
        </p:txBody>
      </p:sp>
      <p:sp>
        <p:nvSpPr>
          <p:cNvPr id="9" name="Line 12"/>
          <p:cNvSpPr>
            <a:spLocks noChangeShapeType="1"/>
          </p:cNvSpPr>
          <p:nvPr/>
        </p:nvSpPr>
        <p:spPr bwMode="auto">
          <a:xfrm>
            <a:off x="0" y="5813291"/>
            <a:ext cx="12192000" cy="0"/>
          </a:xfrm>
          <a:prstGeom prst="line">
            <a:avLst/>
          </a:prstGeom>
          <a:noFill/>
          <a:ln w="28575">
            <a:solidFill>
              <a:schemeClr val="accent4"/>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3074" name="Rectangle 2"/>
          <p:cNvSpPr>
            <a:spLocks noGrp="1" noChangeArrowheads="1"/>
          </p:cNvSpPr>
          <p:nvPr>
            <p:ph type="ctrTitle"/>
          </p:nvPr>
        </p:nvSpPr>
        <p:spPr>
          <a:xfrm>
            <a:off x="4218609" y="609600"/>
            <a:ext cx="7742075" cy="3962400"/>
          </a:xfrm>
        </p:spPr>
        <p:txBody>
          <a:bodyPr anchor="b"/>
          <a:lstStyle>
            <a:lvl1pPr>
              <a:defRPr sz="4267" b="1">
                <a:solidFill>
                  <a:srgbClr val="000000"/>
                </a:solidFill>
              </a:defRPr>
            </a:lvl1pPr>
          </a:lstStyle>
          <a:p>
            <a:r>
              <a:rPr lang="en-US"/>
              <a:t>Click to edit Master title style</a:t>
            </a:r>
            <a:endParaRPr lang="fr-FR" dirty="0"/>
          </a:p>
        </p:txBody>
      </p:sp>
      <p:sp>
        <p:nvSpPr>
          <p:cNvPr id="3075" name="Rectangle 3"/>
          <p:cNvSpPr>
            <a:spLocks noGrp="1" noChangeArrowheads="1"/>
          </p:cNvSpPr>
          <p:nvPr>
            <p:ph type="subTitle" idx="1"/>
          </p:nvPr>
        </p:nvSpPr>
        <p:spPr>
          <a:xfrm>
            <a:off x="4218608" y="5000491"/>
            <a:ext cx="7761357" cy="711200"/>
          </a:xfrm>
          <a:ln/>
        </p:spPr>
        <p:txBody>
          <a:bodyPr lIns="91440" tIns="45720" rIns="91440" bIns="45720" anchor="ctr"/>
          <a:lstStyle>
            <a:lvl1pPr marL="0" indent="0">
              <a:buFontTx/>
              <a:buNone/>
              <a:defRPr sz="1867">
                <a:solidFill>
                  <a:schemeClr val="bg1"/>
                </a:solidFill>
              </a:defRPr>
            </a:lvl1pPr>
          </a:lstStyle>
          <a:p>
            <a:r>
              <a:rPr lang="en-US"/>
              <a:t>Click to edit Master subtitle style</a:t>
            </a:r>
            <a:endParaRPr lang="fr-FR"/>
          </a:p>
        </p:txBody>
      </p:sp>
      <p:sp>
        <p:nvSpPr>
          <p:cNvPr id="35" name="McK Disclaimer"/>
          <p:cNvSpPr>
            <a:spLocks noChangeArrowheads="1"/>
          </p:cNvSpPr>
          <p:nvPr userDrawn="1">
            <p:custDataLst>
              <p:tags r:id="rId2"/>
            </p:custDataLst>
          </p:nvPr>
        </p:nvSpPr>
        <p:spPr bwMode="gray">
          <a:xfrm>
            <a:off x="4435057" y="8687993"/>
            <a:ext cx="6400800" cy="328423"/>
          </a:xfrm>
          <a:prstGeom prst="rect">
            <a:avLst/>
          </a:prstGeom>
          <a:noFill/>
          <a:ln w="9525">
            <a:noFill/>
            <a:miter lim="800000"/>
            <a:headEnd/>
            <a:tailEnd/>
          </a:ln>
          <a:effectLst/>
        </p:spPr>
        <p:txBody>
          <a:bodyPr wrap="square" lIns="0" tIns="0" rIns="0" bIns="0" anchor="b">
            <a:spAutoFit/>
          </a:bodyPr>
          <a:lstStyle/>
          <a:p>
            <a:pPr defTabSz="1073124" eaLnBrk="0" fontAlgn="base" hangingPunct="0">
              <a:spcBef>
                <a:spcPct val="0"/>
              </a:spcBef>
              <a:spcAft>
                <a:spcPct val="0"/>
              </a:spcAft>
            </a:pPr>
            <a:r>
              <a:rPr lang="en-US" sz="1067" dirty="0">
                <a:solidFill>
                  <a:srgbClr val="000000"/>
                </a:solidFill>
                <a:cs typeface="Arial" charset="0"/>
              </a:rPr>
              <a:t>CONFIDENTIAL AND PROPRIETARY</a:t>
            </a:r>
          </a:p>
          <a:p>
            <a:pPr defTabSz="1073124" eaLnBrk="0" fontAlgn="base" hangingPunct="0">
              <a:spcBef>
                <a:spcPct val="0"/>
              </a:spcBef>
              <a:spcAft>
                <a:spcPct val="0"/>
              </a:spcAft>
            </a:pPr>
            <a:r>
              <a:rPr lang="en-US" sz="1067" dirty="0">
                <a:solidFill>
                  <a:srgbClr val="000000"/>
                </a:solidFill>
                <a:cs typeface="Arial" charset="0"/>
              </a:rPr>
              <a:t>Any use of this material without specific permission of </a:t>
            </a:r>
            <a:r>
              <a:rPr lang="en-US" sz="1067" dirty="0" err="1">
                <a:solidFill>
                  <a:srgbClr val="000000"/>
                </a:solidFill>
                <a:cs typeface="Arial" charset="0"/>
              </a:rPr>
              <a:t>Berli</a:t>
            </a:r>
            <a:r>
              <a:rPr lang="en-US" sz="1067" dirty="0">
                <a:solidFill>
                  <a:srgbClr val="000000"/>
                </a:solidFill>
                <a:cs typeface="Arial" charset="0"/>
              </a:rPr>
              <a:t> </a:t>
            </a:r>
            <a:r>
              <a:rPr lang="en-US" sz="1067" dirty="0" err="1">
                <a:solidFill>
                  <a:srgbClr val="000000"/>
                </a:solidFill>
                <a:cs typeface="Arial" charset="0"/>
              </a:rPr>
              <a:t>Jucker</a:t>
            </a:r>
            <a:r>
              <a:rPr lang="en-US" sz="1067" dirty="0">
                <a:solidFill>
                  <a:srgbClr val="000000"/>
                </a:solidFill>
                <a:cs typeface="Arial" charset="0"/>
              </a:rPr>
              <a:t> PCL is strictly prohibited</a:t>
            </a:r>
          </a:p>
        </p:txBody>
      </p:sp>
      <p:pic>
        <p:nvPicPr>
          <p:cNvPr id="21" name="Picture 2" descr="http://www.jobdst.com/components/com_enterprise/images/1733/logo.png"/>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17947" y="809145"/>
            <a:ext cx="3062552" cy="1409543"/>
          </a:xfrm>
          <a:prstGeom prst="rect">
            <a:avLst/>
          </a:prstGeom>
          <a:noFill/>
          <a:extLst>
            <a:ext uri="{909E8E84-426E-40DD-AFC4-6F175D3DCCD1}">
              <a14:hiddenFill xmlns:a14="http://schemas.microsoft.com/office/drawing/2010/main">
                <a:solidFill>
                  <a:srgbClr val="FFFFFF"/>
                </a:solidFill>
              </a14:hiddenFill>
            </a:ext>
          </a:extLst>
        </p:spPr>
      </p:pic>
      <p:pic>
        <p:nvPicPr>
          <p:cNvPr id="3233832" name="Picture 40" descr="http://www.bjc.co.th/assets/FE/images/home_parallax/tree.png"/>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l="30861" r="27587"/>
          <a:stretch/>
        </p:blipFill>
        <p:spPr bwMode="auto">
          <a:xfrm>
            <a:off x="436536" y="5957088"/>
            <a:ext cx="3447393" cy="2895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1661338"/>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3" name="Espace réservé du contenu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8BC25FC0-0243-4465-9384-246A52CC7C27}" type="slidenum">
              <a:rPr lang="en-US"/>
              <a:pPr>
                <a:defRPr/>
              </a:pPr>
              <a:t>‹#›</a:t>
            </a:fld>
            <a:endParaRPr lang="en-US" dirty="0"/>
          </a:p>
        </p:txBody>
      </p:sp>
    </p:spTree>
    <p:extLst>
      <p:ext uri="{BB962C8B-B14F-4D97-AF65-F5344CB8AC3E}">
        <p14:creationId xmlns:p14="http://schemas.microsoft.com/office/powerpoint/2010/main" val="33147809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337" imgH="336" progId="TCLayout.ActiveDocument.1">
                  <p:embed/>
                </p:oleObj>
              </mc:Choice>
              <mc:Fallback>
                <p:oleObj name="think-cell Slide" r:id="rId3" imgW="337" imgH="336"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2" name="Titre 1"/>
          <p:cNvSpPr>
            <a:spLocks noGrp="1"/>
          </p:cNvSpPr>
          <p:nvPr>
            <p:ph type="title"/>
          </p:nvPr>
        </p:nvSpPr>
        <p:spPr/>
        <p:txBody>
          <a:bodyPr/>
          <a:lstStyle/>
          <a:p>
            <a:r>
              <a:rPr lang="en-US"/>
              <a:t>Click to edit Master title style</a:t>
            </a:r>
            <a:endParaRPr lang="fr-FR"/>
          </a:p>
        </p:txBody>
      </p:sp>
      <p:sp>
        <p:nvSpPr>
          <p:cNvPr id="3" name="Rectangle 6"/>
          <p:cNvSpPr>
            <a:spLocks noGrp="1" noChangeArrowheads="1"/>
          </p:cNvSpPr>
          <p:nvPr>
            <p:ph type="sldNum" sz="quarter" idx="10"/>
          </p:nvPr>
        </p:nvSpPr>
        <p:spPr>
          <a:ln/>
        </p:spPr>
        <p:txBody>
          <a:bodyPr/>
          <a:lstStyle>
            <a:lvl1pPr>
              <a:defRPr/>
            </a:lvl1pPr>
          </a:lstStyle>
          <a:p>
            <a:pPr>
              <a:defRPr/>
            </a:pPr>
            <a:fld id="{E7D289AF-809E-4A92-AA09-C852EE07CC20}" type="slidenum">
              <a:rPr lang="en-US"/>
              <a:pPr>
                <a:defRPr/>
              </a:pPr>
              <a:t>‹#›</a:t>
            </a:fld>
            <a:endParaRPr lang="en-US" dirty="0"/>
          </a:p>
        </p:txBody>
      </p:sp>
    </p:spTree>
    <p:extLst>
      <p:ext uri="{BB962C8B-B14F-4D97-AF65-F5344CB8AC3E}">
        <p14:creationId xmlns:p14="http://schemas.microsoft.com/office/powerpoint/2010/main" val="3716166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70923CC9-FF77-4964-B9AF-11E23656B9B6}" type="slidenum">
              <a:rPr lang="en-US"/>
              <a:pPr>
                <a:defRPr/>
              </a:pPr>
              <a:t>‹#›</a:t>
            </a:fld>
            <a:endParaRPr lang="en-US" dirty="0"/>
          </a:p>
        </p:txBody>
      </p:sp>
    </p:spTree>
    <p:extLst>
      <p:ext uri="{BB962C8B-B14F-4D97-AF65-F5344CB8AC3E}">
        <p14:creationId xmlns:p14="http://schemas.microsoft.com/office/powerpoint/2010/main" val="5494292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0F24E86F-376F-47C0-A5C9-D392B4673F91}" type="slidenum">
              <a:rPr lang="en-US"/>
              <a:pPr>
                <a:defRPr/>
              </a:pPr>
              <a:t>‹#›</a:t>
            </a:fld>
            <a:endParaRPr lang="en-US" dirty="0"/>
          </a:p>
        </p:txBody>
      </p:sp>
    </p:spTree>
    <p:extLst>
      <p:ext uri="{BB962C8B-B14F-4D97-AF65-F5344CB8AC3E}">
        <p14:creationId xmlns:p14="http://schemas.microsoft.com/office/powerpoint/2010/main" val="10278945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re. Texte et 2 contenu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337" imgH="336" progId="TCLayout.ActiveDocument.1">
                  <p:embed/>
                </p:oleObj>
              </mc:Choice>
              <mc:Fallback>
                <p:oleObj name="think-cell Slide" r:id="rId3" imgW="337" imgH="336"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3" name="Espace réservé du texte 2"/>
          <p:cNvSpPr>
            <a:spLocks noGrp="1"/>
          </p:cNvSpPr>
          <p:nvPr>
            <p:ph type="body" sz="half" idx="1"/>
          </p:nvPr>
        </p:nvSpPr>
        <p:spPr>
          <a:xfrm>
            <a:off x="1102785" y="1500717"/>
            <a:ext cx="458258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Espace réservé du contenu 3"/>
          <p:cNvSpPr>
            <a:spLocks noGrp="1"/>
          </p:cNvSpPr>
          <p:nvPr>
            <p:ph sz="quarter" idx="2"/>
          </p:nvPr>
        </p:nvSpPr>
        <p:spPr>
          <a:xfrm>
            <a:off x="5888567" y="15007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Espace réservé du contenu 4"/>
          <p:cNvSpPr>
            <a:spLocks noGrp="1"/>
          </p:cNvSpPr>
          <p:nvPr>
            <p:ph sz="quarter" idx="3"/>
          </p:nvPr>
        </p:nvSpPr>
        <p:spPr>
          <a:xfrm>
            <a:off x="5888567" y="44979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Rectangle 6"/>
          <p:cNvSpPr>
            <a:spLocks noGrp="1" noChangeArrowheads="1"/>
          </p:cNvSpPr>
          <p:nvPr>
            <p:ph type="sldNum" sz="quarter" idx="10"/>
          </p:nvPr>
        </p:nvSpPr>
        <p:spPr>
          <a:ln/>
        </p:spPr>
        <p:txBody>
          <a:bodyPr/>
          <a:lstStyle>
            <a:lvl1pPr>
              <a:defRPr/>
            </a:lvl1pPr>
          </a:lstStyle>
          <a:p>
            <a:pPr>
              <a:defRPr/>
            </a:pPr>
            <a:fld id="{DEE60E16-0EA1-44C5-A74D-4C75D8EB0EA1}" type="slidenum">
              <a:rPr lang="en-US"/>
              <a:pPr>
                <a:defRPr/>
              </a:pPr>
              <a:t>‹#›</a:t>
            </a:fld>
            <a:endParaRPr lang="en-US" dirty="0"/>
          </a:p>
        </p:txBody>
      </p:sp>
      <p:sp>
        <p:nvSpPr>
          <p:cNvPr id="7" name="Rectangle 2"/>
          <p:cNvSpPr>
            <a:spLocks noGrp="1" noChangeArrowheads="1"/>
          </p:cNvSpPr>
          <p:nvPr>
            <p:ph type="title"/>
          </p:nvPr>
        </p:nvSpPr>
        <p:spPr bwMode="auto">
          <a:xfrm>
            <a:off x="502027" y="527051"/>
            <a:ext cx="9771527"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Tree>
    <p:extLst>
      <p:ext uri="{BB962C8B-B14F-4D97-AF65-F5344CB8AC3E}">
        <p14:creationId xmlns:p14="http://schemas.microsoft.com/office/powerpoint/2010/main" val="38214344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2118" y="2118"/>
                        <a:ext cx="2116" cy="2116"/>
                      </a:xfrm>
                      <a:prstGeom prst="rect">
                        <a:avLst/>
                      </a:prstGeom>
                    </p:spPr>
                  </p:pic>
                </p:oleObj>
              </mc:Fallback>
            </mc:AlternateContent>
          </a:graphicData>
        </a:graphic>
      </p:graphicFrame>
      <p:sp>
        <p:nvSpPr>
          <p:cNvPr id="18" name="Freeform 1244"/>
          <p:cNvSpPr>
            <a:spLocks/>
          </p:cNvSpPr>
          <p:nvPr userDrawn="1"/>
        </p:nvSpPr>
        <p:spPr bwMode="gray">
          <a:xfrm>
            <a:off x="1" y="-16934"/>
            <a:ext cx="12680951" cy="3335867"/>
          </a:xfrm>
          <a:custGeom>
            <a:avLst/>
            <a:gdLst>
              <a:gd name="T0" fmla="*/ 0 w 5991"/>
              <a:gd name="T1" fmla="*/ 1576 h 1576"/>
              <a:gd name="T2" fmla="*/ 200 w 5991"/>
              <a:gd name="T3" fmla="*/ 1320 h 1576"/>
              <a:gd name="T4" fmla="*/ 464 w 5991"/>
              <a:gd name="T5" fmla="*/ 1104 h 1576"/>
              <a:gd name="T6" fmla="*/ 808 w 5991"/>
              <a:gd name="T7" fmla="*/ 896 h 1576"/>
              <a:gd name="T8" fmla="*/ 1240 w 5991"/>
              <a:gd name="T9" fmla="*/ 688 h 1576"/>
              <a:gd name="T10" fmla="*/ 1824 w 5991"/>
              <a:gd name="T11" fmla="*/ 488 h 1576"/>
              <a:gd name="T12" fmla="*/ 2368 w 5991"/>
              <a:gd name="T13" fmla="*/ 344 h 1576"/>
              <a:gd name="T14" fmla="*/ 3032 w 5991"/>
              <a:gd name="T15" fmla="*/ 200 h 1576"/>
              <a:gd name="T16" fmla="*/ 3888 w 5991"/>
              <a:gd name="T17" fmla="*/ 88 h 1576"/>
              <a:gd name="T18" fmla="*/ 4432 w 5991"/>
              <a:gd name="T19" fmla="*/ 48 h 1576"/>
              <a:gd name="T20" fmla="*/ 4888 w 5991"/>
              <a:gd name="T21" fmla="*/ 24 h 1576"/>
              <a:gd name="T22" fmla="*/ 5176 w 5991"/>
              <a:gd name="T23" fmla="*/ 0 h 1576"/>
              <a:gd name="T24" fmla="*/ 0 w 5991"/>
              <a:gd name="T25" fmla="*/ 0 h 1576"/>
              <a:gd name="T26" fmla="*/ 0 w 5991"/>
              <a:gd name="T27"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91" h="1576">
                <a:moveTo>
                  <a:pt x="0" y="1576"/>
                </a:moveTo>
                <a:lnTo>
                  <a:pt x="200" y="1320"/>
                </a:lnTo>
                <a:cubicBezTo>
                  <a:pt x="277" y="1241"/>
                  <a:pt x="363" y="1175"/>
                  <a:pt x="464" y="1104"/>
                </a:cubicBezTo>
                <a:cubicBezTo>
                  <a:pt x="565" y="1033"/>
                  <a:pt x="679" y="965"/>
                  <a:pt x="808" y="896"/>
                </a:cubicBezTo>
                <a:cubicBezTo>
                  <a:pt x="937" y="827"/>
                  <a:pt x="1071" y="756"/>
                  <a:pt x="1240" y="688"/>
                </a:cubicBezTo>
                <a:cubicBezTo>
                  <a:pt x="1409" y="620"/>
                  <a:pt x="1636" y="545"/>
                  <a:pt x="1824" y="488"/>
                </a:cubicBezTo>
                <a:cubicBezTo>
                  <a:pt x="2012" y="431"/>
                  <a:pt x="2167" y="392"/>
                  <a:pt x="2368" y="344"/>
                </a:cubicBezTo>
                <a:cubicBezTo>
                  <a:pt x="2569" y="296"/>
                  <a:pt x="2779" y="243"/>
                  <a:pt x="3032" y="200"/>
                </a:cubicBezTo>
                <a:cubicBezTo>
                  <a:pt x="3285" y="157"/>
                  <a:pt x="3655" y="113"/>
                  <a:pt x="3888" y="88"/>
                </a:cubicBezTo>
                <a:cubicBezTo>
                  <a:pt x="4121" y="63"/>
                  <a:pt x="4265" y="59"/>
                  <a:pt x="4432" y="48"/>
                </a:cubicBezTo>
                <a:cubicBezTo>
                  <a:pt x="4599" y="37"/>
                  <a:pt x="4764" y="32"/>
                  <a:pt x="4888" y="24"/>
                </a:cubicBezTo>
                <a:cubicBezTo>
                  <a:pt x="5012" y="16"/>
                  <a:pt x="5991" y="4"/>
                  <a:pt x="5176" y="0"/>
                </a:cubicBezTo>
                <a:lnTo>
                  <a:pt x="0" y="0"/>
                </a:lnTo>
                <a:lnTo>
                  <a:pt x="0" y="1576"/>
                </a:lnTo>
                <a:close/>
              </a:path>
            </a:pathLst>
          </a:custGeom>
          <a:solidFill>
            <a:schemeClr val="accent3"/>
          </a:solidFill>
          <a:ln w="9525" cap="flat" cmpd="sng">
            <a:solidFill>
              <a:schemeClr val="accent2"/>
            </a:solidFill>
            <a:prstDash val="solid"/>
            <a:round/>
            <a:headEnd type="none" w="med" len="med"/>
            <a:tailEnd type="none" w="med" len="med"/>
          </a:ln>
          <a:effectLst/>
        </p:spPr>
        <p:txBody>
          <a:bodyPr/>
          <a:lstStyle/>
          <a:p>
            <a:pPr defTabSz="1219170" fontAlgn="base">
              <a:spcBef>
                <a:spcPct val="0"/>
              </a:spcBef>
              <a:spcAft>
                <a:spcPct val="0"/>
              </a:spcAft>
            </a:pPr>
            <a:endParaRPr lang="en-AU" sz="3200">
              <a:solidFill>
                <a:srgbClr val="000000"/>
              </a:solidFill>
              <a:cs typeface="Arial" charset="0"/>
            </a:endParaRPr>
          </a:p>
        </p:txBody>
      </p:sp>
      <p:pic>
        <p:nvPicPr>
          <p:cNvPr id="39" name="Picture 43" descr="C:\Users\ex0285\Desktop\Picture3.pn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6783" y="1"/>
            <a:ext cx="12367684" cy="3795183"/>
          </a:xfrm>
          <a:prstGeom prst="rect">
            <a:avLst/>
          </a:prstGeom>
          <a:noFill/>
          <a:extLst>
            <a:ext uri="{909E8E84-426E-40DD-AFC4-6F175D3DCCD1}">
              <a14:hiddenFill xmlns:a14="http://schemas.microsoft.com/office/drawing/2010/main">
                <a:solidFill>
                  <a:srgbClr val="FFFFFF"/>
                </a:solidFill>
              </a14:hiddenFill>
            </a:ext>
          </a:extLst>
        </p:spPr>
      </p:pic>
      <p:sp>
        <p:nvSpPr>
          <p:cNvPr id="30" name="Rounded Rectangle 29"/>
          <p:cNvSpPr/>
          <p:nvPr userDrawn="1"/>
        </p:nvSpPr>
        <p:spPr bwMode="auto">
          <a:xfrm>
            <a:off x="663388" y="607359"/>
            <a:ext cx="3771669" cy="1813112"/>
          </a:xfrm>
          <a:prstGeom prst="roundRect">
            <a:avLst>
              <a:gd name="adj" fmla="val 0"/>
            </a:avLst>
          </a:prstGeom>
          <a:solidFill>
            <a:schemeClr val="bg1"/>
          </a:solidFill>
          <a:ln w="9525" cap="flat"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121920" tIns="60960" rIns="121920" bIns="60960" numCol="1" rtlCol="0" anchor="ctr" anchorCtr="0" compatLnSpc="1">
            <a:prstTxWarp prst="textNoShape">
              <a:avLst/>
            </a:prstTxWarp>
          </a:bodyPr>
          <a:lstStyle/>
          <a:p>
            <a:pPr algn="ctr" defTabSz="1243918" fontAlgn="base">
              <a:spcBef>
                <a:spcPct val="0"/>
              </a:spcBef>
              <a:spcAft>
                <a:spcPct val="0"/>
              </a:spcAft>
            </a:pPr>
            <a:endParaRPr lang="en-US" sz="1600" b="1" dirty="0">
              <a:solidFill>
                <a:srgbClr val="000000"/>
              </a:solidFill>
              <a:cs typeface="Arial" charset="0"/>
            </a:endParaRPr>
          </a:p>
        </p:txBody>
      </p:sp>
      <p:sp>
        <p:nvSpPr>
          <p:cNvPr id="5" name="Rectangle 8"/>
          <p:cNvSpPr>
            <a:spLocks noChangeArrowheads="1"/>
          </p:cNvSpPr>
          <p:nvPr/>
        </p:nvSpPr>
        <p:spPr bwMode="auto">
          <a:xfrm>
            <a:off x="4117010" y="4898891"/>
            <a:ext cx="8074991" cy="914400"/>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000000"/>
              </a:solidFill>
              <a:cs typeface="Arial" charset="0"/>
            </a:endParaRPr>
          </a:p>
        </p:txBody>
      </p:sp>
      <p:sp>
        <p:nvSpPr>
          <p:cNvPr id="9" name="Line 12"/>
          <p:cNvSpPr>
            <a:spLocks noChangeShapeType="1"/>
          </p:cNvSpPr>
          <p:nvPr/>
        </p:nvSpPr>
        <p:spPr bwMode="auto">
          <a:xfrm>
            <a:off x="0" y="5813291"/>
            <a:ext cx="12192000" cy="0"/>
          </a:xfrm>
          <a:prstGeom prst="line">
            <a:avLst/>
          </a:prstGeom>
          <a:noFill/>
          <a:ln w="28575">
            <a:solidFill>
              <a:schemeClr val="accent4"/>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3074" name="Rectangle 2"/>
          <p:cNvSpPr>
            <a:spLocks noGrp="1" noChangeArrowheads="1"/>
          </p:cNvSpPr>
          <p:nvPr>
            <p:ph type="ctrTitle"/>
          </p:nvPr>
        </p:nvSpPr>
        <p:spPr>
          <a:xfrm>
            <a:off x="4218609" y="609600"/>
            <a:ext cx="7742075" cy="3962400"/>
          </a:xfrm>
        </p:spPr>
        <p:txBody>
          <a:bodyPr anchor="b"/>
          <a:lstStyle>
            <a:lvl1pPr>
              <a:defRPr sz="4267" b="1">
                <a:solidFill>
                  <a:srgbClr val="000000"/>
                </a:solidFill>
              </a:defRPr>
            </a:lvl1pPr>
          </a:lstStyle>
          <a:p>
            <a:r>
              <a:rPr lang="en-US"/>
              <a:t>Click to edit Master title style</a:t>
            </a:r>
            <a:endParaRPr lang="fr-FR" dirty="0"/>
          </a:p>
        </p:txBody>
      </p:sp>
      <p:sp>
        <p:nvSpPr>
          <p:cNvPr id="3075" name="Rectangle 3"/>
          <p:cNvSpPr>
            <a:spLocks noGrp="1" noChangeArrowheads="1"/>
          </p:cNvSpPr>
          <p:nvPr>
            <p:ph type="subTitle" idx="1"/>
          </p:nvPr>
        </p:nvSpPr>
        <p:spPr>
          <a:xfrm>
            <a:off x="4218608" y="5000491"/>
            <a:ext cx="7761357" cy="711200"/>
          </a:xfrm>
          <a:ln/>
        </p:spPr>
        <p:txBody>
          <a:bodyPr lIns="91440" tIns="45720" rIns="91440" bIns="45720" anchor="ctr"/>
          <a:lstStyle>
            <a:lvl1pPr marL="0" indent="0">
              <a:buFontTx/>
              <a:buNone/>
              <a:defRPr sz="1867">
                <a:solidFill>
                  <a:schemeClr val="bg1"/>
                </a:solidFill>
              </a:defRPr>
            </a:lvl1pPr>
          </a:lstStyle>
          <a:p>
            <a:r>
              <a:rPr lang="en-US"/>
              <a:t>Click to edit Master subtitle style</a:t>
            </a:r>
            <a:endParaRPr lang="fr-FR"/>
          </a:p>
        </p:txBody>
      </p:sp>
      <p:sp>
        <p:nvSpPr>
          <p:cNvPr id="35" name="McK Disclaimer"/>
          <p:cNvSpPr>
            <a:spLocks noChangeArrowheads="1"/>
          </p:cNvSpPr>
          <p:nvPr userDrawn="1">
            <p:custDataLst>
              <p:tags r:id="rId2"/>
            </p:custDataLst>
          </p:nvPr>
        </p:nvSpPr>
        <p:spPr bwMode="gray">
          <a:xfrm>
            <a:off x="4435057" y="8687993"/>
            <a:ext cx="6400800" cy="328423"/>
          </a:xfrm>
          <a:prstGeom prst="rect">
            <a:avLst/>
          </a:prstGeom>
          <a:noFill/>
          <a:ln w="9525">
            <a:noFill/>
            <a:miter lim="800000"/>
            <a:headEnd/>
            <a:tailEnd/>
          </a:ln>
          <a:effectLst/>
        </p:spPr>
        <p:txBody>
          <a:bodyPr wrap="square" lIns="0" tIns="0" rIns="0" bIns="0" anchor="b">
            <a:spAutoFit/>
          </a:bodyPr>
          <a:lstStyle/>
          <a:p>
            <a:pPr defTabSz="1073124" eaLnBrk="0" fontAlgn="base" hangingPunct="0">
              <a:spcBef>
                <a:spcPct val="0"/>
              </a:spcBef>
              <a:spcAft>
                <a:spcPct val="0"/>
              </a:spcAft>
            </a:pPr>
            <a:r>
              <a:rPr lang="en-US" sz="1067" dirty="0">
                <a:solidFill>
                  <a:srgbClr val="000000"/>
                </a:solidFill>
                <a:cs typeface="Arial" charset="0"/>
              </a:rPr>
              <a:t>CONFIDENTIAL AND PROPRIETARY</a:t>
            </a:r>
          </a:p>
          <a:p>
            <a:pPr defTabSz="1073124" eaLnBrk="0" fontAlgn="base" hangingPunct="0">
              <a:spcBef>
                <a:spcPct val="0"/>
              </a:spcBef>
              <a:spcAft>
                <a:spcPct val="0"/>
              </a:spcAft>
            </a:pPr>
            <a:r>
              <a:rPr lang="en-US" sz="1067" dirty="0">
                <a:solidFill>
                  <a:srgbClr val="000000"/>
                </a:solidFill>
                <a:cs typeface="Arial" charset="0"/>
              </a:rPr>
              <a:t>Any use of this material without specific permission of </a:t>
            </a:r>
            <a:r>
              <a:rPr lang="en-US" sz="1067" dirty="0" err="1">
                <a:solidFill>
                  <a:srgbClr val="000000"/>
                </a:solidFill>
                <a:cs typeface="Arial" charset="0"/>
              </a:rPr>
              <a:t>Berli</a:t>
            </a:r>
            <a:r>
              <a:rPr lang="en-US" sz="1067" dirty="0">
                <a:solidFill>
                  <a:srgbClr val="000000"/>
                </a:solidFill>
                <a:cs typeface="Arial" charset="0"/>
              </a:rPr>
              <a:t> </a:t>
            </a:r>
            <a:r>
              <a:rPr lang="en-US" sz="1067" dirty="0" err="1">
                <a:solidFill>
                  <a:srgbClr val="000000"/>
                </a:solidFill>
                <a:cs typeface="Arial" charset="0"/>
              </a:rPr>
              <a:t>Jucker</a:t>
            </a:r>
            <a:r>
              <a:rPr lang="en-US" sz="1067" dirty="0">
                <a:solidFill>
                  <a:srgbClr val="000000"/>
                </a:solidFill>
                <a:cs typeface="Arial" charset="0"/>
              </a:rPr>
              <a:t> PCL is strictly prohibited</a:t>
            </a:r>
          </a:p>
        </p:txBody>
      </p:sp>
      <p:pic>
        <p:nvPicPr>
          <p:cNvPr id="21" name="Picture 2" descr="http://www.jobdst.com/components/com_enterprise/images/1733/logo.png"/>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17947" y="809145"/>
            <a:ext cx="3062552" cy="1409543"/>
          </a:xfrm>
          <a:prstGeom prst="rect">
            <a:avLst/>
          </a:prstGeom>
          <a:noFill/>
          <a:extLst>
            <a:ext uri="{909E8E84-426E-40DD-AFC4-6F175D3DCCD1}">
              <a14:hiddenFill xmlns:a14="http://schemas.microsoft.com/office/drawing/2010/main">
                <a:solidFill>
                  <a:srgbClr val="FFFFFF"/>
                </a:solidFill>
              </a14:hiddenFill>
            </a:ext>
          </a:extLst>
        </p:spPr>
      </p:pic>
      <p:pic>
        <p:nvPicPr>
          <p:cNvPr id="3233832" name="Picture 40" descr="http://www.bjc.co.th/assets/FE/images/home_parallax/tree.png"/>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l="30861" r="27587"/>
          <a:stretch/>
        </p:blipFill>
        <p:spPr bwMode="auto">
          <a:xfrm>
            <a:off x="436536" y="5957088"/>
            <a:ext cx="3447393" cy="2895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8114846"/>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3" name="Espace réservé du contenu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8BC25FC0-0243-4465-9384-246A52CC7C27}" type="slidenum">
              <a:rPr lang="en-US"/>
              <a:pPr>
                <a:defRPr/>
              </a:pPr>
              <a:t>‹#›</a:t>
            </a:fld>
            <a:endParaRPr lang="en-US" dirty="0"/>
          </a:p>
        </p:txBody>
      </p:sp>
    </p:spTree>
    <p:extLst>
      <p:ext uri="{BB962C8B-B14F-4D97-AF65-F5344CB8AC3E}">
        <p14:creationId xmlns:p14="http://schemas.microsoft.com/office/powerpoint/2010/main" val="15553029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337" imgH="336" progId="TCLayout.ActiveDocument.1">
                  <p:embed/>
                </p:oleObj>
              </mc:Choice>
              <mc:Fallback>
                <p:oleObj name="think-cell Slide" r:id="rId3" imgW="337" imgH="336"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2" name="Titre 1"/>
          <p:cNvSpPr>
            <a:spLocks noGrp="1"/>
          </p:cNvSpPr>
          <p:nvPr>
            <p:ph type="title"/>
          </p:nvPr>
        </p:nvSpPr>
        <p:spPr/>
        <p:txBody>
          <a:bodyPr/>
          <a:lstStyle/>
          <a:p>
            <a:r>
              <a:rPr lang="en-US"/>
              <a:t>Click to edit Master title style</a:t>
            </a:r>
            <a:endParaRPr lang="fr-FR"/>
          </a:p>
        </p:txBody>
      </p:sp>
      <p:sp>
        <p:nvSpPr>
          <p:cNvPr id="3" name="Rectangle 6"/>
          <p:cNvSpPr>
            <a:spLocks noGrp="1" noChangeArrowheads="1"/>
          </p:cNvSpPr>
          <p:nvPr>
            <p:ph type="sldNum" sz="quarter" idx="10"/>
          </p:nvPr>
        </p:nvSpPr>
        <p:spPr>
          <a:ln/>
        </p:spPr>
        <p:txBody>
          <a:bodyPr/>
          <a:lstStyle>
            <a:lvl1pPr>
              <a:defRPr/>
            </a:lvl1pPr>
          </a:lstStyle>
          <a:p>
            <a:pPr>
              <a:defRPr/>
            </a:pPr>
            <a:fld id="{E7D289AF-809E-4A92-AA09-C852EE07CC20}" type="slidenum">
              <a:rPr lang="en-US"/>
              <a:pPr>
                <a:defRPr/>
              </a:pPr>
              <a:t>‹#›</a:t>
            </a:fld>
            <a:endParaRPr lang="en-US" dirty="0"/>
          </a:p>
        </p:txBody>
      </p:sp>
    </p:spTree>
    <p:extLst>
      <p:ext uri="{BB962C8B-B14F-4D97-AF65-F5344CB8AC3E}">
        <p14:creationId xmlns:p14="http://schemas.microsoft.com/office/powerpoint/2010/main" val="361597888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70923CC9-FF77-4964-B9AF-11E23656B9B6}" type="slidenum">
              <a:rPr lang="en-US"/>
              <a:pPr>
                <a:defRPr/>
              </a:pPr>
              <a:t>‹#›</a:t>
            </a:fld>
            <a:endParaRPr lang="en-US" dirty="0"/>
          </a:p>
        </p:txBody>
      </p:sp>
    </p:spTree>
    <p:extLst>
      <p:ext uri="{BB962C8B-B14F-4D97-AF65-F5344CB8AC3E}">
        <p14:creationId xmlns:p14="http://schemas.microsoft.com/office/powerpoint/2010/main" val="29434149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0F24E86F-376F-47C0-A5C9-D392B4673F91}" type="slidenum">
              <a:rPr lang="en-US"/>
              <a:pPr>
                <a:defRPr/>
              </a:pPr>
              <a:t>‹#›</a:t>
            </a:fld>
            <a:endParaRPr lang="en-US" dirty="0"/>
          </a:p>
        </p:txBody>
      </p:sp>
    </p:spTree>
    <p:extLst>
      <p:ext uri="{BB962C8B-B14F-4D97-AF65-F5344CB8AC3E}">
        <p14:creationId xmlns:p14="http://schemas.microsoft.com/office/powerpoint/2010/main" val="33151501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re. Texte et 2 contenu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337" imgH="336" progId="TCLayout.ActiveDocument.1">
                  <p:embed/>
                </p:oleObj>
              </mc:Choice>
              <mc:Fallback>
                <p:oleObj name="think-cell Slide" r:id="rId3" imgW="337" imgH="336"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3" name="Espace réservé du texte 2"/>
          <p:cNvSpPr>
            <a:spLocks noGrp="1"/>
          </p:cNvSpPr>
          <p:nvPr>
            <p:ph type="body" sz="half" idx="1"/>
          </p:nvPr>
        </p:nvSpPr>
        <p:spPr>
          <a:xfrm>
            <a:off x="1102785" y="1500717"/>
            <a:ext cx="458258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Espace réservé du contenu 3"/>
          <p:cNvSpPr>
            <a:spLocks noGrp="1"/>
          </p:cNvSpPr>
          <p:nvPr>
            <p:ph sz="quarter" idx="2"/>
          </p:nvPr>
        </p:nvSpPr>
        <p:spPr>
          <a:xfrm>
            <a:off x="5888567" y="15007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Espace réservé du contenu 4"/>
          <p:cNvSpPr>
            <a:spLocks noGrp="1"/>
          </p:cNvSpPr>
          <p:nvPr>
            <p:ph sz="quarter" idx="3"/>
          </p:nvPr>
        </p:nvSpPr>
        <p:spPr>
          <a:xfrm>
            <a:off x="5888567" y="44979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Rectangle 6"/>
          <p:cNvSpPr>
            <a:spLocks noGrp="1" noChangeArrowheads="1"/>
          </p:cNvSpPr>
          <p:nvPr>
            <p:ph type="sldNum" sz="quarter" idx="10"/>
          </p:nvPr>
        </p:nvSpPr>
        <p:spPr>
          <a:ln/>
        </p:spPr>
        <p:txBody>
          <a:bodyPr/>
          <a:lstStyle>
            <a:lvl1pPr>
              <a:defRPr/>
            </a:lvl1pPr>
          </a:lstStyle>
          <a:p>
            <a:pPr>
              <a:defRPr/>
            </a:pPr>
            <a:fld id="{DEE60E16-0EA1-44C5-A74D-4C75D8EB0EA1}" type="slidenum">
              <a:rPr lang="en-US"/>
              <a:pPr>
                <a:defRPr/>
              </a:pPr>
              <a:t>‹#›</a:t>
            </a:fld>
            <a:endParaRPr lang="en-US" dirty="0"/>
          </a:p>
        </p:txBody>
      </p:sp>
      <p:sp>
        <p:nvSpPr>
          <p:cNvPr id="7" name="Rectangle 2"/>
          <p:cNvSpPr>
            <a:spLocks noGrp="1" noChangeArrowheads="1"/>
          </p:cNvSpPr>
          <p:nvPr>
            <p:ph type="title"/>
          </p:nvPr>
        </p:nvSpPr>
        <p:spPr bwMode="auto">
          <a:xfrm>
            <a:off x="502027" y="527051"/>
            <a:ext cx="9771527"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Tree>
    <p:extLst>
      <p:ext uri="{BB962C8B-B14F-4D97-AF65-F5344CB8AC3E}">
        <p14:creationId xmlns:p14="http://schemas.microsoft.com/office/powerpoint/2010/main" val="9953423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2118" y="2118"/>
                        <a:ext cx="2116" cy="2116"/>
                      </a:xfrm>
                      <a:prstGeom prst="rect">
                        <a:avLst/>
                      </a:prstGeom>
                    </p:spPr>
                  </p:pic>
                </p:oleObj>
              </mc:Fallback>
            </mc:AlternateContent>
          </a:graphicData>
        </a:graphic>
      </p:graphicFrame>
      <p:sp>
        <p:nvSpPr>
          <p:cNvPr id="18" name="Freeform 1244"/>
          <p:cNvSpPr>
            <a:spLocks/>
          </p:cNvSpPr>
          <p:nvPr userDrawn="1"/>
        </p:nvSpPr>
        <p:spPr bwMode="gray">
          <a:xfrm>
            <a:off x="1" y="-16934"/>
            <a:ext cx="12680951" cy="3335867"/>
          </a:xfrm>
          <a:custGeom>
            <a:avLst/>
            <a:gdLst>
              <a:gd name="T0" fmla="*/ 0 w 5991"/>
              <a:gd name="T1" fmla="*/ 1576 h 1576"/>
              <a:gd name="T2" fmla="*/ 200 w 5991"/>
              <a:gd name="T3" fmla="*/ 1320 h 1576"/>
              <a:gd name="T4" fmla="*/ 464 w 5991"/>
              <a:gd name="T5" fmla="*/ 1104 h 1576"/>
              <a:gd name="T6" fmla="*/ 808 w 5991"/>
              <a:gd name="T7" fmla="*/ 896 h 1576"/>
              <a:gd name="T8" fmla="*/ 1240 w 5991"/>
              <a:gd name="T9" fmla="*/ 688 h 1576"/>
              <a:gd name="T10" fmla="*/ 1824 w 5991"/>
              <a:gd name="T11" fmla="*/ 488 h 1576"/>
              <a:gd name="T12" fmla="*/ 2368 w 5991"/>
              <a:gd name="T13" fmla="*/ 344 h 1576"/>
              <a:gd name="T14" fmla="*/ 3032 w 5991"/>
              <a:gd name="T15" fmla="*/ 200 h 1576"/>
              <a:gd name="T16" fmla="*/ 3888 w 5991"/>
              <a:gd name="T17" fmla="*/ 88 h 1576"/>
              <a:gd name="T18" fmla="*/ 4432 w 5991"/>
              <a:gd name="T19" fmla="*/ 48 h 1576"/>
              <a:gd name="T20" fmla="*/ 4888 w 5991"/>
              <a:gd name="T21" fmla="*/ 24 h 1576"/>
              <a:gd name="T22" fmla="*/ 5176 w 5991"/>
              <a:gd name="T23" fmla="*/ 0 h 1576"/>
              <a:gd name="T24" fmla="*/ 0 w 5991"/>
              <a:gd name="T25" fmla="*/ 0 h 1576"/>
              <a:gd name="T26" fmla="*/ 0 w 5991"/>
              <a:gd name="T27" fmla="*/ 1576 h 1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91" h="1576">
                <a:moveTo>
                  <a:pt x="0" y="1576"/>
                </a:moveTo>
                <a:lnTo>
                  <a:pt x="200" y="1320"/>
                </a:lnTo>
                <a:cubicBezTo>
                  <a:pt x="277" y="1241"/>
                  <a:pt x="363" y="1175"/>
                  <a:pt x="464" y="1104"/>
                </a:cubicBezTo>
                <a:cubicBezTo>
                  <a:pt x="565" y="1033"/>
                  <a:pt x="679" y="965"/>
                  <a:pt x="808" y="896"/>
                </a:cubicBezTo>
                <a:cubicBezTo>
                  <a:pt x="937" y="827"/>
                  <a:pt x="1071" y="756"/>
                  <a:pt x="1240" y="688"/>
                </a:cubicBezTo>
                <a:cubicBezTo>
                  <a:pt x="1409" y="620"/>
                  <a:pt x="1636" y="545"/>
                  <a:pt x="1824" y="488"/>
                </a:cubicBezTo>
                <a:cubicBezTo>
                  <a:pt x="2012" y="431"/>
                  <a:pt x="2167" y="392"/>
                  <a:pt x="2368" y="344"/>
                </a:cubicBezTo>
                <a:cubicBezTo>
                  <a:pt x="2569" y="296"/>
                  <a:pt x="2779" y="243"/>
                  <a:pt x="3032" y="200"/>
                </a:cubicBezTo>
                <a:cubicBezTo>
                  <a:pt x="3285" y="157"/>
                  <a:pt x="3655" y="113"/>
                  <a:pt x="3888" y="88"/>
                </a:cubicBezTo>
                <a:cubicBezTo>
                  <a:pt x="4121" y="63"/>
                  <a:pt x="4265" y="59"/>
                  <a:pt x="4432" y="48"/>
                </a:cubicBezTo>
                <a:cubicBezTo>
                  <a:pt x="4599" y="37"/>
                  <a:pt x="4764" y="32"/>
                  <a:pt x="4888" y="24"/>
                </a:cubicBezTo>
                <a:cubicBezTo>
                  <a:pt x="5012" y="16"/>
                  <a:pt x="5991" y="4"/>
                  <a:pt x="5176" y="0"/>
                </a:cubicBezTo>
                <a:lnTo>
                  <a:pt x="0" y="0"/>
                </a:lnTo>
                <a:lnTo>
                  <a:pt x="0" y="1576"/>
                </a:lnTo>
                <a:close/>
              </a:path>
            </a:pathLst>
          </a:custGeom>
          <a:solidFill>
            <a:schemeClr val="accent3"/>
          </a:solidFill>
          <a:ln w="9525" cap="flat" cmpd="sng">
            <a:solidFill>
              <a:schemeClr val="accent2"/>
            </a:solidFill>
            <a:prstDash val="solid"/>
            <a:round/>
            <a:headEnd type="none" w="med" len="med"/>
            <a:tailEnd type="none" w="med" len="med"/>
          </a:ln>
          <a:effectLst/>
        </p:spPr>
        <p:txBody>
          <a:bodyPr/>
          <a:lstStyle/>
          <a:p>
            <a:pPr defTabSz="1219170" fontAlgn="base">
              <a:spcBef>
                <a:spcPct val="0"/>
              </a:spcBef>
              <a:spcAft>
                <a:spcPct val="0"/>
              </a:spcAft>
            </a:pPr>
            <a:endParaRPr lang="en-AU" sz="3200">
              <a:solidFill>
                <a:srgbClr val="000000"/>
              </a:solidFill>
              <a:cs typeface="Arial" charset="0"/>
            </a:endParaRPr>
          </a:p>
        </p:txBody>
      </p:sp>
      <p:pic>
        <p:nvPicPr>
          <p:cNvPr id="39" name="Picture 43" descr="C:\Users\ex0285\Desktop\Picture3.png"/>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86783" y="1"/>
            <a:ext cx="12367684" cy="3795183"/>
          </a:xfrm>
          <a:prstGeom prst="rect">
            <a:avLst/>
          </a:prstGeom>
          <a:noFill/>
          <a:extLst>
            <a:ext uri="{909E8E84-426E-40DD-AFC4-6F175D3DCCD1}">
              <a14:hiddenFill xmlns:a14="http://schemas.microsoft.com/office/drawing/2010/main">
                <a:solidFill>
                  <a:srgbClr val="FFFFFF"/>
                </a:solidFill>
              </a14:hiddenFill>
            </a:ext>
          </a:extLst>
        </p:spPr>
      </p:pic>
      <p:sp>
        <p:nvSpPr>
          <p:cNvPr id="30" name="Rounded Rectangle 29"/>
          <p:cNvSpPr/>
          <p:nvPr userDrawn="1"/>
        </p:nvSpPr>
        <p:spPr bwMode="auto">
          <a:xfrm>
            <a:off x="663388" y="607359"/>
            <a:ext cx="3771669" cy="1813112"/>
          </a:xfrm>
          <a:prstGeom prst="roundRect">
            <a:avLst>
              <a:gd name="adj" fmla="val 0"/>
            </a:avLst>
          </a:prstGeom>
          <a:solidFill>
            <a:schemeClr val="bg1"/>
          </a:solidFill>
          <a:ln w="9525" cap="flat"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121920" tIns="60960" rIns="121920" bIns="60960" numCol="1" rtlCol="0" anchor="ctr" anchorCtr="0" compatLnSpc="1">
            <a:prstTxWarp prst="textNoShape">
              <a:avLst/>
            </a:prstTxWarp>
          </a:bodyPr>
          <a:lstStyle/>
          <a:p>
            <a:pPr algn="ctr" defTabSz="1243918" fontAlgn="base">
              <a:spcBef>
                <a:spcPct val="0"/>
              </a:spcBef>
              <a:spcAft>
                <a:spcPct val="0"/>
              </a:spcAft>
            </a:pPr>
            <a:endParaRPr lang="en-US" sz="1600" b="1" dirty="0">
              <a:solidFill>
                <a:srgbClr val="000000"/>
              </a:solidFill>
              <a:cs typeface="Arial" charset="0"/>
            </a:endParaRPr>
          </a:p>
        </p:txBody>
      </p:sp>
      <p:sp>
        <p:nvSpPr>
          <p:cNvPr id="5" name="Rectangle 8"/>
          <p:cNvSpPr>
            <a:spLocks noChangeArrowheads="1"/>
          </p:cNvSpPr>
          <p:nvPr/>
        </p:nvSpPr>
        <p:spPr bwMode="auto">
          <a:xfrm>
            <a:off x="4117010" y="4898891"/>
            <a:ext cx="8074991" cy="914400"/>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000000"/>
              </a:solidFill>
              <a:cs typeface="Arial" charset="0"/>
            </a:endParaRPr>
          </a:p>
        </p:txBody>
      </p:sp>
      <p:sp>
        <p:nvSpPr>
          <p:cNvPr id="9" name="Line 12"/>
          <p:cNvSpPr>
            <a:spLocks noChangeShapeType="1"/>
          </p:cNvSpPr>
          <p:nvPr/>
        </p:nvSpPr>
        <p:spPr bwMode="auto">
          <a:xfrm>
            <a:off x="0" y="5813291"/>
            <a:ext cx="12192000" cy="0"/>
          </a:xfrm>
          <a:prstGeom prst="line">
            <a:avLst/>
          </a:prstGeom>
          <a:noFill/>
          <a:ln w="28575">
            <a:solidFill>
              <a:schemeClr val="accent4"/>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3074" name="Rectangle 2"/>
          <p:cNvSpPr>
            <a:spLocks noGrp="1" noChangeArrowheads="1"/>
          </p:cNvSpPr>
          <p:nvPr>
            <p:ph type="ctrTitle"/>
          </p:nvPr>
        </p:nvSpPr>
        <p:spPr>
          <a:xfrm>
            <a:off x="4218609" y="609600"/>
            <a:ext cx="7742075" cy="3962400"/>
          </a:xfrm>
        </p:spPr>
        <p:txBody>
          <a:bodyPr anchor="b"/>
          <a:lstStyle>
            <a:lvl1pPr>
              <a:defRPr sz="4267" b="1">
                <a:solidFill>
                  <a:srgbClr val="000000"/>
                </a:solidFill>
              </a:defRPr>
            </a:lvl1pPr>
          </a:lstStyle>
          <a:p>
            <a:r>
              <a:rPr lang="en-US" dirty="0"/>
              <a:t>Click to edit Master title style</a:t>
            </a:r>
            <a:endParaRPr lang="fr-FR" dirty="0"/>
          </a:p>
        </p:txBody>
      </p:sp>
      <p:sp>
        <p:nvSpPr>
          <p:cNvPr id="3075" name="Rectangle 3"/>
          <p:cNvSpPr>
            <a:spLocks noGrp="1" noChangeArrowheads="1"/>
          </p:cNvSpPr>
          <p:nvPr>
            <p:ph type="subTitle" idx="1"/>
          </p:nvPr>
        </p:nvSpPr>
        <p:spPr>
          <a:xfrm>
            <a:off x="4218608" y="5000491"/>
            <a:ext cx="7761357" cy="711200"/>
          </a:xfrm>
          <a:ln/>
        </p:spPr>
        <p:txBody>
          <a:bodyPr lIns="91440" tIns="45720" rIns="91440" bIns="45720" anchor="ctr"/>
          <a:lstStyle>
            <a:lvl1pPr marL="0" indent="0">
              <a:buFontTx/>
              <a:buNone/>
              <a:defRPr sz="1867">
                <a:solidFill>
                  <a:schemeClr val="bg1"/>
                </a:solidFill>
              </a:defRPr>
            </a:lvl1pPr>
          </a:lstStyle>
          <a:p>
            <a:r>
              <a:rPr lang="en-US"/>
              <a:t>Click to edit Master subtitle style</a:t>
            </a:r>
            <a:endParaRPr lang="fr-FR"/>
          </a:p>
        </p:txBody>
      </p:sp>
      <p:sp>
        <p:nvSpPr>
          <p:cNvPr id="35" name="McK Disclaimer"/>
          <p:cNvSpPr>
            <a:spLocks noChangeArrowheads="1"/>
          </p:cNvSpPr>
          <p:nvPr userDrawn="1">
            <p:custDataLst>
              <p:tags r:id="rId2"/>
            </p:custDataLst>
          </p:nvPr>
        </p:nvSpPr>
        <p:spPr bwMode="gray">
          <a:xfrm>
            <a:off x="4435057" y="8687993"/>
            <a:ext cx="6400800" cy="328423"/>
          </a:xfrm>
          <a:prstGeom prst="rect">
            <a:avLst/>
          </a:prstGeom>
          <a:noFill/>
          <a:ln w="9525">
            <a:noFill/>
            <a:miter lim="800000"/>
            <a:headEnd/>
            <a:tailEnd/>
          </a:ln>
          <a:effectLst/>
        </p:spPr>
        <p:txBody>
          <a:bodyPr wrap="square" lIns="0" tIns="0" rIns="0" bIns="0" anchor="b">
            <a:spAutoFit/>
          </a:bodyPr>
          <a:lstStyle/>
          <a:p>
            <a:pPr defTabSz="1073124" eaLnBrk="0" fontAlgn="base" hangingPunct="0">
              <a:spcBef>
                <a:spcPct val="0"/>
              </a:spcBef>
              <a:spcAft>
                <a:spcPct val="0"/>
              </a:spcAft>
            </a:pPr>
            <a:r>
              <a:rPr lang="en-US" sz="1067" dirty="0">
                <a:solidFill>
                  <a:srgbClr val="000000"/>
                </a:solidFill>
                <a:cs typeface="Arial" charset="0"/>
              </a:rPr>
              <a:t>CONFIDENTIAL AND PROPRIETARY</a:t>
            </a:r>
          </a:p>
          <a:p>
            <a:pPr defTabSz="1073124" eaLnBrk="0" fontAlgn="base" hangingPunct="0">
              <a:spcBef>
                <a:spcPct val="0"/>
              </a:spcBef>
              <a:spcAft>
                <a:spcPct val="0"/>
              </a:spcAft>
            </a:pPr>
            <a:r>
              <a:rPr lang="en-US" sz="1067" dirty="0">
                <a:solidFill>
                  <a:srgbClr val="000000"/>
                </a:solidFill>
                <a:cs typeface="Arial" charset="0"/>
              </a:rPr>
              <a:t>Any use of this material without specific permission of Big C Supercenter PCL is strictly prohibited</a:t>
            </a:r>
          </a:p>
        </p:txBody>
      </p:sp>
      <p:pic>
        <p:nvPicPr>
          <p:cNvPr id="21" name="Picture 2" descr="http://www.jobdst.com/components/com_enterprise/images/1733/logo.png"/>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017947" y="809145"/>
            <a:ext cx="3062552" cy="1409543"/>
          </a:xfrm>
          <a:prstGeom prst="rect">
            <a:avLst/>
          </a:prstGeom>
          <a:noFill/>
          <a:extLst>
            <a:ext uri="{909E8E84-426E-40DD-AFC4-6F175D3DCCD1}">
              <a14:hiddenFill xmlns:a14="http://schemas.microsoft.com/office/drawing/2010/main">
                <a:solidFill>
                  <a:srgbClr val="FFFFFF"/>
                </a:solidFill>
              </a14:hiddenFill>
            </a:ext>
          </a:extLst>
        </p:spPr>
      </p:pic>
      <p:pic>
        <p:nvPicPr>
          <p:cNvPr id="3233832" name="Picture 40" descr="http://www.bjc.co.th/assets/FE/images/home_parallax/tree.png"/>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l="30861" r="27587"/>
          <a:stretch/>
        </p:blipFill>
        <p:spPr bwMode="auto">
          <a:xfrm>
            <a:off x="433357" y="2918112"/>
            <a:ext cx="3447393" cy="289517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jpg"/>
          <p:cNvPicPr/>
          <p:nvPr userDrawn="1"/>
        </p:nvPicPr>
        <p:blipFill>
          <a:blip r:embed="rId9" cstate="print"/>
          <a:stretch>
            <a:fillRect/>
          </a:stretch>
        </p:blipFill>
        <p:spPr>
          <a:xfrm>
            <a:off x="4707321" y="572021"/>
            <a:ext cx="1336729" cy="1930931"/>
          </a:xfrm>
          <a:prstGeom prst="rect">
            <a:avLst/>
          </a:prstGeom>
          <a:effectLst>
            <a:outerShdw blurRad="50800" dist="38100" dir="2700000" algn="tl" rotWithShape="0">
              <a:prstClr val="black">
                <a:alpha val="40000"/>
              </a:prstClr>
            </a:outerShdw>
          </a:effectLst>
        </p:spPr>
      </p:pic>
      <p:grpSp>
        <p:nvGrpSpPr>
          <p:cNvPr id="14" name="Group 13"/>
          <p:cNvGrpSpPr/>
          <p:nvPr userDrawn="1"/>
        </p:nvGrpSpPr>
        <p:grpSpPr>
          <a:xfrm>
            <a:off x="4258365" y="7244138"/>
            <a:ext cx="7678241" cy="1320529"/>
            <a:chOff x="3587833" y="5458921"/>
            <a:chExt cx="5377405" cy="924823"/>
          </a:xfrm>
        </p:grpSpPr>
        <p:pic>
          <p:nvPicPr>
            <p:cNvPr id="15" name="Picture 2" descr="https://i.ytimg.com/vi/yccSkV0dacI/maxresdefault.jpg"/>
            <p:cNvPicPr>
              <a:picLocks noChangeAspect="1" noChangeArrowheads="1"/>
            </p:cNvPicPr>
            <p:nvPr userDrawn="1"/>
          </p:nvPicPr>
          <p:blipFill rotWithShape="1">
            <a:blip r:embed="rId10" cstate="print">
              <a:extLst>
                <a:ext uri="{28A0092B-C50C-407E-A947-70E740481C1C}">
                  <a14:useLocalDpi xmlns:a14="http://schemas.microsoft.com/office/drawing/2010/main" val="0"/>
                </a:ext>
              </a:extLst>
            </a:blip>
            <a:srcRect l="30032" r="29973"/>
            <a:stretch/>
          </p:blipFill>
          <p:spPr bwMode="auto">
            <a:xfrm>
              <a:off x="5184335" y="5470291"/>
              <a:ext cx="649476" cy="91345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https://upload.wikimedia.org/wikipedia/en/7/75/BigCMarketLogo.jpg"/>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5945350" y="5470292"/>
              <a:ext cx="640602" cy="9134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http://www.tarad2u.com/_files/prakard/2014_07_30_082858_0_aChBOnaM.jpg"/>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rcRect l="14542" r="14320"/>
            <a:stretch/>
          </p:blipFill>
          <p:spPr bwMode="auto">
            <a:xfrm>
              <a:off x="6697491" y="5470293"/>
              <a:ext cx="649803" cy="91345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http://3.bp.blogspot.com/-lU_jaVEKb_I/ThEta5HBf_I/AAAAAAAAAKE/TaKYTZsxf-I/s1600/Bigc_extra_log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4426018" y="5470293"/>
              <a:ext cx="646778" cy="91345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4" descr="logo"/>
            <p:cNvPicPr>
              <a:picLocks noChangeArrowheads="1"/>
            </p:cNvPicPr>
            <p:nvPr userDrawn="1"/>
          </p:nvPicPr>
          <p:blipFill>
            <a:blip r:embed="rId14" cstate="print"/>
            <a:srcRect l="16559" r="18169"/>
            <a:stretch>
              <a:fillRect/>
            </a:stretch>
          </p:blipFill>
          <p:spPr bwMode="auto">
            <a:xfrm>
              <a:off x="3587833" y="5458921"/>
              <a:ext cx="726646" cy="924822"/>
            </a:xfrm>
            <a:prstGeom prst="rect">
              <a:avLst/>
            </a:prstGeom>
            <a:noFill/>
            <a:ln w="9525">
              <a:noFill/>
              <a:miter lim="800000"/>
              <a:headEnd/>
              <a:tailEnd/>
            </a:ln>
          </p:spPr>
        </p:pic>
        <p:pic>
          <p:nvPicPr>
            <p:cNvPr id="22" name="Picture 23" descr="http://www.software.worldmedic.com/images/Pure.jpg"/>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8141165" y="5787047"/>
              <a:ext cx="824073" cy="307142"/>
            </a:xfrm>
            <a:prstGeom prst="rect">
              <a:avLst/>
            </a:prstGeom>
            <a:noFill/>
            <a:extLst>
              <a:ext uri="{909E8E84-426E-40DD-AFC4-6F175D3DCCD1}">
                <a14:hiddenFill xmlns:a14="http://schemas.microsoft.com/office/drawing/2010/main">
                  <a:solidFill>
                    <a:srgbClr val="FFFFFF"/>
                  </a:solidFill>
                </a14:hiddenFill>
              </a:ext>
            </a:extLst>
          </p:spPr>
        </p:pic>
      </p:grpSp>
      <p:pic>
        <p:nvPicPr>
          <p:cNvPr id="23" name="Picture 2" descr="http://www.jobdst.com/components/com_enterprise/images/1733/logo.png"/>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219777" y="7141725"/>
            <a:ext cx="3874552" cy="17832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544248"/>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2" name="Titre 1"/>
          <p:cNvSpPr>
            <a:spLocks noGrp="1"/>
          </p:cNvSpPr>
          <p:nvPr>
            <p:ph type="title"/>
          </p:nvPr>
        </p:nvSpPr>
        <p:spPr/>
        <p:txBody>
          <a:bodyPr/>
          <a:lstStyle/>
          <a:p>
            <a:r>
              <a:rPr lang="en-US"/>
              <a:t>Click to edit Master title style</a:t>
            </a:r>
            <a:endParaRPr lang="fr-FR"/>
          </a:p>
        </p:txBody>
      </p:sp>
      <p:sp>
        <p:nvSpPr>
          <p:cNvPr id="3" name="Espace réservé du contenu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8BC25FC0-0243-4465-9384-246A52CC7C27}" type="slidenum">
              <a:rPr lang="en-US"/>
              <a:pPr>
                <a:defRPr/>
              </a:pPr>
              <a:t>‹#›</a:t>
            </a:fld>
            <a:endParaRPr lang="en-US" dirty="0"/>
          </a:p>
        </p:txBody>
      </p:sp>
    </p:spTree>
    <p:extLst>
      <p:ext uri="{BB962C8B-B14F-4D97-AF65-F5344CB8AC3E}">
        <p14:creationId xmlns:p14="http://schemas.microsoft.com/office/powerpoint/2010/main" val="24227773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2118" y="2118"/>
                        <a:ext cx="2116" cy="2116"/>
                      </a:xfrm>
                      <a:prstGeom prst="rect">
                        <a:avLst/>
                      </a:prstGeom>
                    </p:spPr>
                  </p:pic>
                </p:oleObj>
              </mc:Fallback>
            </mc:AlternateContent>
          </a:graphicData>
        </a:graphic>
      </p:graphicFrame>
      <p:sp>
        <p:nvSpPr>
          <p:cNvPr id="2" name="Titre 1"/>
          <p:cNvSpPr>
            <a:spLocks noGrp="1"/>
          </p:cNvSpPr>
          <p:nvPr>
            <p:ph type="title"/>
          </p:nvPr>
        </p:nvSpPr>
        <p:spPr/>
        <p:txBody>
          <a:bodyPr/>
          <a:lstStyle/>
          <a:p>
            <a:r>
              <a:rPr lang="en-US"/>
              <a:t>Click to edit Master title style</a:t>
            </a:r>
            <a:endParaRPr lang="fr-FR"/>
          </a:p>
        </p:txBody>
      </p:sp>
      <p:sp>
        <p:nvSpPr>
          <p:cNvPr id="3" name="Rectangle 6"/>
          <p:cNvSpPr>
            <a:spLocks noGrp="1" noChangeArrowheads="1"/>
          </p:cNvSpPr>
          <p:nvPr>
            <p:ph type="sldNum" sz="quarter" idx="10"/>
          </p:nvPr>
        </p:nvSpPr>
        <p:spPr>
          <a:ln/>
        </p:spPr>
        <p:txBody>
          <a:bodyPr/>
          <a:lstStyle>
            <a:lvl1pPr>
              <a:defRPr/>
            </a:lvl1pPr>
          </a:lstStyle>
          <a:p>
            <a:pPr>
              <a:defRPr/>
            </a:pPr>
            <a:fld id="{E7D289AF-809E-4A92-AA09-C852EE07CC20}" type="slidenum">
              <a:rPr lang="en-US"/>
              <a:pPr>
                <a:defRPr/>
              </a:pPr>
              <a:t>‹#›</a:t>
            </a:fld>
            <a:endParaRPr lang="en-US" dirty="0"/>
          </a:p>
        </p:txBody>
      </p:sp>
    </p:spTree>
    <p:extLst>
      <p:ext uri="{BB962C8B-B14F-4D97-AF65-F5344CB8AC3E}">
        <p14:creationId xmlns:p14="http://schemas.microsoft.com/office/powerpoint/2010/main" val="30959745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1_Titre seul">
    <p:spTree>
      <p:nvGrpSpPr>
        <p:cNvPr id="1" name=""/>
        <p:cNvGrpSpPr/>
        <p:nvPr/>
      </p:nvGrpSpPr>
      <p:grpSpPr>
        <a:xfrm>
          <a:off x="0" y="0"/>
          <a:ext cx="0" cy="0"/>
          <a:chOff x="0" y="0"/>
          <a:chExt cx="0" cy="0"/>
        </a:xfrm>
      </p:grpSpPr>
      <p:sp>
        <p:nvSpPr>
          <p:cNvPr id="2" name="Titre 1"/>
          <p:cNvSpPr>
            <a:spLocks noGrp="1"/>
          </p:cNvSpPr>
          <p:nvPr>
            <p:ph type="title"/>
          </p:nvPr>
        </p:nvSpPr>
        <p:spPr>
          <a:xfrm>
            <a:off x="502029" y="527051"/>
            <a:ext cx="8739155" cy="508000"/>
          </a:xfrm>
        </p:spPr>
        <p:txBody>
          <a:bodyPr/>
          <a:lstStyle/>
          <a:p>
            <a:r>
              <a:rPr lang="en-US"/>
              <a:t>Click to edit Master title style</a:t>
            </a:r>
            <a:endParaRPr lang="fr-FR"/>
          </a:p>
        </p:txBody>
      </p:sp>
      <p:sp>
        <p:nvSpPr>
          <p:cNvPr id="3" name="Rectangle 6"/>
          <p:cNvSpPr>
            <a:spLocks noGrp="1" noChangeArrowheads="1"/>
          </p:cNvSpPr>
          <p:nvPr>
            <p:ph type="sldNum" sz="quarter" idx="10"/>
          </p:nvPr>
        </p:nvSpPr>
        <p:spPr>
          <a:ln/>
        </p:spPr>
        <p:txBody>
          <a:bodyPr/>
          <a:lstStyle>
            <a:lvl1pPr>
              <a:defRPr/>
            </a:lvl1pPr>
          </a:lstStyle>
          <a:p>
            <a:pPr>
              <a:defRPr/>
            </a:pPr>
            <a:fld id="{E7D289AF-809E-4A92-AA09-C852EE07CC20}" type="slidenum">
              <a:rPr lang="en-US"/>
              <a:pPr>
                <a:defRPr/>
              </a:pPr>
              <a:t>‹#›</a:t>
            </a:fld>
            <a:endParaRPr lang="en-US" dirty="0"/>
          </a:p>
        </p:txBody>
      </p:sp>
    </p:spTree>
    <p:extLst>
      <p:ext uri="{BB962C8B-B14F-4D97-AF65-F5344CB8AC3E}">
        <p14:creationId xmlns:p14="http://schemas.microsoft.com/office/powerpoint/2010/main" val="155457257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70923CC9-FF77-4964-B9AF-11E23656B9B6}" type="slidenum">
              <a:rPr lang="en-US"/>
              <a:pPr>
                <a:defRPr/>
              </a:pPr>
              <a:t>‹#›</a:t>
            </a:fld>
            <a:endParaRPr lang="en-US" dirty="0"/>
          </a:p>
        </p:txBody>
      </p:sp>
    </p:spTree>
    <p:extLst>
      <p:ext uri="{BB962C8B-B14F-4D97-AF65-F5344CB8AC3E}">
        <p14:creationId xmlns:p14="http://schemas.microsoft.com/office/powerpoint/2010/main" val="25827534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endParaRPr lang="fr-FR"/>
          </a:p>
        </p:txBody>
      </p:sp>
      <p:sp>
        <p:nvSpPr>
          <p:cNvPr id="3" name="Espace réservé du texte vertical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Rectangle 6"/>
          <p:cNvSpPr>
            <a:spLocks noGrp="1" noChangeArrowheads="1"/>
          </p:cNvSpPr>
          <p:nvPr>
            <p:ph type="sldNum" sz="quarter" idx="10"/>
          </p:nvPr>
        </p:nvSpPr>
        <p:spPr>
          <a:ln/>
        </p:spPr>
        <p:txBody>
          <a:bodyPr/>
          <a:lstStyle>
            <a:lvl1pPr>
              <a:defRPr/>
            </a:lvl1pPr>
          </a:lstStyle>
          <a:p>
            <a:pPr>
              <a:defRPr/>
            </a:pPr>
            <a:fld id="{0F24E86F-376F-47C0-A5C9-D392B4673F91}" type="slidenum">
              <a:rPr lang="en-US"/>
              <a:pPr>
                <a:defRPr/>
              </a:pPr>
              <a:t>‹#›</a:t>
            </a:fld>
            <a:endParaRPr lang="en-US" dirty="0"/>
          </a:p>
        </p:txBody>
      </p:sp>
    </p:spTree>
    <p:extLst>
      <p:ext uri="{BB962C8B-B14F-4D97-AF65-F5344CB8AC3E}">
        <p14:creationId xmlns:p14="http://schemas.microsoft.com/office/powerpoint/2010/main" val="13694907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re. Texte et 2 contenus">
    <p:spTree>
      <p:nvGrpSpPr>
        <p:cNvPr id="1" name=""/>
        <p:cNvGrpSpPr/>
        <p:nvPr/>
      </p:nvGrpSpPr>
      <p:grpSpPr>
        <a:xfrm>
          <a:off x="0" y="0"/>
          <a:ext cx="0" cy="0"/>
          <a:chOff x="0" y="0"/>
          <a:chExt cx="0" cy="0"/>
        </a:xfrm>
      </p:grpSpPr>
      <p:sp>
        <p:nvSpPr>
          <p:cNvPr id="3" name="Espace réservé du texte 2"/>
          <p:cNvSpPr>
            <a:spLocks noGrp="1"/>
          </p:cNvSpPr>
          <p:nvPr>
            <p:ph type="body" sz="half" idx="1"/>
          </p:nvPr>
        </p:nvSpPr>
        <p:spPr>
          <a:xfrm>
            <a:off x="1102785" y="1500717"/>
            <a:ext cx="458258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Espace réservé du contenu 3"/>
          <p:cNvSpPr>
            <a:spLocks noGrp="1"/>
          </p:cNvSpPr>
          <p:nvPr>
            <p:ph sz="quarter" idx="2"/>
          </p:nvPr>
        </p:nvSpPr>
        <p:spPr>
          <a:xfrm>
            <a:off x="5888567" y="15007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5" name="Espace réservé du contenu 4"/>
          <p:cNvSpPr>
            <a:spLocks noGrp="1"/>
          </p:cNvSpPr>
          <p:nvPr>
            <p:ph sz="quarter" idx="3"/>
          </p:nvPr>
        </p:nvSpPr>
        <p:spPr>
          <a:xfrm>
            <a:off x="5888567" y="4497917"/>
            <a:ext cx="4582584" cy="279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Rectangle 6"/>
          <p:cNvSpPr>
            <a:spLocks noGrp="1" noChangeArrowheads="1"/>
          </p:cNvSpPr>
          <p:nvPr>
            <p:ph type="sldNum" sz="quarter" idx="10"/>
          </p:nvPr>
        </p:nvSpPr>
        <p:spPr>
          <a:ln/>
        </p:spPr>
        <p:txBody>
          <a:bodyPr/>
          <a:lstStyle>
            <a:lvl1pPr>
              <a:defRPr/>
            </a:lvl1pPr>
          </a:lstStyle>
          <a:p>
            <a:pPr>
              <a:defRPr/>
            </a:pPr>
            <a:fld id="{DEE60E16-0EA1-44C5-A74D-4C75D8EB0EA1}" type="slidenum">
              <a:rPr lang="en-US"/>
              <a:pPr>
                <a:defRPr/>
              </a:pPr>
              <a:t>‹#›</a:t>
            </a:fld>
            <a:endParaRPr lang="en-US" dirty="0"/>
          </a:p>
        </p:txBody>
      </p:sp>
      <p:sp>
        <p:nvSpPr>
          <p:cNvPr id="7" name="Rectangle 2"/>
          <p:cNvSpPr>
            <a:spLocks noGrp="1" noChangeArrowheads="1"/>
          </p:cNvSpPr>
          <p:nvPr>
            <p:ph type="title"/>
          </p:nvPr>
        </p:nvSpPr>
        <p:spPr bwMode="auto">
          <a:xfrm>
            <a:off x="502027" y="527051"/>
            <a:ext cx="9771527"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err="1"/>
              <a:t>Cliquez</a:t>
            </a:r>
            <a:r>
              <a:rPr lang="en-US" dirty="0"/>
              <a:t> et </a:t>
            </a:r>
            <a:r>
              <a:rPr lang="en-US" dirty="0" err="1"/>
              <a:t>modifiez</a:t>
            </a:r>
            <a:r>
              <a:rPr lang="en-US" dirty="0"/>
              <a:t> le </a:t>
            </a:r>
            <a:r>
              <a:rPr lang="en-US" dirty="0" err="1"/>
              <a:t>titre</a:t>
            </a:r>
            <a:endParaRPr lang="en-US" dirty="0"/>
          </a:p>
        </p:txBody>
      </p:sp>
    </p:spTree>
    <p:extLst>
      <p:ext uri="{BB962C8B-B14F-4D97-AF65-F5344CB8AC3E}">
        <p14:creationId xmlns:p14="http://schemas.microsoft.com/office/powerpoint/2010/main" val="1696217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7.xml"/><Relationship Id="rId7" Type="http://schemas.openxmlformats.org/officeDocument/2006/relationships/theme" Target="../theme/theme4.xml"/><Relationship Id="rId12" Type="http://schemas.openxmlformats.org/officeDocument/2006/relationships/image" Target="../media/image5.wmf"/><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image" Target="../media/image4.jpeg"/><Relationship Id="rId5" Type="http://schemas.openxmlformats.org/officeDocument/2006/relationships/slideLayout" Target="../slideLayouts/slideLayout39.xml"/><Relationship Id="rId10" Type="http://schemas.openxmlformats.org/officeDocument/2006/relationships/image" Target="../media/image3.emf"/><Relationship Id="rId4" Type="http://schemas.openxmlformats.org/officeDocument/2006/relationships/slideLayout" Target="../slideLayouts/slideLayout38.xml"/><Relationship Id="rId9" Type="http://schemas.openxmlformats.org/officeDocument/2006/relationships/oleObject" Target="../embeddings/oleObject2.bin"/></Relationships>
</file>

<file path=ppt/slideMasters/_rels/slideMaster5.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slideLayout" Target="../slideLayouts/slideLayout43.xml"/><Relationship Id="rId7" Type="http://schemas.openxmlformats.org/officeDocument/2006/relationships/theme" Target="../theme/theme5.xml"/><Relationship Id="rId12" Type="http://schemas.openxmlformats.org/officeDocument/2006/relationships/image" Target="../media/image5.wmf"/><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image" Target="../media/image4.jpeg"/><Relationship Id="rId5" Type="http://schemas.openxmlformats.org/officeDocument/2006/relationships/slideLayout" Target="../slideLayouts/slideLayout45.xml"/><Relationship Id="rId10" Type="http://schemas.openxmlformats.org/officeDocument/2006/relationships/image" Target="../media/image3.emf"/><Relationship Id="rId4" Type="http://schemas.openxmlformats.org/officeDocument/2006/relationships/slideLayout" Target="../slideLayouts/slideLayout44.xml"/><Relationship Id="rId9" Type="http://schemas.openxmlformats.org/officeDocument/2006/relationships/oleObject" Target="../embeddings/oleObject2.bin"/></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13" Type="http://schemas.openxmlformats.org/officeDocument/2006/relationships/image" Target="../media/image11.jpeg"/><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image" Target="../media/image10.jpeg"/><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image" Target="../media/image3.emf"/><Relationship Id="rId5" Type="http://schemas.openxmlformats.org/officeDocument/2006/relationships/slideLayout" Target="../slideLayouts/slideLayout51.xml"/><Relationship Id="rId10" Type="http://schemas.openxmlformats.org/officeDocument/2006/relationships/oleObject" Target="../embeddings/oleObject4.bin"/><Relationship Id="rId4" Type="http://schemas.openxmlformats.org/officeDocument/2006/relationships/slideLayout" Target="../slideLayouts/slideLayout50.xml"/><Relationship Id="rId9" Type="http://schemas.openxmlformats.org/officeDocument/2006/relationships/tags" Target="../tags/tag12.xml"/><Relationship Id="rId14" Type="http://schemas.openxmlformats.org/officeDocument/2006/relationships/image" Target="../media/image5.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86836"/>
            <a:ext cx="105156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8475136"/>
            <a:ext cx="27432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fld id="{1E9F8EBF-CBD5-4F21-A12D-5D1656ABADCC}" type="datetimeFigureOut">
              <a:rPr lang="en-US" smtClean="0"/>
              <a:t>13-Oct-26</a:t>
            </a:fld>
            <a:endParaRPr lang="en-US"/>
          </a:p>
        </p:txBody>
      </p:sp>
      <p:sp>
        <p:nvSpPr>
          <p:cNvPr id="5" name="Footer Placeholder 4"/>
          <p:cNvSpPr>
            <a:spLocks noGrp="1"/>
          </p:cNvSpPr>
          <p:nvPr>
            <p:ph type="ftr" sz="quarter" idx="3"/>
          </p:nvPr>
        </p:nvSpPr>
        <p:spPr>
          <a:xfrm>
            <a:off x="4038600" y="8475136"/>
            <a:ext cx="4114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8475136"/>
            <a:ext cx="27432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fld id="{CD38C0B6-70B8-4A46-8231-0FD0E353AE33}" type="slidenum">
              <a:rPr lang="en-US" smtClean="0"/>
              <a:t>‹#›</a:t>
            </a:fld>
            <a:endParaRPr lang="en-US"/>
          </a:p>
        </p:txBody>
      </p:sp>
    </p:spTree>
    <p:extLst>
      <p:ext uri="{BB962C8B-B14F-4D97-AF65-F5344CB8AC3E}">
        <p14:creationId xmlns:p14="http://schemas.microsoft.com/office/powerpoint/2010/main" val="148101360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86836"/>
            <a:ext cx="105156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8475136"/>
            <a:ext cx="27432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pPr defTabSz="1219170"/>
            <a:fld id="{DD22B186-8720-4441-A8F7-B4B9922BF0B2}" type="datetimeFigureOut">
              <a:rPr lang="en-US" smtClean="0">
                <a:solidFill>
                  <a:prstClr val="black">
                    <a:tint val="75000"/>
                  </a:prstClr>
                </a:solidFill>
              </a:rPr>
              <a:pPr defTabSz="1219170"/>
              <a:t>13-Oct-26</a:t>
            </a:fld>
            <a:endParaRPr lang="en-US">
              <a:solidFill>
                <a:prstClr val="black">
                  <a:tint val="75000"/>
                </a:prstClr>
              </a:solidFill>
            </a:endParaRPr>
          </a:p>
        </p:txBody>
      </p:sp>
      <p:sp>
        <p:nvSpPr>
          <p:cNvPr id="5" name="Footer Placeholder 4"/>
          <p:cNvSpPr>
            <a:spLocks noGrp="1"/>
          </p:cNvSpPr>
          <p:nvPr>
            <p:ph type="ftr" sz="quarter" idx="3"/>
          </p:nvPr>
        </p:nvSpPr>
        <p:spPr>
          <a:xfrm>
            <a:off x="4038600" y="8475136"/>
            <a:ext cx="4114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pPr defTabSz="1219170"/>
            <a:endParaRPr lang="en-US">
              <a:solidFill>
                <a:prstClr val="black">
                  <a:tint val="75000"/>
                </a:prstClr>
              </a:solidFill>
            </a:endParaRPr>
          </a:p>
        </p:txBody>
      </p:sp>
      <p:sp>
        <p:nvSpPr>
          <p:cNvPr id="6" name="Slide Number Placeholder 5"/>
          <p:cNvSpPr>
            <a:spLocks noGrp="1"/>
          </p:cNvSpPr>
          <p:nvPr>
            <p:ph type="sldNum" sz="quarter" idx="4"/>
          </p:nvPr>
        </p:nvSpPr>
        <p:spPr>
          <a:xfrm>
            <a:off x="8610600" y="8475136"/>
            <a:ext cx="27432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pPr defTabSz="1219170"/>
            <a:fld id="{D7751AC3-115C-462D-8B59-8105D8EC56E2}" type="slidenum">
              <a:rPr lang="en-US" smtClean="0">
                <a:solidFill>
                  <a:prstClr val="black">
                    <a:tint val="75000"/>
                  </a:prstClr>
                </a:solidFill>
              </a:rPr>
              <a:pPr defTabSz="1219170"/>
              <a:t>‹#›</a:t>
            </a:fld>
            <a:endParaRPr lang="en-US">
              <a:solidFill>
                <a:prstClr val="black">
                  <a:tint val="75000"/>
                </a:prstClr>
              </a:solidFill>
            </a:endParaRPr>
          </a:p>
        </p:txBody>
      </p:sp>
    </p:spTree>
    <p:extLst>
      <p:ext uri="{BB962C8B-B14F-4D97-AF65-F5344CB8AC3E}">
        <p14:creationId xmlns:p14="http://schemas.microsoft.com/office/powerpoint/2010/main" val="102374785"/>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821" r:id="rId12"/>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486836"/>
            <a:ext cx="10515600"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2434167"/>
            <a:ext cx="105156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8475136"/>
            <a:ext cx="2743200" cy="486833"/>
          </a:xfrm>
          <a:prstGeom prst="rect">
            <a:avLst/>
          </a:prstGeom>
        </p:spPr>
        <p:txBody>
          <a:bodyPr vert="horz" lIns="91440" tIns="45720" rIns="91440" bIns="45720" rtlCol="0" anchor="ctr"/>
          <a:lstStyle>
            <a:lvl1pPr algn="l">
              <a:defRPr sz="1600">
                <a:solidFill>
                  <a:schemeClr val="tx1">
                    <a:tint val="75000"/>
                  </a:schemeClr>
                </a:solidFill>
              </a:defRPr>
            </a:lvl1pPr>
          </a:lstStyle>
          <a:p>
            <a:pPr defTabSz="1219170"/>
            <a:fld id="{DD22B186-8720-4441-A8F7-B4B9922BF0B2}" type="datetimeFigureOut">
              <a:rPr lang="en-US" smtClean="0">
                <a:solidFill>
                  <a:prstClr val="black">
                    <a:tint val="75000"/>
                  </a:prstClr>
                </a:solidFill>
              </a:rPr>
              <a:pPr defTabSz="1219170"/>
              <a:t>13-Oct-26</a:t>
            </a:fld>
            <a:endParaRPr lang="en-US">
              <a:solidFill>
                <a:prstClr val="black">
                  <a:tint val="75000"/>
                </a:prstClr>
              </a:solidFill>
            </a:endParaRPr>
          </a:p>
        </p:txBody>
      </p:sp>
      <p:sp>
        <p:nvSpPr>
          <p:cNvPr id="5" name="Footer Placeholder 4"/>
          <p:cNvSpPr>
            <a:spLocks noGrp="1"/>
          </p:cNvSpPr>
          <p:nvPr>
            <p:ph type="ftr" sz="quarter" idx="3"/>
          </p:nvPr>
        </p:nvSpPr>
        <p:spPr>
          <a:xfrm>
            <a:off x="4038600" y="8475136"/>
            <a:ext cx="4114800" cy="486833"/>
          </a:xfrm>
          <a:prstGeom prst="rect">
            <a:avLst/>
          </a:prstGeom>
        </p:spPr>
        <p:txBody>
          <a:bodyPr vert="horz" lIns="91440" tIns="45720" rIns="91440" bIns="45720" rtlCol="0" anchor="ctr"/>
          <a:lstStyle>
            <a:lvl1pPr algn="ctr">
              <a:defRPr sz="1600">
                <a:solidFill>
                  <a:schemeClr val="tx1">
                    <a:tint val="75000"/>
                  </a:schemeClr>
                </a:solidFill>
              </a:defRPr>
            </a:lvl1pPr>
          </a:lstStyle>
          <a:p>
            <a:pPr defTabSz="1219170"/>
            <a:endParaRPr lang="en-US">
              <a:solidFill>
                <a:prstClr val="black">
                  <a:tint val="75000"/>
                </a:prstClr>
              </a:solidFill>
            </a:endParaRPr>
          </a:p>
        </p:txBody>
      </p:sp>
      <p:sp>
        <p:nvSpPr>
          <p:cNvPr id="6" name="Slide Number Placeholder 5"/>
          <p:cNvSpPr>
            <a:spLocks noGrp="1"/>
          </p:cNvSpPr>
          <p:nvPr>
            <p:ph type="sldNum" sz="quarter" idx="4"/>
          </p:nvPr>
        </p:nvSpPr>
        <p:spPr>
          <a:xfrm>
            <a:off x="8610600" y="8475136"/>
            <a:ext cx="2743200" cy="486833"/>
          </a:xfrm>
          <a:prstGeom prst="rect">
            <a:avLst/>
          </a:prstGeom>
        </p:spPr>
        <p:txBody>
          <a:bodyPr vert="horz" lIns="91440" tIns="45720" rIns="91440" bIns="45720" rtlCol="0" anchor="ctr"/>
          <a:lstStyle>
            <a:lvl1pPr algn="r">
              <a:defRPr sz="1600">
                <a:solidFill>
                  <a:schemeClr val="tx1">
                    <a:tint val="75000"/>
                  </a:schemeClr>
                </a:solidFill>
              </a:defRPr>
            </a:lvl1pPr>
          </a:lstStyle>
          <a:p>
            <a:pPr defTabSz="1219170"/>
            <a:fld id="{D7751AC3-115C-462D-8B59-8105D8EC56E2}" type="slidenum">
              <a:rPr lang="en-US" smtClean="0">
                <a:solidFill>
                  <a:prstClr val="black">
                    <a:tint val="75000"/>
                  </a:prstClr>
                </a:solidFill>
              </a:rPr>
              <a:pPr defTabSz="1219170"/>
              <a:t>‹#›</a:t>
            </a:fld>
            <a:endParaRPr lang="en-US">
              <a:solidFill>
                <a:prstClr val="black">
                  <a:tint val="75000"/>
                </a:prstClr>
              </a:solidFill>
            </a:endParaRPr>
          </a:p>
        </p:txBody>
      </p:sp>
    </p:spTree>
    <p:extLst>
      <p:ext uri="{BB962C8B-B14F-4D97-AF65-F5344CB8AC3E}">
        <p14:creationId xmlns:p14="http://schemas.microsoft.com/office/powerpoint/2010/main" val="3349962114"/>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3" name="Object 12" hidden="1"/>
          <p:cNvGraphicFramePr>
            <a:graphicFrameLocks noChangeAspect="1"/>
          </p:cNvGraphicFramePr>
          <p:nvPr>
            <p:custDataLst>
              <p:tags r:id="rId8"/>
            </p:custDataLst>
          </p:nvPr>
        </p:nvGraphicFramePr>
        <p:xfrm>
          <a:off x="2117" y="2118"/>
          <a:ext cx="2116" cy="2116"/>
        </p:xfrm>
        <a:graphic>
          <a:graphicData uri="http://schemas.openxmlformats.org/presentationml/2006/ole">
            <mc:AlternateContent xmlns:mc="http://schemas.openxmlformats.org/markup-compatibility/2006">
              <mc:Choice xmlns:v="urn:schemas-microsoft-com:vml" Requires="v">
                <p:oleObj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7" y="2118"/>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 name="Rectangle 3"/>
          <p:cNvSpPr>
            <a:spLocks noGrp="1" noChangeArrowheads="1"/>
          </p:cNvSpPr>
          <p:nvPr>
            <p:ph type="body" idx="1"/>
          </p:nvPr>
        </p:nvSpPr>
        <p:spPr bwMode="auto">
          <a:xfrm>
            <a:off x="1102785" y="1500717"/>
            <a:ext cx="9368367" cy="5791200"/>
          </a:xfrm>
          <a:prstGeom prst="rect">
            <a:avLst/>
          </a:prstGeom>
          <a:noFill/>
          <a:ln w="9525" algn="ctr">
            <a:noFill/>
            <a:miter lim="800000"/>
            <a:headEnd/>
            <a:tailEnd/>
          </a:ln>
        </p:spPr>
        <p:txBody>
          <a:bodyPr vert="horz" wrap="square" lIns="91377" tIns="45692" rIns="91377" bIns="45692" numCol="1" anchor="t" anchorCtr="0" compatLnSpc="1">
            <a:prstTxWarp prst="textNoShape">
              <a:avLst/>
            </a:prstTxWarp>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030" name="Rectangle 6"/>
          <p:cNvSpPr>
            <a:spLocks noGrp="1" noChangeArrowheads="1"/>
          </p:cNvSpPr>
          <p:nvPr>
            <p:ph type="sldNum" sz="quarter" idx="4"/>
          </p:nvPr>
        </p:nvSpPr>
        <p:spPr bwMode="auto">
          <a:xfrm>
            <a:off x="8797552" y="8631767"/>
            <a:ext cx="3056467" cy="35771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333">
                <a:solidFill>
                  <a:srgbClr val="808080"/>
                </a:solidFill>
                <a:latin typeface="Arial" pitchFamily="34" charset="0"/>
                <a:cs typeface="+mn-cs"/>
              </a:defRPr>
            </a:lvl1pPr>
          </a:lstStyle>
          <a:p>
            <a:pPr defTabSz="1219170" fontAlgn="base">
              <a:spcBef>
                <a:spcPct val="0"/>
              </a:spcBef>
              <a:spcAft>
                <a:spcPct val="0"/>
              </a:spcAft>
              <a:defRPr/>
            </a:pPr>
            <a:fld id="{65E7AF01-549A-4BA4-9EEF-2E8FB3F7BEDC}" type="slidenum">
              <a:rPr lang="en-US" smtClean="0"/>
              <a:pPr defTabSz="1219170" fontAlgn="base">
                <a:spcBef>
                  <a:spcPct val="0"/>
                </a:spcBef>
                <a:spcAft>
                  <a:spcPct val="0"/>
                </a:spcAft>
                <a:defRPr/>
              </a:pPr>
              <a:t>‹#›</a:t>
            </a:fld>
            <a:endParaRPr lang="en-US" dirty="0"/>
          </a:p>
        </p:txBody>
      </p:sp>
      <p:sp>
        <p:nvSpPr>
          <p:cNvPr id="1028" name="Rectangle 7"/>
          <p:cNvSpPr>
            <a:spLocks noChangeArrowheads="1"/>
          </p:cNvSpPr>
          <p:nvPr/>
        </p:nvSpPr>
        <p:spPr bwMode="auto">
          <a:xfrm>
            <a:off x="337982" y="446616"/>
            <a:ext cx="10136404" cy="670984"/>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FFFFFF"/>
              </a:solidFill>
              <a:cs typeface="Arial" charset="0"/>
            </a:endParaRPr>
          </a:p>
        </p:txBody>
      </p:sp>
      <p:sp>
        <p:nvSpPr>
          <p:cNvPr id="1029" name="Rectangle 2"/>
          <p:cNvSpPr>
            <a:spLocks noGrp="1" noChangeArrowheads="1"/>
          </p:cNvSpPr>
          <p:nvPr>
            <p:ph type="title"/>
          </p:nvPr>
        </p:nvSpPr>
        <p:spPr bwMode="auto">
          <a:xfrm>
            <a:off x="502029" y="527051"/>
            <a:ext cx="9849671"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err="1"/>
              <a:t>Cliquez</a:t>
            </a:r>
            <a:r>
              <a:rPr lang="en-US" dirty="0"/>
              <a:t> et </a:t>
            </a:r>
            <a:r>
              <a:rPr lang="en-US" dirty="0" err="1"/>
              <a:t>modifiez</a:t>
            </a:r>
            <a:r>
              <a:rPr lang="en-US" dirty="0"/>
              <a:t> le </a:t>
            </a:r>
            <a:r>
              <a:rPr lang="en-US" dirty="0" err="1"/>
              <a:t>titre</a:t>
            </a:r>
            <a:endParaRPr lang="en-US" dirty="0"/>
          </a:p>
        </p:txBody>
      </p:sp>
      <p:sp>
        <p:nvSpPr>
          <p:cNvPr id="1031" name="Line 13"/>
          <p:cNvSpPr>
            <a:spLocks noChangeShapeType="1"/>
          </p:cNvSpPr>
          <p:nvPr/>
        </p:nvSpPr>
        <p:spPr bwMode="auto">
          <a:xfrm flipH="1">
            <a:off x="337982" y="8631767"/>
            <a:ext cx="11516037" cy="0"/>
          </a:xfrm>
          <a:prstGeom prst="line">
            <a:avLst/>
          </a:prstGeom>
          <a:noFill/>
          <a:ln w="9525">
            <a:solidFill>
              <a:srgbClr val="808080"/>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1033" name="Espace réservé du pied de page 3"/>
          <p:cNvSpPr txBox="1">
            <a:spLocks noGrp="1"/>
          </p:cNvSpPr>
          <p:nvPr/>
        </p:nvSpPr>
        <p:spPr bwMode="auto">
          <a:xfrm>
            <a:off x="4165600" y="8809567"/>
            <a:ext cx="3862917" cy="296333"/>
          </a:xfrm>
          <a:prstGeom prst="rect">
            <a:avLst/>
          </a:prstGeom>
          <a:noFill/>
          <a:ln>
            <a:noFill/>
          </a:ln>
        </p:spPr>
        <p:txBody>
          <a:bodyPr lIns="0" tIns="0" rIns="0" bIns="0" anchor="b"/>
          <a:lstStyle>
            <a:lvl1pPr algn="l" defTabSz="844550">
              <a:defRPr sz="2400">
                <a:solidFill>
                  <a:schemeClr val="tx1"/>
                </a:solidFill>
                <a:latin typeface="Arial" pitchFamily="34" charset="0"/>
              </a:defRPr>
            </a:lvl1pPr>
            <a:lvl2pPr marL="742950" indent="-285750" algn="l" defTabSz="844550">
              <a:defRPr sz="2400">
                <a:solidFill>
                  <a:schemeClr val="tx1"/>
                </a:solidFill>
                <a:latin typeface="Arial" pitchFamily="34" charset="0"/>
              </a:defRPr>
            </a:lvl2pPr>
            <a:lvl3pPr marL="1143000" indent="-228600" algn="l" defTabSz="844550">
              <a:defRPr sz="2400">
                <a:solidFill>
                  <a:schemeClr val="tx1"/>
                </a:solidFill>
                <a:latin typeface="Arial" pitchFamily="34" charset="0"/>
              </a:defRPr>
            </a:lvl3pPr>
            <a:lvl4pPr marL="1600200" indent="-228600" algn="l" defTabSz="844550">
              <a:defRPr sz="2400">
                <a:solidFill>
                  <a:schemeClr val="tx1"/>
                </a:solidFill>
                <a:latin typeface="Arial" pitchFamily="34" charset="0"/>
              </a:defRPr>
            </a:lvl4pPr>
            <a:lvl5pPr marL="2057400" indent="-228600" algn="l" defTabSz="844550">
              <a:defRPr sz="2400">
                <a:solidFill>
                  <a:schemeClr val="tx1"/>
                </a:solidFill>
                <a:latin typeface="Arial" pitchFamily="34" charset="0"/>
              </a:defRPr>
            </a:lvl5pPr>
            <a:lvl6pPr marL="2514600" indent="-228600" defTabSz="844550" eaLnBrk="0" fontAlgn="base" hangingPunct="0">
              <a:spcBef>
                <a:spcPct val="0"/>
              </a:spcBef>
              <a:spcAft>
                <a:spcPct val="0"/>
              </a:spcAft>
              <a:defRPr sz="2400">
                <a:solidFill>
                  <a:schemeClr val="tx1"/>
                </a:solidFill>
                <a:latin typeface="Arial" pitchFamily="34" charset="0"/>
              </a:defRPr>
            </a:lvl6pPr>
            <a:lvl7pPr marL="2971800" indent="-228600" defTabSz="844550" eaLnBrk="0" fontAlgn="base" hangingPunct="0">
              <a:spcBef>
                <a:spcPct val="0"/>
              </a:spcBef>
              <a:spcAft>
                <a:spcPct val="0"/>
              </a:spcAft>
              <a:defRPr sz="2400">
                <a:solidFill>
                  <a:schemeClr val="tx1"/>
                </a:solidFill>
                <a:latin typeface="Arial" pitchFamily="34" charset="0"/>
              </a:defRPr>
            </a:lvl7pPr>
            <a:lvl8pPr marL="3429000" indent="-228600" defTabSz="844550" eaLnBrk="0" fontAlgn="base" hangingPunct="0">
              <a:spcBef>
                <a:spcPct val="0"/>
              </a:spcBef>
              <a:spcAft>
                <a:spcPct val="0"/>
              </a:spcAft>
              <a:defRPr sz="2400">
                <a:solidFill>
                  <a:schemeClr val="tx1"/>
                </a:solidFill>
                <a:latin typeface="Arial" pitchFamily="34" charset="0"/>
              </a:defRPr>
            </a:lvl8pPr>
            <a:lvl9pPr marL="3886200" indent="-228600" defTabSz="844550" eaLnBrk="0" fontAlgn="base" hangingPunct="0">
              <a:spcBef>
                <a:spcPct val="0"/>
              </a:spcBef>
              <a:spcAft>
                <a:spcPct val="0"/>
              </a:spcAft>
              <a:defRPr sz="2400">
                <a:solidFill>
                  <a:schemeClr val="tx1"/>
                </a:solidFill>
                <a:latin typeface="Arial" pitchFamily="34" charset="0"/>
              </a:defRPr>
            </a:lvl9pPr>
          </a:lstStyle>
          <a:p>
            <a:pPr algn="ctr" fontAlgn="base">
              <a:spcBef>
                <a:spcPct val="0"/>
              </a:spcBef>
              <a:spcAft>
                <a:spcPct val="0"/>
              </a:spcAft>
              <a:defRPr/>
            </a:pPr>
            <a:r>
              <a:rPr lang="en-US" sz="1067" dirty="0">
                <a:solidFill>
                  <a:srgbClr val="000000"/>
                </a:solidFill>
                <a:cs typeface="Arial" charset="0"/>
              </a:rPr>
              <a:t>Confidential</a:t>
            </a:r>
          </a:p>
        </p:txBody>
      </p:sp>
      <p:pic>
        <p:nvPicPr>
          <p:cNvPr id="11" name="Picture 2" descr="http://www.jobdst.com/components/com_enterprise/images/1733/logo.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512158" y="444200"/>
            <a:ext cx="1463116" cy="673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7697139"/>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Lst>
  <p:hf hdr="0" ftr="0"/>
  <p:txStyles>
    <p:titleStyle>
      <a:lvl1pPr algn="l" rtl="0" eaLnBrk="1" fontAlgn="base" hangingPunct="1">
        <a:spcBef>
          <a:spcPct val="0"/>
        </a:spcBef>
        <a:spcAft>
          <a:spcPct val="0"/>
        </a:spcAft>
        <a:defRPr sz="2133" b="1">
          <a:solidFill>
            <a:schemeClr val="bg1"/>
          </a:solidFill>
          <a:latin typeface="+mj-lt"/>
          <a:ea typeface="+mj-ea"/>
          <a:cs typeface="+mj-cs"/>
        </a:defRPr>
      </a:lvl1pPr>
      <a:lvl2pPr algn="l" rtl="0" eaLnBrk="1" fontAlgn="base" hangingPunct="1">
        <a:spcBef>
          <a:spcPct val="0"/>
        </a:spcBef>
        <a:spcAft>
          <a:spcPct val="0"/>
        </a:spcAft>
        <a:defRPr sz="2133" b="1">
          <a:solidFill>
            <a:schemeClr val="bg1"/>
          </a:solidFill>
          <a:latin typeface="Arial" pitchFamily="34" charset="0"/>
        </a:defRPr>
      </a:lvl2pPr>
      <a:lvl3pPr algn="l" rtl="0" eaLnBrk="1" fontAlgn="base" hangingPunct="1">
        <a:spcBef>
          <a:spcPct val="0"/>
        </a:spcBef>
        <a:spcAft>
          <a:spcPct val="0"/>
        </a:spcAft>
        <a:defRPr sz="2133" b="1">
          <a:solidFill>
            <a:schemeClr val="bg1"/>
          </a:solidFill>
          <a:latin typeface="Arial" pitchFamily="34" charset="0"/>
        </a:defRPr>
      </a:lvl3pPr>
      <a:lvl4pPr algn="l" rtl="0" eaLnBrk="1" fontAlgn="base" hangingPunct="1">
        <a:spcBef>
          <a:spcPct val="0"/>
        </a:spcBef>
        <a:spcAft>
          <a:spcPct val="0"/>
        </a:spcAft>
        <a:defRPr sz="2133" b="1">
          <a:solidFill>
            <a:schemeClr val="bg1"/>
          </a:solidFill>
          <a:latin typeface="Arial" pitchFamily="34" charset="0"/>
        </a:defRPr>
      </a:lvl4pPr>
      <a:lvl5pPr algn="l" rtl="0" eaLnBrk="1" fontAlgn="base" hangingPunct="1">
        <a:spcBef>
          <a:spcPct val="0"/>
        </a:spcBef>
        <a:spcAft>
          <a:spcPct val="0"/>
        </a:spcAft>
        <a:defRPr sz="2133" b="1">
          <a:solidFill>
            <a:schemeClr val="bg1"/>
          </a:solidFill>
          <a:latin typeface="Arial" pitchFamily="34" charset="0"/>
        </a:defRPr>
      </a:lvl5pPr>
      <a:lvl6pPr marL="609585" algn="l" rtl="0" eaLnBrk="1" fontAlgn="base" hangingPunct="1">
        <a:spcBef>
          <a:spcPct val="0"/>
        </a:spcBef>
        <a:spcAft>
          <a:spcPct val="0"/>
        </a:spcAft>
        <a:defRPr sz="2133" b="1">
          <a:solidFill>
            <a:schemeClr val="bg1"/>
          </a:solidFill>
          <a:latin typeface="Arial" pitchFamily="34" charset="0"/>
        </a:defRPr>
      </a:lvl6pPr>
      <a:lvl7pPr marL="1219170" algn="l" rtl="0" eaLnBrk="1" fontAlgn="base" hangingPunct="1">
        <a:spcBef>
          <a:spcPct val="0"/>
        </a:spcBef>
        <a:spcAft>
          <a:spcPct val="0"/>
        </a:spcAft>
        <a:defRPr sz="2133" b="1">
          <a:solidFill>
            <a:schemeClr val="bg1"/>
          </a:solidFill>
          <a:latin typeface="Arial" pitchFamily="34" charset="0"/>
        </a:defRPr>
      </a:lvl7pPr>
      <a:lvl8pPr marL="1828754" algn="l" rtl="0" eaLnBrk="1" fontAlgn="base" hangingPunct="1">
        <a:spcBef>
          <a:spcPct val="0"/>
        </a:spcBef>
        <a:spcAft>
          <a:spcPct val="0"/>
        </a:spcAft>
        <a:defRPr sz="2133" b="1">
          <a:solidFill>
            <a:schemeClr val="bg1"/>
          </a:solidFill>
          <a:latin typeface="Arial" pitchFamily="34" charset="0"/>
        </a:defRPr>
      </a:lvl8pPr>
      <a:lvl9pPr marL="2438339" algn="l" rtl="0" eaLnBrk="1" fontAlgn="base" hangingPunct="1">
        <a:spcBef>
          <a:spcPct val="0"/>
        </a:spcBef>
        <a:spcAft>
          <a:spcPct val="0"/>
        </a:spcAft>
        <a:defRPr sz="2133" b="1">
          <a:solidFill>
            <a:schemeClr val="bg1"/>
          </a:solidFill>
          <a:latin typeface="Arial" pitchFamily="34" charset="0"/>
        </a:defRPr>
      </a:lvl9pPr>
    </p:titleStyle>
    <p:bodyStyle>
      <a:lvl1pPr marL="234945" indent="-234945" algn="l" rtl="0" eaLnBrk="1" fontAlgn="base" hangingPunct="1">
        <a:spcBef>
          <a:spcPct val="20000"/>
        </a:spcBef>
        <a:spcAft>
          <a:spcPct val="0"/>
        </a:spcAft>
        <a:buSzPct val="100000"/>
        <a:buBlip>
          <a:blip r:embed="rId12"/>
        </a:buBlip>
        <a:defRPr sz="1867" b="1">
          <a:solidFill>
            <a:srgbClr val="808080"/>
          </a:solidFill>
          <a:latin typeface="+mn-lt"/>
          <a:ea typeface="+mn-ea"/>
          <a:cs typeface="+mn-cs"/>
        </a:defRPr>
      </a:lvl1pPr>
      <a:lvl2pPr marL="715415" indent="-241294" algn="l" rtl="0" eaLnBrk="1" fontAlgn="base" hangingPunct="1">
        <a:spcBef>
          <a:spcPct val="20000"/>
        </a:spcBef>
        <a:spcAft>
          <a:spcPct val="0"/>
        </a:spcAft>
        <a:buClr>
          <a:schemeClr val="accent2"/>
        </a:buClr>
        <a:buChar char="–"/>
        <a:defRPr sz="1867">
          <a:solidFill>
            <a:srgbClr val="000000"/>
          </a:solidFill>
          <a:latin typeface="+mn-lt"/>
        </a:defRPr>
      </a:lvl2pPr>
      <a:lvl3pPr marL="1644610" indent="-304792" algn="l" rtl="0" eaLnBrk="1" fontAlgn="base" hangingPunct="1">
        <a:spcBef>
          <a:spcPct val="20000"/>
        </a:spcBef>
        <a:spcAft>
          <a:spcPct val="0"/>
        </a:spcAft>
        <a:buClr>
          <a:schemeClr val="accent2"/>
        </a:buClr>
        <a:buChar char="•"/>
        <a:defRPr sz="1867">
          <a:solidFill>
            <a:srgbClr val="000000"/>
          </a:solidFill>
          <a:latin typeface="+mn-lt"/>
        </a:defRPr>
      </a:lvl3pPr>
      <a:lvl4pPr marL="2188579" indent="-304792" algn="l" rtl="0" eaLnBrk="1" fontAlgn="base" hangingPunct="1">
        <a:spcBef>
          <a:spcPct val="20000"/>
        </a:spcBef>
        <a:spcAft>
          <a:spcPct val="0"/>
        </a:spcAft>
        <a:buClr>
          <a:schemeClr val="accent2"/>
        </a:buClr>
        <a:buChar char="–"/>
        <a:defRPr sz="1867">
          <a:solidFill>
            <a:srgbClr val="000000"/>
          </a:solidFill>
          <a:latin typeface="+mn-lt"/>
        </a:defRPr>
      </a:lvl4pPr>
      <a:lvl5pPr marL="2732549" indent="-304792" algn="l" rtl="0" eaLnBrk="1" fontAlgn="base" hangingPunct="1">
        <a:spcBef>
          <a:spcPct val="20000"/>
        </a:spcBef>
        <a:spcAft>
          <a:spcPct val="0"/>
        </a:spcAft>
        <a:buClr>
          <a:schemeClr val="accent2"/>
        </a:buClr>
        <a:buChar char="–"/>
        <a:defRPr sz="1867">
          <a:solidFill>
            <a:srgbClr val="000000"/>
          </a:solidFill>
          <a:latin typeface="+mn-lt"/>
        </a:defRPr>
      </a:lvl5pPr>
      <a:lvl6pPr marL="3342134" indent="-304792" algn="l" rtl="0" eaLnBrk="1" fontAlgn="base" hangingPunct="1">
        <a:spcBef>
          <a:spcPct val="20000"/>
        </a:spcBef>
        <a:spcAft>
          <a:spcPct val="0"/>
        </a:spcAft>
        <a:buClr>
          <a:schemeClr val="accent2"/>
        </a:buClr>
        <a:buChar char="–"/>
        <a:defRPr sz="1333">
          <a:solidFill>
            <a:srgbClr val="000000"/>
          </a:solidFill>
          <a:latin typeface="+mn-lt"/>
        </a:defRPr>
      </a:lvl6pPr>
      <a:lvl7pPr marL="3951719" indent="-304792" algn="l" rtl="0" eaLnBrk="1" fontAlgn="base" hangingPunct="1">
        <a:spcBef>
          <a:spcPct val="20000"/>
        </a:spcBef>
        <a:spcAft>
          <a:spcPct val="0"/>
        </a:spcAft>
        <a:buClr>
          <a:schemeClr val="accent2"/>
        </a:buClr>
        <a:buChar char="–"/>
        <a:defRPr sz="1333">
          <a:solidFill>
            <a:srgbClr val="000000"/>
          </a:solidFill>
          <a:latin typeface="+mn-lt"/>
        </a:defRPr>
      </a:lvl7pPr>
      <a:lvl8pPr marL="4561303" indent="-304792" algn="l" rtl="0" eaLnBrk="1" fontAlgn="base" hangingPunct="1">
        <a:spcBef>
          <a:spcPct val="20000"/>
        </a:spcBef>
        <a:spcAft>
          <a:spcPct val="0"/>
        </a:spcAft>
        <a:buClr>
          <a:schemeClr val="accent2"/>
        </a:buClr>
        <a:buChar char="–"/>
        <a:defRPr sz="1333">
          <a:solidFill>
            <a:srgbClr val="000000"/>
          </a:solidFill>
          <a:latin typeface="+mn-lt"/>
        </a:defRPr>
      </a:lvl8pPr>
      <a:lvl9pPr marL="5170888" indent="-304792" algn="l" rtl="0" eaLnBrk="1" fontAlgn="base" hangingPunct="1">
        <a:spcBef>
          <a:spcPct val="20000"/>
        </a:spcBef>
        <a:spcAft>
          <a:spcPct val="0"/>
        </a:spcAft>
        <a:buClr>
          <a:schemeClr val="accent2"/>
        </a:buClr>
        <a:buChar char="–"/>
        <a:defRPr sz="1333">
          <a:solidFill>
            <a:srgbClr val="000000"/>
          </a:solidFill>
          <a:latin typeface="+mn-lt"/>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3" name="Object 12" hidden="1"/>
          <p:cNvGraphicFramePr>
            <a:graphicFrameLocks noChangeAspect="1"/>
          </p:cNvGraphicFramePr>
          <p:nvPr>
            <p:custDataLst>
              <p:tags r:id="rId8"/>
            </p:custDataLst>
          </p:nvPr>
        </p:nvGraphicFramePr>
        <p:xfrm>
          <a:off x="2117" y="2118"/>
          <a:ext cx="2116" cy="2116"/>
        </p:xfrm>
        <a:graphic>
          <a:graphicData uri="http://schemas.openxmlformats.org/presentationml/2006/ole">
            <mc:AlternateContent xmlns:mc="http://schemas.openxmlformats.org/markup-compatibility/2006">
              <mc:Choice xmlns:v="urn:schemas-microsoft-com:vml" Requires="v">
                <p:oleObj name="think-cell Slide" r:id="rId9" imgW="360" imgH="360" progId="TCLayout.ActiveDocument.1">
                  <p:embed/>
                </p:oleObj>
              </mc:Choice>
              <mc:Fallback>
                <p:oleObj name="think-cell Slide" r:id="rId9" imgW="360" imgH="360" progId="TCLayout.ActiveDocument.1">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17" y="2118"/>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 name="Rectangle 3"/>
          <p:cNvSpPr>
            <a:spLocks noGrp="1" noChangeArrowheads="1"/>
          </p:cNvSpPr>
          <p:nvPr>
            <p:ph type="body" idx="1"/>
          </p:nvPr>
        </p:nvSpPr>
        <p:spPr bwMode="auto">
          <a:xfrm>
            <a:off x="1102785" y="1500717"/>
            <a:ext cx="9368367" cy="5791200"/>
          </a:xfrm>
          <a:prstGeom prst="rect">
            <a:avLst/>
          </a:prstGeom>
          <a:noFill/>
          <a:ln w="9525" algn="ctr">
            <a:noFill/>
            <a:miter lim="800000"/>
            <a:headEnd/>
            <a:tailEnd/>
          </a:ln>
        </p:spPr>
        <p:txBody>
          <a:bodyPr vert="horz" wrap="square" lIns="91377" tIns="45692" rIns="91377" bIns="45692" numCol="1" anchor="t" anchorCtr="0" compatLnSpc="1">
            <a:prstTxWarp prst="textNoShape">
              <a:avLst/>
            </a:prstTxWarp>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030" name="Rectangle 6"/>
          <p:cNvSpPr>
            <a:spLocks noGrp="1" noChangeArrowheads="1"/>
          </p:cNvSpPr>
          <p:nvPr>
            <p:ph type="sldNum" sz="quarter" idx="4"/>
          </p:nvPr>
        </p:nvSpPr>
        <p:spPr bwMode="auto">
          <a:xfrm>
            <a:off x="8797552" y="8631767"/>
            <a:ext cx="3056467" cy="35771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333">
                <a:solidFill>
                  <a:srgbClr val="808080"/>
                </a:solidFill>
                <a:latin typeface="Arial" pitchFamily="34" charset="0"/>
                <a:cs typeface="+mn-cs"/>
              </a:defRPr>
            </a:lvl1pPr>
          </a:lstStyle>
          <a:p>
            <a:pPr defTabSz="1219170" fontAlgn="base">
              <a:spcBef>
                <a:spcPct val="0"/>
              </a:spcBef>
              <a:spcAft>
                <a:spcPct val="0"/>
              </a:spcAft>
              <a:defRPr/>
            </a:pPr>
            <a:fld id="{65E7AF01-549A-4BA4-9EEF-2E8FB3F7BEDC}" type="slidenum">
              <a:rPr lang="en-US" smtClean="0"/>
              <a:pPr defTabSz="1219170" fontAlgn="base">
                <a:spcBef>
                  <a:spcPct val="0"/>
                </a:spcBef>
                <a:spcAft>
                  <a:spcPct val="0"/>
                </a:spcAft>
                <a:defRPr/>
              </a:pPr>
              <a:t>‹#›</a:t>
            </a:fld>
            <a:endParaRPr lang="en-US" dirty="0"/>
          </a:p>
        </p:txBody>
      </p:sp>
      <p:sp>
        <p:nvSpPr>
          <p:cNvPr id="1028" name="Rectangle 7"/>
          <p:cNvSpPr>
            <a:spLocks noChangeArrowheads="1"/>
          </p:cNvSpPr>
          <p:nvPr/>
        </p:nvSpPr>
        <p:spPr bwMode="auto">
          <a:xfrm>
            <a:off x="337982" y="446616"/>
            <a:ext cx="10136404" cy="670984"/>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FFFFFF"/>
              </a:solidFill>
              <a:cs typeface="Arial" charset="0"/>
            </a:endParaRPr>
          </a:p>
        </p:txBody>
      </p:sp>
      <p:sp>
        <p:nvSpPr>
          <p:cNvPr id="1029" name="Rectangle 2"/>
          <p:cNvSpPr>
            <a:spLocks noGrp="1" noChangeArrowheads="1"/>
          </p:cNvSpPr>
          <p:nvPr>
            <p:ph type="title"/>
          </p:nvPr>
        </p:nvSpPr>
        <p:spPr bwMode="auto">
          <a:xfrm>
            <a:off x="502029" y="527051"/>
            <a:ext cx="9849671"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err="1"/>
              <a:t>Cliquez</a:t>
            </a:r>
            <a:r>
              <a:rPr lang="en-US" dirty="0"/>
              <a:t> et </a:t>
            </a:r>
            <a:r>
              <a:rPr lang="en-US" dirty="0" err="1"/>
              <a:t>modifiez</a:t>
            </a:r>
            <a:r>
              <a:rPr lang="en-US" dirty="0"/>
              <a:t> le </a:t>
            </a:r>
            <a:r>
              <a:rPr lang="en-US" dirty="0" err="1"/>
              <a:t>titre</a:t>
            </a:r>
            <a:endParaRPr lang="en-US" dirty="0"/>
          </a:p>
        </p:txBody>
      </p:sp>
      <p:sp>
        <p:nvSpPr>
          <p:cNvPr id="1031" name="Line 13"/>
          <p:cNvSpPr>
            <a:spLocks noChangeShapeType="1"/>
          </p:cNvSpPr>
          <p:nvPr/>
        </p:nvSpPr>
        <p:spPr bwMode="auto">
          <a:xfrm flipH="1">
            <a:off x="337982" y="8631767"/>
            <a:ext cx="11516037" cy="0"/>
          </a:xfrm>
          <a:prstGeom prst="line">
            <a:avLst/>
          </a:prstGeom>
          <a:noFill/>
          <a:ln w="9525">
            <a:solidFill>
              <a:srgbClr val="808080"/>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1033" name="Espace réservé du pied de page 3"/>
          <p:cNvSpPr txBox="1">
            <a:spLocks noGrp="1"/>
          </p:cNvSpPr>
          <p:nvPr/>
        </p:nvSpPr>
        <p:spPr bwMode="auto">
          <a:xfrm>
            <a:off x="4165600" y="8809567"/>
            <a:ext cx="3862917" cy="296333"/>
          </a:xfrm>
          <a:prstGeom prst="rect">
            <a:avLst/>
          </a:prstGeom>
          <a:noFill/>
          <a:ln>
            <a:noFill/>
          </a:ln>
        </p:spPr>
        <p:txBody>
          <a:bodyPr lIns="0" tIns="0" rIns="0" bIns="0" anchor="b"/>
          <a:lstStyle>
            <a:lvl1pPr algn="l" defTabSz="844550">
              <a:defRPr sz="2400">
                <a:solidFill>
                  <a:schemeClr val="tx1"/>
                </a:solidFill>
                <a:latin typeface="Arial" pitchFamily="34" charset="0"/>
              </a:defRPr>
            </a:lvl1pPr>
            <a:lvl2pPr marL="742950" indent="-285750" algn="l" defTabSz="844550">
              <a:defRPr sz="2400">
                <a:solidFill>
                  <a:schemeClr val="tx1"/>
                </a:solidFill>
                <a:latin typeface="Arial" pitchFamily="34" charset="0"/>
              </a:defRPr>
            </a:lvl2pPr>
            <a:lvl3pPr marL="1143000" indent="-228600" algn="l" defTabSz="844550">
              <a:defRPr sz="2400">
                <a:solidFill>
                  <a:schemeClr val="tx1"/>
                </a:solidFill>
                <a:latin typeface="Arial" pitchFamily="34" charset="0"/>
              </a:defRPr>
            </a:lvl3pPr>
            <a:lvl4pPr marL="1600200" indent="-228600" algn="l" defTabSz="844550">
              <a:defRPr sz="2400">
                <a:solidFill>
                  <a:schemeClr val="tx1"/>
                </a:solidFill>
                <a:latin typeface="Arial" pitchFamily="34" charset="0"/>
              </a:defRPr>
            </a:lvl4pPr>
            <a:lvl5pPr marL="2057400" indent="-228600" algn="l" defTabSz="844550">
              <a:defRPr sz="2400">
                <a:solidFill>
                  <a:schemeClr val="tx1"/>
                </a:solidFill>
                <a:latin typeface="Arial" pitchFamily="34" charset="0"/>
              </a:defRPr>
            </a:lvl5pPr>
            <a:lvl6pPr marL="2514600" indent="-228600" defTabSz="844550" eaLnBrk="0" fontAlgn="base" hangingPunct="0">
              <a:spcBef>
                <a:spcPct val="0"/>
              </a:spcBef>
              <a:spcAft>
                <a:spcPct val="0"/>
              </a:spcAft>
              <a:defRPr sz="2400">
                <a:solidFill>
                  <a:schemeClr val="tx1"/>
                </a:solidFill>
                <a:latin typeface="Arial" pitchFamily="34" charset="0"/>
              </a:defRPr>
            </a:lvl6pPr>
            <a:lvl7pPr marL="2971800" indent="-228600" defTabSz="844550" eaLnBrk="0" fontAlgn="base" hangingPunct="0">
              <a:spcBef>
                <a:spcPct val="0"/>
              </a:spcBef>
              <a:spcAft>
                <a:spcPct val="0"/>
              </a:spcAft>
              <a:defRPr sz="2400">
                <a:solidFill>
                  <a:schemeClr val="tx1"/>
                </a:solidFill>
                <a:latin typeface="Arial" pitchFamily="34" charset="0"/>
              </a:defRPr>
            </a:lvl7pPr>
            <a:lvl8pPr marL="3429000" indent="-228600" defTabSz="844550" eaLnBrk="0" fontAlgn="base" hangingPunct="0">
              <a:spcBef>
                <a:spcPct val="0"/>
              </a:spcBef>
              <a:spcAft>
                <a:spcPct val="0"/>
              </a:spcAft>
              <a:defRPr sz="2400">
                <a:solidFill>
                  <a:schemeClr val="tx1"/>
                </a:solidFill>
                <a:latin typeface="Arial" pitchFamily="34" charset="0"/>
              </a:defRPr>
            </a:lvl8pPr>
            <a:lvl9pPr marL="3886200" indent="-228600" defTabSz="844550" eaLnBrk="0" fontAlgn="base" hangingPunct="0">
              <a:spcBef>
                <a:spcPct val="0"/>
              </a:spcBef>
              <a:spcAft>
                <a:spcPct val="0"/>
              </a:spcAft>
              <a:defRPr sz="2400">
                <a:solidFill>
                  <a:schemeClr val="tx1"/>
                </a:solidFill>
                <a:latin typeface="Arial" pitchFamily="34" charset="0"/>
              </a:defRPr>
            </a:lvl9pPr>
          </a:lstStyle>
          <a:p>
            <a:pPr algn="ctr" fontAlgn="base">
              <a:spcBef>
                <a:spcPct val="0"/>
              </a:spcBef>
              <a:spcAft>
                <a:spcPct val="0"/>
              </a:spcAft>
              <a:defRPr/>
            </a:pPr>
            <a:r>
              <a:rPr lang="en-US" sz="1067" dirty="0">
                <a:solidFill>
                  <a:srgbClr val="000000"/>
                </a:solidFill>
                <a:cs typeface="Arial" charset="0"/>
              </a:rPr>
              <a:t>Confidential</a:t>
            </a:r>
          </a:p>
        </p:txBody>
      </p:sp>
      <p:pic>
        <p:nvPicPr>
          <p:cNvPr id="11" name="Picture 2" descr="http://www.jobdst.com/components/com_enterprise/images/1733/logo.png"/>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512158" y="444200"/>
            <a:ext cx="1463116" cy="673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272361"/>
      </p:ext>
    </p:extLst>
  </p:cSld>
  <p:clrMap bg1="lt1" tx1="dk1" bg2="lt2" tx2="dk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Lst>
  <p:hf hdr="0" ftr="0"/>
  <p:txStyles>
    <p:titleStyle>
      <a:lvl1pPr algn="l" rtl="0" eaLnBrk="1" fontAlgn="base" hangingPunct="1">
        <a:spcBef>
          <a:spcPct val="0"/>
        </a:spcBef>
        <a:spcAft>
          <a:spcPct val="0"/>
        </a:spcAft>
        <a:defRPr sz="2133" b="1">
          <a:solidFill>
            <a:schemeClr val="bg1"/>
          </a:solidFill>
          <a:latin typeface="+mj-lt"/>
          <a:ea typeface="+mj-ea"/>
          <a:cs typeface="+mj-cs"/>
        </a:defRPr>
      </a:lvl1pPr>
      <a:lvl2pPr algn="l" rtl="0" eaLnBrk="1" fontAlgn="base" hangingPunct="1">
        <a:spcBef>
          <a:spcPct val="0"/>
        </a:spcBef>
        <a:spcAft>
          <a:spcPct val="0"/>
        </a:spcAft>
        <a:defRPr sz="2133" b="1">
          <a:solidFill>
            <a:schemeClr val="bg1"/>
          </a:solidFill>
          <a:latin typeface="Arial" pitchFamily="34" charset="0"/>
        </a:defRPr>
      </a:lvl2pPr>
      <a:lvl3pPr algn="l" rtl="0" eaLnBrk="1" fontAlgn="base" hangingPunct="1">
        <a:spcBef>
          <a:spcPct val="0"/>
        </a:spcBef>
        <a:spcAft>
          <a:spcPct val="0"/>
        </a:spcAft>
        <a:defRPr sz="2133" b="1">
          <a:solidFill>
            <a:schemeClr val="bg1"/>
          </a:solidFill>
          <a:latin typeface="Arial" pitchFamily="34" charset="0"/>
        </a:defRPr>
      </a:lvl3pPr>
      <a:lvl4pPr algn="l" rtl="0" eaLnBrk="1" fontAlgn="base" hangingPunct="1">
        <a:spcBef>
          <a:spcPct val="0"/>
        </a:spcBef>
        <a:spcAft>
          <a:spcPct val="0"/>
        </a:spcAft>
        <a:defRPr sz="2133" b="1">
          <a:solidFill>
            <a:schemeClr val="bg1"/>
          </a:solidFill>
          <a:latin typeface="Arial" pitchFamily="34" charset="0"/>
        </a:defRPr>
      </a:lvl4pPr>
      <a:lvl5pPr algn="l" rtl="0" eaLnBrk="1" fontAlgn="base" hangingPunct="1">
        <a:spcBef>
          <a:spcPct val="0"/>
        </a:spcBef>
        <a:spcAft>
          <a:spcPct val="0"/>
        </a:spcAft>
        <a:defRPr sz="2133" b="1">
          <a:solidFill>
            <a:schemeClr val="bg1"/>
          </a:solidFill>
          <a:latin typeface="Arial" pitchFamily="34" charset="0"/>
        </a:defRPr>
      </a:lvl5pPr>
      <a:lvl6pPr marL="609585" algn="l" rtl="0" eaLnBrk="1" fontAlgn="base" hangingPunct="1">
        <a:spcBef>
          <a:spcPct val="0"/>
        </a:spcBef>
        <a:spcAft>
          <a:spcPct val="0"/>
        </a:spcAft>
        <a:defRPr sz="2133" b="1">
          <a:solidFill>
            <a:schemeClr val="bg1"/>
          </a:solidFill>
          <a:latin typeface="Arial" pitchFamily="34" charset="0"/>
        </a:defRPr>
      </a:lvl6pPr>
      <a:lvl7pPr marL="1219170" algn="l" rtl="0" eaLnBrk="1" fontAlgn="base" hangingPunct="1">
        <a:spcBef>
          <a:spcPct val="0"/>
        </a:spcBef>
        <a:spcAft>
          <a:spcPct val="0"/>
        </a:spcAft>
        <a:defRPr sz="2133" b="1">
          <a:solidFill>
            <a:schemeClr val="bg1"/>
          </a:solidFill>
          <a:latin typeface="Arial" pitchFamily="34" charset="0"/>
        </a:defRPr>
      </a:lvl7pPr>
      <a:lvl8pPr marL="1828754" algn="l" rtl="0" eaLnBrk="1" fontAlgn="base" hangingPunct="1">
        <a:spcBef>
          <a:spcPct val="0"/>
        </a:spcBef>
        <a:spcAft>
          <a:spcPct val="0"/>
        </a:spcAft>
        <a:defRPr sz="2133" b="1">
          <a:solidFill>
            <a:schemeClr val="bg1"/>
          </a:solidFill>
          <a:latin typeface="Arial" pitchFamily="34" charset="0"/>
        </a:defRPr>
      </a:lvl8pPr>
      <a:lvl9pPr marL="2438339" algn="l" rtl="0" eaLnBrk="1" fontAlgn="base" hangingPunct="1">
        <a:spcBef>
          <a:spcPct val="0"/>
        </a:spcBef>
        <a:spcAft>
          <a:spcPct val="0"/>
        </a:spcAft>
        <a:defRPr sz="2133" b="1">
          <a:solidFill>
            <a:schemeClr val="bg1"/>
          </a:solidFill>
          <a:latin typeface="Arial" pitchFamily="34" charset="0"/>
        </a:defRPr>
      </a:lvl9pPr>
    </p:titleStyle>
    <p:bodyStyle>
      <a:lvl1pPr marL="234945" indent="-234945" algn="l" rtl="0" eaLnBrk="1" fontAlgn="base" hangingPunct="1">
        <a:spcBef>
          <a:spcPct val="20000"/>
        </a:spcBef>
        <a:spcAft>
          <a:spcPct val="0"/>
        </a:spcAft>
        <a:buSzPct val="100000"/>
        <a:buBlip>
          <a:blip r:embed="rId12"/>
        </a:buBlip>
        <a:defRPr sz="1867" b="1">
          <a:solidFill>
            <a:srgbClr val="808080"/>
          </a:solidFill>
          <a:latin typeface="+mn-lt"/>
          <a:ea typeface="+mn-ea"/>
          <a:cs typeface="+mn-cs"/>
        </a:defRPr>
      </a:lvl1pPr>
      <a:lvl2pPr marL="715415" indent="-241294" algn="l" rtl="0" eaLnBrk="1" fontAlgn="base" hangingPunct="1">
        <a:spcBef>
          <a:spcPct val="20000"/>
        </a:spcBef>
        <a:spcAft>
          <a:spcPct val="0"/>
        </a:spcAft>
        <a:buClr>
          <a:schemeClr val="accent2"/>
        </a:buClr>
        <a:buChar char="–"/>
        <a:defRPr sz="1867">
          <a:solidFill>
            <a:srgbClr val="000000"/>
          </a:solidFill>
          <a:latin typeface="+mn-lt"/>
        </a:defRPr>
      </a:lvl2pPr>
      <a:lvl3pPr marL="1644610" indent="-304792" algn="l" rtl="0" eaLnBrk="1" fontAlgn="base" hangingPunct="1">
        <a:spcBef>
          <a:spcPct val="20000"/>
        </a:spcBef>
        <a:spcAft>
          <a:spcPct val="0"/>
        </a:spcAft>
        <a:buClr>
          <a:schemeClr val="accent2"/>
        </a:buClr>
        <a:buChar char="•"/>
        <a:defRPr sz="1867">
          <a:solidFill>
            <a:srgbClr val="000000"/>
          </a:solidFill>
          <a:latin typeface="+mn-lt"/>
        </a:defRPr>
      </a:lvl3pPr>
      <a:lvl4pPr marL="2188579" indent="-304792" algn="l" rtl="0" eaLnBrk="1" fontAlgn="base" hangingPunct="1">
        <a:spcBef>
          <a:spcPct val="20000"/>
        </a:spcBef>
        <a:spcAft>
          <a:spcPct val="0"/>
        </a:spcAft>
        <a:buClr>
          <a:schemeClr val="accent2"/>
        </a:buClr>
        <a:buChar char="–"/>
        <a:defRPr sz="1867">
          <a:solidFill>
            <a:srgbClr val="000000"/>
          </a:solidFill>
          <a:latin typeface="+mn-lt"/>
        </a:defRPr>
      </a:lvl4pPr>
      <a:lvl5pPr marL="2732549" indent="-304792" algn="l" rtl="0" eaLnBrk="1" fontAlgn="base" hangingPunct="1">
        <a:spcBef>
          <a:spcPct val="20000"/>
        </a:spcBef>
        <a:spcAft>
          <a:spcPct val="0"/>
        </a:spcAft>
        <a:buClr>
          <a:schemeClr val="accent2"/>
        </a:buClr>
        <a:buChar char="–"/>
        <a:defRPr sz="1867">
          <a:solidFill>
            <a:srgbClr val="000000"/>
          </a:solidFill>
          <a:latin typeface="+mn-lt"/>
        </a:defRPr>
      </a:lvl5pPr>
      <a:lvl6pPr marL="3342134" indent="-304792" algn="l" rtl="0" eaLnBrk="1" fontAlgn="base" hangingPunct="1">
        <a:spcBef>
          <a:spcPct val="20000"/>
        </a:spcBef>
        <a:spcAft>
          <a:spcPct val="0"/>
        </a:spcAft>
        <a:buClr>
          <a:schemeClr val="accent2"/>
        </a:buClr>
        <a:buChar char="–"/>
        <a:defRPr sz="1333">
          <a:solidFill>
            <a:srgbClr val="000000"/>
          </a:solidFill>
          <a:latin typeface="+mn-lt"/>
        </a:defRPr>
      </a:lvl6pPr>
      <a:lvl7pPr marL="3951719" indent="-304792" algn="l" rtl="0" eaLnBrk="1" fontAlgn="base" hangingPunct="1">
        <a:spcBef>
          <a:spcPct val="20000"/>
        </a:spcBef>
        <a:spcAft>
          <a:spcPct val="0"/>
        </a:spcAft>
        <a:buClr>
          <a:schemeClr val="accent2"/>
        </a:buClr>
        <a:buChar char="–"/>
        <a:defRPr sz="1333">
          <a:solidFill>
            <a:srgbClr val="000000"/>
          </a:solidFill>
          <a:latin typeface="+mn-lt"/>
        </a:defRPr>
      </a:lvl7pPr>
      <a:lvl8pPr marL="4561303" indent="-304792" algn="l" rtl="0" eaLnBrk="1" fontAlgn="base" hangingPunct="1">
        <a:spcBef>
          <a:spcPct val="20000"/>
        </a:spcBef>
        <a:spcAft>
          <a:spcPct val="0"/>
        </a:spcAft>
        <a:buClr>
          <a:schemeClr val="accent2"/>
        </a:buClr>
        <a:buChar char="–"/>
        <a:defRPr sz="1333">
          <a:solidFill>
            <a:srgbClr val="000000"/>
          </a:solidFill>
          <a:latin typeface="+mn-lt"/>
        </a:defRPr>
      </a:lvl8pPr>
      <a:lvl9pPr marL="5170888" indent="-304792" algn="l" rtl="0" eaLnBrk="1" fontAlgn="base" hangingPunct="1">
        <a:spcBef>
          <a:spcPct val="20000"/>
        </a:spcBef>
        <a:spcAft>
          <a:spcPct val="0"/>
        </a:spcAft>
        <a:buClr>
          <a:schemeClr val="accent2"/>
        </a:buClr>
        <a:buChar char="–"/>
        <a:defRPr sz="1333">
          <a:solidFill>
            <a:srgbClr val="000000"/>
          </a:solidFill>
          <a:latin typeface="+mn-lt"/>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3" name="Object 12" hidden="1"/>
          <p:cNvGraphicFramePr>
            <a:graphicFrameLocks noChangeAspect="1"/>
          </p:cNvGraphicFramePr>
          <p:nvPr>
            <p:custDataLst>
              <p:tags r:id="rId9"/>
            </p:custDataLst>
          </p:nvPr>
        </p:nvGraphicFramePr>
        <p:xfrm>
          <a:off x="2117" y="2118"/>
          <a:ext cx="2116" cy="2116"/>
        </p:xfrm>
        <a:graphic>
          <a:graphicData uri="http://schemas.openxmlformats.org/presentationml/2006/ole">
            <mc:AlternateContent xmlns:mc="http://schemas.openxmlformats.org/markup-compatibility/2006">
              <mc:Choice xmlns:v="urn:schemas-microsoft-com:vml" Requires="v">
                <p:oleObj name="think-cell Slide" r:id="rId10" imgW="360" imgH="360" progId="TCLayout.ActiveDocument.1">
                  <p:embed/>
                </p:oleObj>
              </mc:Choice>
              <mc:Fallback>
                <p:oleObj name="think-cell Slide" r:id="rId10" imgW="360" imgH="360" progId="TCLayout.ActiveDocument.1">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17" y="2118"/>
                        <a:ext cx="2116"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6" name="Rectangle 3"/>
          <p:cNvSpPr>
            <a:spLocks noGrp="1" noChangeArrowheads="1"/>
          </p:cNvSpPr>
          <p:nvPr>
            <p:ph type="body" idx="1"/>
          </p:nvPr>
        </p:nvSpPr>
        <p:spPr bwMode="auto">
          <a:xfrm>
            <a:off x="1102785" y="1500717"/>
            <a:ext cx="9368367" cy="5791200"/>
          </a:xfrm>
          <a:prstGeom prst="rect">
            <a:avLst/>
          </a:prstGeom>
          <a:noFill/>
          <a:ln w="9525" algn="ctr">
            <a:noFill/>
            <a:miter lim="800000"/>
            <a:headEnd/>
            <a:tailEnd/>
          </a:ln>
        </p:spPr>
        <p:txBody>
          <a:bodyPr vert="horz" wrap="square" lIns="91377" tIns="45692" rIns="91377" bIns="45692" numCol="1" anchor="t" anchorCtr="0" compatLnSpc="1">
            <a:prstTxWarp prst="textNoShape">
              <a:avLst/>
            </a:prstTxWarp>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1030" name="Rectangle 6"/>
          <p:cNvSpPr>
            <a:spLocks noGrp="1" noChangeArrowheads="1"/>
          </p:cNvSpPr>
          <p:nvPr>
            <p:ph type="sldNum" sz="quarter" idx="4"/>
          </p:nvPr>
        </p:nvSpPr>
        <p:spPr bwMode="auto">
          <a:xfrm>
            <a:off x="8797552" y="8631767"/>
            <a:ext cx="3056467" cy="35771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333">
                <a:solidFill>
                  <a:srgbClr val="808080"/>
                </a:solidFill>
                <a:latin typeface="Arial" pitchFamily="34" charset="0"/>
                <a:cs typeface="+mn-cs"/>
              </a:defRPr>
            </a:lvl1pPr>
          </a:lstStyle>
          <a:p>
            <a:pPr defTabSz="1219170" fontAlgn="base">
              <a:spcBef>
                <a:spcPct val="0"/>
              </a:spcBef>
              <a:spcAft>
                <a:spcPct val="0"/>
              </a:spcAft>
              <a:defRPr/>
            </a:pPr>
            <a:fld id="{65E7AF01-549A-4BA4-9EEF-2E8FB3F7BEDC}" type="slidenum">
              <a:rPr lang="en-US" smtClean="0"/>
              <a:pPr defTabSz="1219170" fontAlgn="base">
                <a:spcBef>
                  <a:spcPct val="0"/>
                </a:spcBef>
                <a:spcAft>
                  <a:spcPct val="0"/>
                </a:spcAft>
                <a:defRPr/>
              </a:pPr>
              <a:t>‹#›</a:t>
            </a:fld>
            <a:endParaRPr lang="en-US" dirty="0"/>
          </a:p>
        </p:txBody>
      </p:sp>
      <p:sp>
        <p:nvSpPr>
          <p:cNvPr id="1028" name="Rectangle 7"/>
          <p:cNvSpPr>
            <a:spLocks noChangeArrowheads="1"/>
          </p:cNvSpPr>
          <p:nvPr/>
        </p:nvSpPr>
        <p:spPr bwMode="auto">
          <a:xfrm>
            <a:off x="337982" y="446616"/>
            <a:ext cx="9485071" cy="670984"/>
          </a:xfrm>
          <a:prstGeom prst="rect">
            <a:avLst/>
          </a:prstGeom>
          <a:solidFill>
            <a:schemeClr val="accent3"/>
          </a:solidFill>
          <a:ln w="9525">
            <a:noFill/>
            <a:miter lim="800000"/>
            <a:headEnd/>
            <a:tailEnd/>
          </a:ln>
        </p:spPr>
        <p:txBody>
          <a:bodyPr wrap="none" anchor="ctr"/>
          <a:lstStyle/>
          <a:p>
            <a:pPr defTabSz="1219170" eaLnBrk="0" fontAlgn="base" hangingPunct="0">
              <a:spcBef>
                <a:spcPct val="0"/>
              </a:spcBef>
              <a:spcAft>
                <a:spcPct val="0"/>
              </a:spcAft>
              <a:defRPr/>
            </a:pPr>
            <a:endParaRPr lang="en-US" sz="3200">
              <a:solidFill>
                <a:srgbClr val="FFFFFF"/>
              </a:solidFill>
              <a:cs typeface="Arial" charset="0"/>
            </a:endParaRPr>
          </a:p>
        </p:txBody>
      </p:sp>
      <p:sp>
        <p:nvSpPr>
          <p:cNvPr id="1029" name="Rectangle 2"/>
          <p:cNvSpPr>
            <a:spLocks noGrp="1" noChangeArrowheads="1"/>
          </p:cNvSpPr>
          <p:nvPr>
            <p:ph type="title"/>
          </p:nvPr>
        </p:nvSpPr>
        <p:spPr bwMode="auto">
          <a:xfrm>
            <a:off x="502028" y="527051"/>
            <a:ext cx="9163224" cy="508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err="1"/>
              <a:t>Cliquez</a:t>
            </a:r>
            <a:r>
              <a:rPr lang="en-US" dirty="0"/>
              <a:t> et </a:t>
            </a:r>
            <a:r>
              <a:rPr lang="en-US" dirty="0" err="1"/>
              <a:t>modifiez</a:t>
            </a:r>
            <a:r>
              <a:rPr lang="en-US" dirty="0"/>
              <a:t> le </a:t>
            </a:r>
            <a:r>
              <a:rPr lang="en-US" dirty="0" err="1"/>
              <a:t>titre</a:t>
            </a:r>
            <a:endParaRPr lang="en-US" dirty="0"/>
          </a:p>
        </p:txBody>
      </p:sp>
      <p:sp>
        <p:nvSpPr>
          <p:cNvPr id="1031" name="Line 13"/>
          <p:cNvSpPr>
            <a:spLocks noChangeShapeType="1"/>
          </p:cNvSpPr>
          <p:nvPr/>
        </p:nvSpPr>
        <p:spPr bwMode="auto">
          <a:xfrm flipH="1">
            <a:off x="337982" y="8631767"/>
            <a:ext cx="11516037" cy="0"/>
          </a:xfrm>
          <a:prstGeom prst="line">
            <a:avLst/>
          </a:prstGeom>
          <a:noFill/>
          <a:ln w="9525">
            <a:solidFill>
              <a:srgbClr val="808080"/>
            </a:solidFill>
            <a:round/>
            <a:headEnd/>
            <a:tailEnd/>
          </a:ln>
        </p:spPr>
        <p:txBody>
          <a:bodyPr wrap="none" anchor="ctr"/>
          <a:lstStyle/>
          <a:p>
            <a:pPr algn="ctr" defTabSz="1219170" eaLnBrk="0" fontAlgn="base" hangingPunct="0">
              <a:spcBef>
                <a:spcPct val="0"/>
              </a:spcBef>
              <a:spcAft>
                <a:spcPct val="0"/>
              </a:spcAft>
              <a:defRPr/>
            </a:pPr>
            <a:endParaRPr lang="fr-FR" sz="3200">
              <a:solidFill>
                <a:srgbClr val="000000"/>
              </a:solidFill>
              <a:cs typeface="Arial" charset="0"/>
            </a:endParaRPr>
          </a:p>
        </p:txBody>
      </p:sp>
      <p:sp>
        <p:nvSpPr>
          <p:cNvPr id="1033" name="Espace réservé du pied de page 3"/>
          <p:cNvSpPr txBox="1">
            <a:spLocks noGrp="1"/>
          </p:cNvSpPr>
          <p:nvPr/>
        </p:nvSpPr>
        <p:spPr bwMode="auto">
          <a:xfrm>
            <a:off x="4165600" y="8809567"/>
            <a:ext cx="3862917" cy="296333"/>
          </a:xfrm>
          <a:prstGeom prst="rect">
            <a:avLst/>
          </a:prstGeom>
          <a:noFill/>
          <a:ln>
            <a:noFill/>
          </a:ln>
        </p:spPr>
        <p:txBody>
          <a:bodyPr lIns="0" tIns="0" rIns="0" bIns="0" anchor="b"/>
          <a:lstStyle>
            <a:lvl1pPr algn="l" defTabSz="844550">
              <a:defRPr sz="2400">
                <a:solidFill>
                  <a:schemeClr val="tx1"/>
                </a:solidFill>
                <a:latin typeface="Arial" pitchFamily="34" charset="0"/>
              </a:defRPr>
            </a:lvl1pPr>
            <a:lvl2pPr marL="742950" indent="-285750" algn="l" defTabSz="844550">
              <a:defRPr sz="2400">
                <a:solidFill>
                  <a:schemeClr val="tx1"/>
                </a:solidFill>
                <a:latin typeface="Arial" pitchFamily="34" charset="0"/>
              </a:defRPr>
            </a:lvl2pPr>
            <a:lvl3pPr marL="1143000" indent="-228600" algn="l" defTabSz="844550">
              <a:defRPr sz="2400">
                <a:solidFill>
                  <a:schemeClr val="tx1"/>
                </a:solidFill>
                <a:latin typeface="Arial" pitchFamily="34" charset="0"/>
              </a:defRPr>
            </a:lvl3pPr>
            <a:lvl4pPr marL="1600200" indent="-228600" algn="l" defTabSz="844550">
              <a:defRPr sz="2400">
                <a:solidFill>
                  <a:schemeClr val="tx1"/>
                </a:solidFill>
                <a:latin typeface="Arial" pitchFamily="34" charset="0"/>
              </a:defRPr>
            </a:lvl4pPr>
            <a:lvl5pPr marL="2057400" indent="-228600" algn="l" defTabSz="844550">
              <a:defRPr sz="2400">
                <a:solidFill>
                  <a:schemeClr val="tx1"/>
                </a:solidFill>
                <a:latin typeface="Arial" pitchFamily="34" charset="0"/>
              </a:defRPr>
            </a:lvl5pPr>
            <a:lvl6pPr marL="2514600" indent="-228600" defTabSz="844550" eaLnBrk="0" fontAlgn="base" hangingPunct="0">
              <a:spcBef>
                <a:spcPct val="0"/>
              </a:spcBef>
              <a:spcAft>
                <a:spcPct val="0"/>
              </a:spcAft>
              <a:defRPr sz="2400">
                <a:solidFill>
                  <a:schemeClr val="tx1"/>
                </a:solidFill>
                <a:latin typeface="Arial" pitchFamily="34" charset="0"/>
              </a:defRPr>
            </a:lvl6pPr>
            <a:lvl7pPr marL="2971800" indent="-228600" defTabSz="844550" eaLnBrk="0" fontAlgn="base" hangingPunct="0">
              <a:spcBef>
                <a:spcPct val="0"/>
              </a:spcBef>
              <a:spcAft>
                <a:spcPct val="0"/>
              </a:spcAft>
              <a:defRPr sz="2400">
                <a:solidFill>
                  <a:schemeClr val="tx1"/>
                </a:solidFill>
                <a:latin typeface="Arial" pitchFamily="34" charset="0"/>
              </a:defRPr>
            </a:lvl7pPr>
            <a:lvl8pPr marL="3429000" indent="-228600" defTabSz="844550" eaLnBrk="0" fontAlgn="base" hangingPunct="0">
              <a:spcBef>
                <a:spcPct val="0"/>
              </a:spcBef>
              <a:spcAft>
                <a:spcPct val="0"/>
              </a:spcAft>
              <a:defRPr sz="2400">
                <a:solidFill>
                  <a:schemeClr val="tx1"/>
                </a:solidFill>
                <a:latin typeface="Arial" pitchFamily="34" charset="0"/>
              </a:defRPr>
            </a:lvl8pPr>
            <a:lvl9pPr marL="3886200" indent="-228600" defTabSz="844550" eaLnBrk="0" fontAlgn="base" hangingPunct="0">
              <a:spcBef>
                <a:spcPct val="0"/>
              </a:spcBef>
              <a:spcAft>
                <a:spcPct val="0"/>
              </a:spcAft>
              <a:defRPr sz="2400">
                <a:solidFill>
                  <a:schemeClr val="tx1"/>
                </a:solidFill>
                <a:latin typeface="Arial" pitchFamily="34" charset="0"/>
              </a:defRPr>
            </a:lvl9pPr>
          </a:lstStyle>
          <a:p>
            <a:pPr algn="ctr" fontAlgn="base">
              <a:spcBef>
                <a:spcPct val="0"/>
              </a:spcBef>
              <a:spcAft>
                <a:spcPct val="0"/>
              </a:spcAft>
              <a:defRPr/>
            </a:pPr>
            <a:r>
              <a:rPr lang="en-US" sz="1067" dirty="0">
                <a:solidFill>
                  <a:srgbClr val="000000"/>
                </a:solidFill>
                <a:cs typeface="Arial" charset="0"/>
              </a:rPr>
              <a:t>Confidential</a:t>
            </a:r>
          </a:p>
        </p:txBody>
      </p:sp>
      <p:pic>
        <p:nvPicPr>
          <p:cNvPr id="11" name="Picture 2" descr="http://www.jobdst.com/components/com_enterprise/images/1733/logo.png"/>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9823054" y="444200"/>
            <a:ext cx="1463116" cy="67340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logo.jpg"/>
          <p:cNvPicPr/>
          <p:nvPr userDrawn="1"/>
        </p:nvPicPr>
        <p:blipFill>
          <a:blip r:embed="rId13" cstate="print"/>
          <a:stretch>
            <a:fillRect/>
          </a:stretch>
        </p:blipFill>
        <p:spPr>
          <a:xfrm>
            <a:off x="11389515" y="444500"/>
            <a:ext cx="464504" cy="670984"/>
          </a:xfrm>
          <a:prstGeom prst="rect">
            <a:avLst/>
          </a:prstGeom>
        </p:spPr>
      </p:pic>
    </p:spTree>
    <p:extLst>
      <p:ext uri="{BB962C8B-B14F-4D97-AF65-F5344CB8AC3E}">
        <p14:creationId xmlns:p14="http://schemas.microsoft.com/office/powerpoint/2010/main" val="1350523019"/>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Lst>
  <p:hf hdr="0" ftr="0"/>
  <p:txStyles>
    <p:titleStyle>
      <a:lvl1pPr algn="l" rtl="0" eaLnBrk="1" fontAlgn="base" hangingPunct="1">
        <a:spcBef>
          <a:spcPct val="0"/>
        </a:spcBef>
        <a:spcAft>
          <a:spcPct val="0"/>
        </a:spcAft>
        <a:defRPr sz="2133" b="1">
          <a:solidFill>
            <a:schemeClr val="bg1"/>
          </a:solidFill>
          <a:latin typeface="+mj-lt"/>
          <a:ea typeface="+mj-ea"/>
          <a:cs typeface="+mj-cs"/>
        </a:defRPr>
      </a:lvl1pPr>
      <a:lvl2pPr algn="l" rtl="0" eaLnBrk="1" fontAlgn="base" hangingPunct="1">
        <a:spcBef>
          <a:spcPct val="0"/>
        </a:spcBef>
        <a:spcAft>
          <a:spcPct val="0"/>
        </a:spcAft>
        <a:defRPr sz="2133" b="1">
          <a:solidFill>
            <a:schemeClr val="bg1"/>
          </a:solidFill>
          <a:latin typeface="Arial" pitchFamily="34" charset="0"/>
        </a:defRPr>
      </a:lvl2pPr>
      <a:lvl3pPr algn="l" rtl="0" eaLnBrk="1" fontAlgn="base" hangingPunct="1">
        <a:spcBef>
          <a:spcPct val="0"/>
        </a:spcBef>
        <a:spcAft>
          <a:spcPct val="0"/>
        </a:spcAft>
        <a:defRPr sz="2133" b="1">
          <a:solidFill>
            <a:schemeClr val="bg1"/>
          </a:solidFill>
          <a:latin typeface="Arial" pitchFamily="34" charset="0"/>
        </a:defRPr>
      </a:lvl3pPr>
      <a:lvl4pPr algn="l" rtl="0" eaLnBrk="1" fontAlgn="base" hangingPunct="1">
        <a:spcBef>
          <a:spcPct val="0"/>
        </a:spcBef>
        <a:spcAft>
          <a:spcPct val="0"/>
        </a:spcAft>
        <a:defRPr sz="2133" b="1">
          <a:solidFill>
            <a:schemeClr val="bg1"/>
          </a:solidFill>
          <a:latin typeface="Arial" pitchFamily="34" charset="0"/>
        </a:defRPr>
      </a:lvl4pPr>
      <a:lvl5pPr algn="l" rtl="0" eaLnBrk="1" fontAlgn="base" hangingPunct="1">
        <a:spcBef>
          <a:spcPct val="0"/>
        </a:spcBef>
        <a:spcAft>
          <a:spcPct val="0"/>
        </a:spcAft>
        <a:defRPr sz="2133" b="1">
          <a:solidFill>
            <a:schemeClr val="bg1"/>
          </a:solidFill>
          <a:latin typeface="Arial" pitchFamily="34" charset="0"/>
        </a:defRPr>
      </a:lvl5pPr>
      <a:lvl6pPr marL="609585" algn="l" rtl="0" eaLnBrk="1" fontAlgn="base" hangingPunct="1">
        <a:spcBef>
          <a:spcPct val="0"/>
        </a:spcBef>
        <a:spcAft>
          <a:spcPct val="0"/>
        </a:spcAft>
        <a:defRPr sz="2133" b="1">
          <a:solidFill>
            <a:schemeClr val="bg1"/>
          </a:solidFill>
          <a:latin typeface="Arial" pitchFamily="34" charset="0"/>
        </a:defRPr>
      </a:lvl6pPr>
      <a:lvl7pPr marL="1219170" algn="l" rtl="0" eaLnBrk="1" fontAlgn="base" hangingPunct="1">
        <a:spcBef>
          <a:spcPct val="0"/>
        </a:spcBef>
        <a:spcAft>
          <a:spcPct val="0"/>
        </a:spcAft>
        <a:defRPr sz="2133" b="1">
          <a:solidFill>
            <a:schemeClr val="bg1"/>
          </a:solidFill>
          <a:latin typeface="Arial" pitchFamily="34" charset="0"/>
        </a:defRPr>
      </a:lvl7pPr>
      <a:lvl8pPr marL="1828754" algn="l" rtl="0" eaLnBrk="1" fontAlgn="base" hangingPunct="1">
        <a:spcBef>
          <a:spcPct val="0"/>
        </a:spcBef>
        <a:spcAft>
          <a:spcPct val="0"/>
        </a:spcAft>
        <a:defRPr sz="2133" b="1">
          <a:solidFill>
            <a:schemeClr val="bg1"/>
          </a:solidFill>
          <a:latin typeface="Arial" pitchFamily="34" charset="0"/>
        </a:defRPr>
      </a:lvl8pPr>
      <a:lvl9pPr marL="2438339" algn="l" rtl="0" eaLnBrk="1" fontAlgn="base" hangingPunct="1">
        <a:spcBef>
          <a:spcPct val="0"/>
        </a:spcBef>
        <a:spcAft>
          <a:spcPct val="0"/>
        </a:spcAft>
        <a:defRPr sz="2133" b="1">
          <a:solidFill>
            <a:schemeClr val="bg1"/>
          </a:solidFill>
          <a:latin typeface="Arial" pitchFamily="34" charset="0"/>
        </a:defRPr>
      </a:lvl9pPr>
    </p:titleStyle>
    <p:bodyStyle>
      <a:lvl1pPr marL="234945" indent="-234945" algn="l" rtl="0" eaLnBrk="1" fontAlgn="base" hangingPunct="1">
        <a:spcBef>
          <a:spcPct val="20000"/>
        </a:spcBef>
        <a:spcAft>
          <a:spcPct val="0"/>
        </a:spcAft>
        <a:buSzPct val="100000"/>
        <a:buBlip>
          <a:blip r:embed="rId14"/>
        </a:buBlip>
        <a:defRPr sz="1867" b="1">
          <a:solidFill>
            <a:srgbClr val="808080"/>
          </a:solidFill>
          <a:latin typeface="+mn-lt"/>
          <a:ea typeface="+mn-ea"/>
          <a:cs typeface="+mn-cs"/>
        </a:defRPr>
      </a:lvl1pPr>
      <a:lvl2pPr marL="715415" indent="-241294" algn="l" rtl="0" eaLnBrk="1" fontAlgn="base" hangingPunct="1">
        <a:spcBef>
          <a:spcPct val="20000"/>
        </a:spcBef>
        <a:spcAft>
          <a:spcPct val="0"/>
        </a:spcAft>
        <a:buClr>
          <a:schemeClr val="accent2"/>
        </a:buClr>
        <a:buChar char="–"/>
        <a:defRPr sz="1867">
          <a:solidFill>
            <a:srgbClr val="000000"/>
          </a:solidFill>
          <a:latin typeface="+mn-lt"/>
        </a:defRPr>
      </a:lvl2pPr>
      <a:lvl3pPr marL="1644610" indent="-304792" algn="l" rtl="0" eaLnBrk="1" fontAlgn="base" hangingPunct="1">
        <a:spcBef>
          <a:spcPct val="20000"/>
        </a:spcBef>
        <a:spcAft>
          <a:spcPct val="0"/>
        </a:spcAft>
        <a:buClr>
          <a:schemeClr val="accent2"/>
        </a:buClr>
        <a:buChar char="•"/>
        <a:defRPr sz="1867">
          <a:solidFill>
            <a:srgbClr val="000000"/>
          </a:solidFill>
          <a:latin typeface="+mn-lt"/>
        </a:defRPr>
      </a:lvl3pPr>
      <a:lvl4pPr marL="2188579" indent="-304792" algn="l" rtl="0" eaLnBrk="1" fontAlgn="base" hangingPunct="1">
        <a:spcBef>
          <a:spcPct val="20000"/>
        </a:spcBef>
        <a:spcAft>
          <a:spcPct val="0"/>
        </a:spcAft>
        <a:buClr>
          <a:schemeClr val="accent2"/>
        </a:buClr>
        <a:buChar char="–"/>
        <a:defRPr sz="1867">
          <a:solidFill>
            <a:srgbClr val="000000"/>
          </a:solidFill>
          <a:latin typeface="+mn-lt"/>
        </a:defRPr>
      </a:lvl4pPr>
      <a:lvl5pPr marL="2732549" indent="-304792" algn="l" rtl="0" eaLnBrk="1" fontAlgn="base" hangingPunct="1">
        <a:spcBef>
          <a:spcPct val="20000"/>
        </a:spcBef>
        <a:spcAft>
          <a:spcPct val="0"/>
        </a:spcAft>
        <a:buClr>
          <a:schemeClr val="accent2"/>
        </a:buClr>
        <a:buChar char="–"/>
        <a:defRPr sz="1867">
          <a:solidFill>
            <a:srgbClr val="000000"/>
          </a:solidFill>
          <a:latin typeface="+mn-lt"/>
        </a:defRPr>
      </a:lvl5pPr>
      <a:lvl6pPr marL="3342134" indent="-304792" algn="l" rtl="0" eaLnBrk="1" fontAlgn="base" hangingPunct="1">
        <a:spcBef>
          <a:spcPct val="20000"/>
        </a:spcBef>
        <a:spcAft>
          <a:spcPct val="0"/>
        </a:spcAft>
        <a:buClr>
          <a:schemeClr val="accent2"/>
        </a:buClr>
        <a:buChar char="–"/>
        <a:defRPr sz="1333">
          <a:solidFill>
            <a:srgbClr val="000000"/>
          </a:solidFill>
          <a:latin typeface="+mn-lt"/>
        </a:defRPr>
      </a:lvl6pPr>
      <a:lvl7pPr marL="3951719" indent="-304792" algn="l" rtl="0" eaLnBrk="1" fontAlgn="base" hangingPunct="1">
        <a:spcBef>
          <a:spcPct val="20000"/>
        </a:spcBef>
        <a:spcAft>
          <a:spcPct val="0"/>
        </a:spcAft>
        <a:buClr>
          <a:schemeClr val="accent2"/>
        </a:buClr>
        <a:buChar char="–"/>
        <a:defRPr sz="1333">
          <a:solidFill>
            <a:srgbClr val="000000"/>
          </a:solidFill>
          <a:latin typeface="+mn-lt"/>
        </a:defRPr>
      </a:lvl7pPr>
      <a:lvl8pPr marL="4561303" indent="-304792" algn="l" rtl="0" eaLnBrk="1" fontAlgn="base" hangingPunct="1">
        <a:spcBef>
          <a:spcPct val="20000"/>
        </a:spcBef>
        <a:spcAft>
          <a:spcPct val="0"/>
        </a:spcAft>
        <a:buClr>
          <a:schemeClr val="accent2"/>
        </a:buClr>
        <a:buChar char="–"/>
        <a:defRPr sz="1333">
          <a:solidFill>
            <a:srgbClr val="000000"/>
          </a:solidFill>
          <a:latin typeface="+mn-lt"/>
        </a:defRPr>
      </a:lvl8pPr>
      <a:lvl9pPr marL="5170888" indent="-304792" algn="l" rtl="0" eaLnBrk="1" fontAlgn="base" hangingPunct="1">
        <a:spcBef>
          <a:spcPct val="20000"/>
        </a:spcBef>
        <a:spcAft>
          <a:spcPct val="0"/>
        </a:spcAft>
        <a:buClr>
          <a:schemeClr val="accent2"/>
        </a:buClr>
        <a:buChar char="–"/>
        <a:defRPr sz="1333">
          <a:solidFill>
            <a:srgbClr val="000000"/>
          </a:solidFill>
          <a:latin typeface="+mn-lt"/>
        </a:defRPr>
      </a:lvl9pPr>
    </p:bodyStyle>
    <p:other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2.xml"/><Relationship Id="rId7" Type="http://schemas.openxmlformats.org/officeDocument/2006/relationships/image" Target="../media/image24.png"/><Relationship Id="rId2" Type="http://schemas.openxmlformats.org/officeDocument/2006/relationships/slideLayout" Target="../slideLayouts/slideLayout25.xml"/><Relationship Id="rId1" Type="http://schemas.openxmlformats.org/officeDocument/2006/relationships/themeOverride" Target="../theme/themeOverride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jpg"/><Relationship Id="rId9" Type="http://schemas.openxmlformats.org/officeDocument/2006/relationships/image" Target="../media/image26.png"/></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3.xml"/><Relationship Id="rId7" Type="http://schemas.openxmlformats.org/officeDocument/2006/relationships/image" Target="../media/image25.png"/><Relationship Id="rId2" Type="http://schemas.openxmlformats.org/officeDocument/2006/relationships/slideLayout" Target="../slideLayouts/slideLayout25.xml"/><Relationship Id="rId1" Type="http://schemas.openxmlformats.org/officeDocument/2006/relationships/themeOverride" Target="../theme/themeOverride2.xml"/><Relationship Id="rId6" Type="http://schemas.openxmlformats.org/officeDocument/2006/relationships/image" Target="../media/image23.png"/><Relationship Id="rId11"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30.png"/><Relationship Id="rId4" Type="http://schemas.openxmlformats.org/officeDocument/2006/relationships/image" Target="../media/image21.jpg"/><Relationship Id="rId9"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jpeg"/><Relationship Id="rId18" Type="http://schemas.openxmlformats.org/officeDocument/2006/relationships/image" Target="../media/image41.png"/><Relationship Id="rId26" Type="http://schemas.openxmlformats.org/officeDocument/2006/relationships/image" Target="../media/image49.png"/><Relationship Id="rId3" Type="http://schemas.openxmlformats.org/officeDocument/2006/relationships/notesSlide" Target="../notesSlides/notesSlide4.xml"/><Relationship Id="rId21" Type="http://schemas.openxmlformats.org/officeDocument/2006/relationships/image" Target="../media/image44.png"/><Relationship Id="rId7" Type="http://schemas.openxmlformats.org/officeDocument/2006/relationships/image" Target="../media/image32.png"/><Relationship Id="rId12" Type="http://schemas.openxmlformats.org/officeDocument/2006/relationships/image" Target="../media/image37.jpeg"/><Relationship Id="rId17" Type="http://schemas.openxmlformats.org/officeDocument/2006/relationships/image" Target="../media/image40.png"/><Relationship Id="rId25" Type="http://schemas.openxmlformats.org/officeDocument/2006/relationships/image" Target="../media/image48.png"/><Relationship Id="rId2" Type="http://schemas.openxmlformats.org/officeDocument/2006/relationships/slideLayout" Target="../slideLayouts/slideLayout25.xml"/><Relationship Id="rId16" Type="http://schemas.openxmlformats.org/officeDocument/2006/relationships/image" Target="../media/image39.png"/><Relationship Id="rId20" Type="http://schemas.openxmlformats.org/officeDocument/2006/relationships/image" Target="../media/image43.png"/><Relationship Id="rId1" Type="http://schemas.openxmlformats.org/officeDocument/2006/relationships/themeOverride" Target="../theme/themeOverride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7.png"/><Relationship Id="rId5" Type="http://schemas.openxmlformats.org/officeDocument/2006/relationships/image" Target="../media/image22.png"/><Relationship Id="rId15" Type="http://schemas.openxmlformats.org/officeDocument/2006/relationships/image" Target="../media/image23.png"/><Relationship Id="rId23" Type="http://schemas.openxmlformats.org/officeDocument/2006/relationships/image" Target="../media/image46.png"/><Relationship Id="rId10" Type="http://schemas.openxmlformats.org/officeDocument/2006/relationships/image" Target="../media/image35.png"/><Relationship Id="rId19" Type="http://schemas.openxmlformats.org/officeDocument/2006/relationships/image" Target="../media/image42.png"/><Relationship Id="rId4" Type="http://schemas.openxmlformats.org/officeDocument/2006/relationships/image" Target="../media/image21.jpg"/><Relationship Id="rId9" Type="http://schemas.openxmlformats.org/officeDocument/2006/relationships/image" Target="../media/image34.jpeg"/><Relationship Id="rId14" Type="http://schemas.openxmlformats.org/officeDocument/2006/relationships/image" Target="cid:image004.jpg@01D3C518.5EEFFEF0" TargetMode="External"/><Relationship Id="rId22" Type="http://schemas.openxmlformats.org/officeDocument/2006/relationships/image" Target="../media/image45.png"/></Relationships>
</file>

<file path=ppt/slides/_rels/slide5.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notesSlide" Target="../notesSlides/notesSlide5.xml"/><Relationship Id="rId7" Type="http://schemas.openxmlformats.org/officeDocument/2006/relationships/image" Target="../media/image50.png"/><Relationship Id="rId2" Type="http://schemas.openxmlformats.org/officeDocument/2006/relationships/slideLayout" Target="../slideLayouts/slideLayout25.xml"/><Relationship Id="rId1" Type="http://schemas.openxmlformats.org/officeDocument/2006/relationships/themeOverride" Target="../theme/themeOverride4.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52.png"/><Relationship Id="rId4" Type="http://schemas.openxmlformats.org/officeDocument/2006/relationships/image" Target="../media/image21.jpg"/><Relationship Id="rId9" Type="http://schemas.openxmlformats.org/officeDocument/2006/relationships/image" Target="../media/image26.png"/></Relationships>
</file>

<file path=ppt/slides/_rels/slide6.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22.png"/><Relationship Id="rId3" Type="http://schemas.openxmlformats.org/officeDocument/2006/relationships/notesSlide" Target="../notesSlides/notesSlide6.xml"/><Relationship Id="rId7" Type="http://schemas.openxmlformats.org/officeDocument/2006/relationships/image" Target="../media/image55.png"/><Relationship Id="rId12" Type="http://schemas.openxmlformats.org/officeDocument/2006/relationships/image" Target="../media/image60.png"/><Relationship Id="rId17" Type="http://schemas.openxmlformats.org/officeDocument/2006/relationships/image" Target="../media/image61.png"/><Relationship Id="rId2" Type="http://schemas.openxmlformats.org/officeDocument/2006/relationships/slideLayout" Target="../slideLayouts/slideLayout25.xml"/><Relationship Id="rId16" Type="http://schemas.openxmlformats.org/officeDocument/2006/relationships/image" Target="../media/image27.png"/><Relationship Id="rId1" Type="http://schemas.openxmlformats.org/officeDocument/2006/relationships/themeOverride" Target="../theme/themeOverride5.xml"/><Relationship Id="rId6" Type="http://schemas.openxmlformats.org/officeDocument/2006/relationships/image" Target="../media/image54.png"/><Relationship Id="rId11" Type="http://schemas.openxmlformats.org/officeDocument/2006/relationships/image" Target="../media/image59.jpg"/><Relationship Id="rId5" Type="http://schemas.openxmlformats.org/officeDocument/2006/relationships/image" Target="../media/image53.png"/><Relationship Id="rId15" Type="http://schemas.openxmlformats.org/officeDocument/2006/relationships/image" Target="../media/image29.png"/><Relationship Id="rId10" Type="http://schemas.openxmlformats.org/officeDocument/2006/relationships/image" Target="../media/image58.png"/><Relationship Id="rId4" Type="http://schemas.openxmlformats.org/officeDocument/2006/relationships/image" Target="../media/image21.jpg"/><Relationship Id="rId9" Type="http://schemas.openxmlformats.org/officeDocument/2006/relationships/image" Target="../media/image57.pn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65.jpg"/><Relationship Id="rId13" Type="http://schemas.openxmlformats.org/officeDocument/2006/relationships/image" Target="../media/image70.jpg"/><Relationship Id="rId18" Type="http://schemas.openxmlformats.org/officeDocument/2006/relationships/image" Target="../media/image75.jpg"/><Relationship Id="rId3" Type="http://schemas.openxmlformats.org/officeDocument/2006/relationships/notesSlide" Target="../notesSlides/notesSlide7.xml"/><Relationship Id="rId21" Type="http://schemas.openxmlformats.org/officeDocument/2006/relationships/image" Target="../media/image78.jpg"/><Relationship Id="rId7" Type="http://schemas.openxmlformats.org/officeDocument/2006/relationships/image" Target="../media/image64.jpg"/><Relationship Id="rId12" Type="http://schemas.openxmlformats.org/officeDocument/2006/relationships/image" Target="../media/image69.jpg"/><Relationship Id="rId17" Type="http://schemas.openxmlformats.org/officeDocument/2006/relationships/image" Target="../media/image74.jpg"/><Relationship Id="rId2" Type="http://schemas.openxmlformats.org/officeDocument/2006/relationships/slideLayout" Target="../slideLayouts/slideLayout25.xml"/><Relationship Id="rId16" Type="http://schemas.openxmlformats.org/officeDocument/2006/relationships/image" Target="../media/image73.jpg"/><Relationship Id="rId20" Type="http://schemas.openxmlformats.org/officeDocument/2006/relationships/image" Target="../media/image77.jpg"/><Relationship Id="rId1" Type="http://schemas.openxmlformats.org/officeDocument/2006/relationships/themeOverride" Target="../theme/themeOverride6.xml"/><Relationship Id="rId6" Type="http://schemas.openxmlformats.org/officeDocument/2006/relationships/image" Target="../media/image63.jpg"/><Relationship Id="rId11" Type="http://schemas.openxmlformats.org/officeDocument/2006/relationships/image" Target="../media/image68.jpg"/><Relationship Id="rId24" Type="http://schemas.openxmlformats.org/officeDocument/2006/relationships/image" Target="../media/image23.png"/><Relationship Id="rId5" Type="http://schemas.openxmlformats.org/officeDocument/2006/relationships/image" Target="../media/image62.jpg"/><Relationship Id="rId15" Type="http://schemas.openxmlformats.org/officeDocument/2006/relationships/image" Target="../media/image72.jpg"/><Relationship Id="rId23" Type="http://schemas.openxmlformats.org/officeDocument/2006/relationships/image" Target="../media/image22.png"/><Relationship Id="rId10" Type="http://schemas.openxmlformats.org/officeDocument/2006/relationships/image" Target="../media/image67.jpg"/><Relationship Id="rId19" Type="http://schemas.openxmlformats.org/officeDocument/2006/relationships/image" Target="../media/image76.jpg"/><Relationship Id="rId4" Type="http://schemas.openxmlformats.org/officeDocument/2006/relationships/image" Target="../media/image21.jpg"/><Relationship Id="rId9" Type="http://schemas.openxmlformats.org/officeDocument/2006/relationships/image" Target="../media/image66.jpg"/><Relationship Id="rId14" Type="http://schemas.openxmlformats.org/officeDocument/2006/relationships/image" Target="../media/image71.jpg"/><Relationship Id="rId22" Type="http://schemas.openxmlformats.org/officeDocument/2006/relationships/image" Target="../media/image79.jpg"/></Relationships>
</file>

<file path=ppt/slides/_rels/slide8.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22.png"/><Relationship Id="rId3" Type="http://schemas.openxmlformats.org/officeDocument/2006/relationships/notesSlide" Target="../notesSlides/notesSlide8.xml"/><Relationship Id="rId7" Type="http://schemas.openxmlformats.org/officeDocument/2006/relationships/image" Target="../media/image82.png"/><Relationship Id="rId12" Type="http://schemas.openxmlformats.org/officeDocument/2006/relationships/image" Target="../media/image23.png"/><Relationship Id="rId2" Type="http://schemas.openxmlformats.org/officeDocument/2006/relationships/slideLayout" Target="../slideLayouts/slideLayout25.xml"/><Relationship Id="rId1" Type="http://schemas.openxmlformats.org/officeDocument/2006/relationships/themeOverride" Target="../theme/themeOverride7.xml"/><Relationship Id="rId6" Type="http://schemas.openxmlformats.org/officeDocument/2006/relationships/image" Target="../media/image81.png"/><Relationship Id="rId11" Type="http://schemas.openxmlformats.org/officeDocument/2006/relationships/image" Target="../media/image85.png"/><Relationship Id="rId5" Type="http://schemas.openxmlformats.org/officeDocument/2006/relationships/image" Target="../media/image80.png"/><Relationship Id="rId10" Type="http://schemas.openxmlformats.org/officeDocument/2006/relationships/image" Target="../media/image84.png"/><Relationship Id="rId4" Type="http://schemas.openxmlformats.org/officeDocument/2006/relationships/image" Target="../media/image21.jpg"/><Relationship Id="rId9" Type="http://schemas.microsoft.com/office/2007/relationships/hdphoto" Target="../media/hdphoto1.wdp"/></Relationships>
</file>

<file path=ppt/slides/_rels/slide9.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notesSlide" Target="../notesSlides/notesSlide9.xml"/><Relationship Id="rId7" Type="http://schemas.openxmlformats.org/officeDocument/2006/relationships/image" Target="../media/image86.png"/><Relationship Id="rId2" Type="http://schemas.openxmlformats.org/officeDocument/2006/relationships/slideLayout" Target="../slideLayouts/slideLayout25.xml"/><Relationship Id="rId1" Type="http://schemas.openxmlformats.org/officeDocument/2006/relationships/themeOverride" Target="../theme/themeOverride8.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88.png"/><Relationship Id="rId4" Type="http://schemas.openxmlformats.org/officeDocument/2006/relationships/image" Target="../media/image21.jpg"/><Relationship Id="rId9" Type="http://schemas.openxmlformats.org/officeDocument/2006/relationships/image" Target="../media/image51.pn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10.xml"/><Relationship Id="rId7" Type="http://schemas.openxmlformats.org/officeDocument/2006/relationships/image" Target="../media/image89.png"/><Relationship Id="rId2" Type="http://schemas.openxmlformats.org/officeDocument/2006/relationships/slideLayout" Target="../slideLayouts/slideLayout25.xml"/><Relationship Id="rId1" Type="http://schemas.openxmlformats.org/officeDocument/2006/relationships/themeOverride" Target="../theme/themeOverride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notesSlide" Target="../notesSlides/notesSlide11.xml"/><Relationship Id="rId7" Type="http://schemas.openxmlformats.org/officeDocument/2006/relationships/image" Target="../media/image90.png"/><Relationship Id="rId2" Type="http://schemas.openxmlformats.org/officeDocument/2006/relationships/slideLayout" Target="../slideLayouts/slideLayout25.xml"/><Relationship Id="rId1" Type="http://schemas.openxmlformats.org/officeDocument/2006/relationships/themeOverride" Target="../theme/themeOverride1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notesSlide" Target="../notesSlides/notesSlide12.xml"/><Relationship Id="rId7" Type="http://schemas.openxmlformats.org/officeDocument/2006/relationships/image" Target="../media/image86.png"/><Relationship Id="rId2" Type="http://schemas.openxmlformats.org/officeDocument/2006/relationships/slideLayout" Target="../slideLayouts/slideLayout25.xml"/><Relationship Id="rId1" Type="http://schemas.openxmlformats.org/officeDocument/2006/relationships/themeOverride" Target="../theme/themeOverride1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5.xml"/><Relationship Id="rId1" Type="http://schemas.openxmlformats.org/officeDocument/2006/relationships/themeOverride" Target="../theme/themeOverride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5.xml"/><Relationship Id="rId1" Type="http://schemas.openxmlformats.org/officeDocument/2006/relationships/themeOverride" Target="../theme/themeOverride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5.xml"/><Relationship Id="rId1" Type="http://schemas.openxmlformats.org/officeDocument/2006/relationships/themeOverride" Target="../theme/themeOverride1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5.xml"/><Relationship Id="rId1" Type="http://schemas.openxmlformats.org/officeDocument/2006/relationships/themeOverride" Target="../theme/themeOverride1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5.xml"/><Relationship Id="rId1" Type="http://schemas.openxmlformats.org/officeDocument/2006/relationships/themeOverride" Target="../theme/themeOverride1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5.xml"/><Relationship Id="rId1" Type="http://schemas.openxmlformats.org/officeDocument/2006/relationships/themeOverride" Target="../theme/themeOverride1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19.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notesSlide" Target="../notesSlides/notesSlide19.xml"/><Relationship Id="rId7" Type="http://schemas.openxmlformats.org/officeDocument/2006/relationships/image" Target="../media/image90.png"/><Relationship Id="rId2" Type="http://schemas.openxmlformats.org/officeDocument/2006/relationships/slideLayout" Target="../slideLayouts/slideLayout25.xml"/><Relationship Id="rId1" Type="http://schemas.openxmlformats.org/officeDocument/2006/relationships/themeOverride" Target="../theme/themeOverride18.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94.png"/><Relationship Id="rId4" Type="http://schemas.openxmlformats.org/officeDocument/2006/relationships/image" Target="../media/image21.jpg"/><Relationship Id="rId9" Type="http://schemas.openxmlformats.org/officeDocument/2006/relationships/image" Target="../media/image9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5.xml"/><Relationship Id="rId1" Type="http://schemas.openxmlformats.org/officeDocument/2006/relationships/themeOverride" Target="../theme/themeOverride1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5.xml"/><Relationship Id="rId1" Type="http://schemas.openxmlformats.org/officeDocument/2006/relationships/themeOverride" Target="../theme/themeOverride20.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22.xml"/><Relationship Id="rId7" Type="http://schemas.openxmlformats.org/officeDocument/2006/relationships/image" Target="../media/image95.png"/><Relationship Id="rId2" Type="http://schemas.openxmlformats.org/officeDocument/2006/relationships/slideLayout" Target="../slideLayouts/slideLayout25.xml"/><Relationship Id="rId1" Type="http://schemas.openxmlformats.org/officeDocument/2006/relationships/themeOverride" Target="../theme/themeOverride2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86.png"/><Relationship Id="rId4" Type="http://schemas.openxmlformats.org/officeDocument/2006/relationships/image" Target="../media/image21.jpg"/><Relationship Id="rId9" Type="http://schemas.openxmlformats.org/officeDocument/2006/relationships/image" Target="../media/image88.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5.xml"/><Relationship Id="rId1" Type="http://schemas.openxmlformats.org/officeDocument/2006/relationships/themeOverride" Target="../theme/themeOverride2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2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24.xml"/><Relationship Id="rId7" Type="http://schemas.openxmlformats.org/officeDocument/2006/relationships/image" Target="../media/image88.png"/><Relationship Id="rId2" Type="http://schemas.openxmlformats.org/officeDocument/2006/relationships/slideLayout" Target="../slideLayouts/slideLayout25.xml"/><Relationship Id="rId1" Type="http://schemas.openxmlformats.org/officeDocument/2006/relationships/themeOverride" Target="../theme/themeOverride23.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95.png"/><Relationship Id="rId4" Type="http://schemas.openxmlformats.org/officeDocument/2006/relationships/image" Target="../media/image21.jpg"/><Relationship Id="rId9" Type="http://schemas.openxmlformats.org/officeDocument/2006/relationships/image" Target="../media/image86.png"/></Relationships>
</file>

<file path=ppt/slides/_rels/slide2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25.xml"/><Relationship Id="rId7" Type="http://schemas.openxmlformats.org/officeDocument/2006/relationships/image" Target="../media/image61.png"/><Relationship Id="rId2" Type="http://schemas.openxmlformats.org/officeDocument/2006/relationships/slideLayout" Target="../slideLayouts/slideLayout25.xml"/><Relationship Id="rId1" Type="http://schemas.openxmlformats.org/officeDocument/2006/relationships/themeOverride" Target="../theme/themeOverride2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 Id="rId9" Type="http://schemas.openxmlformats.org/officeDocument/2006/relationships/image" Target="../media/image86.png"/></Relationships>
</file>

<file path=ppt/slides/_rels/slide26.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notesSlide" Target="../notesSlides/notesSlide26.xml"/><Relationship Id="rId7" Type="http://schemas.openxmlformats.org/officeDocument/2006/relationships/image" Target="../media/image89.png"/><Relationship Id="rId2" Type="http://schemas.openxmlformats.org/officeDocument/2006/relationships/slideLayout" Target="../slideLayouts/slideLayout25.xml"/><Relationship Id="rId1" Type="http://schemas.openxmlformats.org/officeDocument/2006/relationships/themeOverride" Target="../theme/themeOverride2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27.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notesSlide" Target="../notesSlides/notesSlide27.xml"/><Relationship Id="rId7" Type="http://schemas.openxmlformats.org/officeDocument/2006/relationships/image" Target="../media/image30.png"/><Relationship Id="rId2" Type="http://schemas.openxmlformats.org/officeDocument/2006/relationships/slideLayout" Target="../slideLayouts/slideLayout25.xml"/><Relationship Id="rId1" Type="http://schemas.openxmlformats.org/officeDocument/2006/relationships/themeOverride" Target="../theme/themeOverride26.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86.png"/><Relationship Id="rId4" Type="http://schemas.openxmlformats.org/officeDocument/2006/relationships/image" Target="../media/image21.jpg"/><Relationship Id="rId9" Type="http://schemas.openxmlformats.org/officeDocument/2006/relationships/image" Target="../media/image26.png"/></Relationships>
</file>

<file path=ppt/slides/_rels/slide28.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notesSlide" Target="../notesSlides/notesSlide28.xml"/><Relationship Id="rId7" Type="http://schemas.openxmlformats.org/officeDocument/2006/relationships/image" Target="../media/image24.png"/><Relationship Id="rId2" Type="http://schemas.openxmlformats.org/officeDocument/2006/relationships/slideLayout" Target="../slideLayouts/slideLayout25.xml"/><Relationship Id="rId1" Type="http://schemas.openxmlformats.org/officeDocument/2006/relationships/themeOverride" Target="../theme/themeOverride2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 Id="rId9" Type="http://schemas.openxmlformats.org/officeDocument/2006/relationships/image" Target="../media/image91.png"/></Relationships>
</file>

<file path=ppt/slides/_rels/slide2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5DD1508-7EDE-48F9-8D77-A6C659F2DCA9}"/>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377372" y="1081922"/>
            <a:ext cx="5617028" cy="2433808"/>
          </a:xfrm>
          <a:prstGeom prst="rect">
            <a:avLst/>
          </a:prstGeom>
        </p:spPr>
      </p:pic>
      <p:sp>
        <p:nvSpPr>
          <p:cNvPr id="5" name="TextBox 4">
            <a:extLst>
              <a:ext uri="{FF2B5EF4-FFF2-40B4-BE49-F238E27FC236}">
                <a16:creationId xmlns:a16="http://schemas.microsoft.com/office/drawing/2014/main" id="{6081BB4E-40B6-4A60-9670-CE4679947767}"/>
              </a:ext>
            </a:extLst>
          </p:cNvPr>
          <p:cNvSpPr txBox="1"/>
          <p:nvPr/>
        </p:nvSpPr>
        <p:spPr>
          <a:xfrm>
            <a:off x="3021617" y="4364285"/>
            <a:ext cx="6148764" cy="502766"/>
          </a:xfrm>
          <a:prstGeom prst="rect">
            <a:avLst/>
          </a:prstGeom>
          <a:noFill/>
          <a:effectLst/>
        </p:spPr>
        <p:txBody>
          <a:bodyPr wrap="square" rtlCol="0">
            <a:spAutoFit/>
          </a:bodyPr>
          <a:lstStyle/>
          <a:p>
            <a:pPr defTabSz="1219170"/>
            <a:r>
              <a:rPr lang="en-US" sz="2667" dirty="0">
                <a:solidFill>
                  <a:srgbClr val="284F3D"/>
                </a:solidFill>
                <a:latin typeface="Century Gothic" panose="020B0502020202020204" pitchFamily="34" charset="0"/>
                <a:cs typeface="Arial" panose="020B0604020202020204" pitchFamily="34" charset="0"/>
              </a:rPr>
              <a:t>BJC Specialties Company Limited</a:t>
            </a:r>
          </a:p>
        </p:txBody>
      </p:sp>
      <p:sp>
        <p:nvSpPr>
          <p:cNvPr id="3" name="TextBox 2">
            <a:extLst>
              <a:ext uri="{FF2B5EF4-FFF2-40B4-BE49-F238E27FC236}">
                <a16:creationId xmlns:a16="http://schemas.microsoft.com/office/drawing/2014/main" id="{79DFD9AF-FE56-25A8-4187-2D1FF7F12CEF}"/>
              </a:ext>
            </a:extLst>
          </p:cNvPr>
          <p:cNvSpPr txBox="1"/>
          <p:nvPr/>
        </p:nvSpPr>
        <p:spPr>
          <a:xfrm>
            <a:off x="10052152" y="8609134"/>
            <a:ext cx="1386918" cy="369332"/>
          </a:xfrm>
          <a:prstGeom prst="rect">
            <a:avLst/>
          </a:prstGeom>
          <a:noFill/>
        </p:spPr>
        <p:txBody>
          <a:bodyPr wrap="none" rtlCol="0">
            <a:spAutoFit/>
          </a:bodyPr>
          <a:lstStyle/>
          <a:p>
            <a:r>
              <a:rPr lang="en-US" i="1" dirty="0">
                <a:solidFill>
                  <a:schemeClr val="bg1"/>
                </a:solidFill>
              </a:rPr>
              <a:t>15 Oct 2026</a:t>
            </a:r>
          </a:p>
        </p:txBody>
      </p:sp>
      <p:sp>
        <p:nvSpPr>
          <p:cNvPr id="2" name="object 2">
            <a:extLst>
              <a:ext uri="{FF2B5EF4-FFF2-40B4-BE49-F238E27FC236}">
                <a16:creationId xmlns:a16="http://schemas.microsoft.com/office/drawing/2014/main" id="{5B4FB4C5-0B96-DF0A-D7D5-5BB964E81AEF}"/>
              </a:ext>
            </a:extLst>
          </p:cNvPr>
          <p:cNvSpPr txBox="1"/>
          <p:nvPr/>
        </p:nvSpPr>
        <p:spPr>
          <a:xfrm>
            <a:off x="1069848" y="5074920"/>
            <a:ext cx="10058400" cy="1005840"/>
          </a:xfrm>
          <a:prstGeom prst="rect">
            <a:avLst/>
          </a:prstGeom>
        </p:spPr>
        <p:txBody>
          <a:bodyPr vert="horz" wrap="square" lIns="0" tIns="16510" rIns="0" bIns="0" rtlCol="0">
            <a:spAutoFit/>
          </a:bodyPr>
          <a:lstStyle/>
          <a:p>
            <a:pPr marL="38100" algn="ctr">
              <a:spcBef>
                <a:spcPts val="130"/>
              </a:spcBef>
            </a:pPr>
            <a:r>
              <a:rPr lang="en-US" sz="2400" b="1" spc="-20" dirty="0">
                <a:solidFill>
                  <a:srgbClr val="0000CC"/>
                </a:solidFill>
                <a:latin typeface="Century Gothic"/>
              </a:rPr>
              <a:t>PARTNERING WITH CJ BIO IN VIETNAM</a:t>
            </a:r>
          </a:p>
          <a:p>
            <a:pPr marL="38100" algn="ctr">
              <a:spcBef>
                <a:spcPts val="130"/>
              </a:spcBef>
            </a:pPr>
            <a:r>
              <a:rPr lang="en-US" sz="2000" b="1" spc="-20" dirty="0">
                <a:solidFill>
                  <a:srgbClr val="0000CC"/>
                </a:solidFill>
                <a:latin typeface="Century Gothic"/>
              </a:rPr>
              <a:t>TasteNrich® HYBIND &amp; Food-Grade Amino Acids (FGAA)</a:t>
            </a:r>
          </a:p>
        </p:txBody>
      </p:sp>
      <p:sp>
        <p:nvSpPr>
          <p:cNvPr id="6" name="TextBox 5"/>
          <p:cNvSpPr txBox="1"/>
          <p:nvPr/>
        </p:nvSpPr>
        <p:spPr>
          <a:xfrm>
            <a:off x="1069848" y="6400800"/>
            <a:ext cx="10058400" cy="411480"/>
          </a:xfrm>
          <a:prstGeom prst="rect">
            <a:avLst/>
          </a:prstGeom>
          <a:noFill/>
        </p:spPr>
        <p:txBody>
          <a:bodyPr wrap="square" lIns="45720" tIns="27432" rIns="45720" bIns="27432" anchor="t"/>
          <a:lstStyle/>
          <a:p>
            <a:pPr algn="ctr"/>
            <a:r>
              <a:rPr sz="1600" b="0" i="0">
                <a:solidFill>
                  <a:srgbClr val="595959"/>
                </a:solidFill>
                <a:latin typeface="Calibri"/>
              </a:rPr>
              <a:t>Introduction meeting with CJ BIO Vietnam  |  MS Teams  |  15 October 2026</a:t>
            </a:r>
          </a:p>
        </p:txBody>
      </p:sp>
      <p:sp>
        <p:nvSpPr>
          <p:cNvPr id="7" name="TextBox 6"/>
          <p:cNvSpPr txBox="1"/>
          <p:nvPr/>
        </p:nvSpPr>
        <p:spPr>
          <a:xfrm>
            <a:off x="1069848" y="6858000"/>
            <a:ext cx="10058400" cy="411480"/>
          </a:xfrm>
          <a:prstGeom prst="rect">
            <a:avLst/>
          </a:prstGeom>
          <a:noFill/>
        </p:spPr>
        <p:txBody>
          <a:bodyPr wrap="square" lIns="45720" tIns="27432" rIns="45720" bIns="27432" anchor="t"/>
          <a:lstStyle/>
          <a:p>
            <a:pPr algn="r"/>
            <a:r>
              <a:rPr lang="en-US" sz="1500" b="0" i="0" dirty="0">
                <a:solidFill>
                  <a:srgbClr val="284F3E"/>
                </a:solidFill>
                <a:latin typeface="Calibri"/>
              </a:rPr>
              <a:t>Present by:   </a:t>
            </a:r>
            <a:r>
              <a:rPr sz="1500" b="0" i="0" dirty="0">
                <a:solidFill>
                  <a:srgbClr val="284F3E"/>
                </a:solidFill>
                <a:latin typeface="Calibri"/>
              </a:rPr>
              <a:t>Nguyen </a:t>
            </a:r>
            <a:r>
              <a:rPr lang="en-US" sz="1500" b="0" i="0" dirty="0" err="1">
                <a:solidFill>
                  <a:srgbClr val="284F3E"/>
                </a:solidFill>
                <a:latin typeface="Calibri"/>
              </a:rPr>
              <a:t>Ducc</a:t>
            </a:r>
            <a:r>
              <a:rPr lang="en-US" sz="1500" b="0" i="0" dirty="0">
                <a:solidFill>
                  <a:srgbClr val="284F3E"/>
                </a:solidFill>
                <a:latin typeface="Calibri"/>
              </a:rPr>
              <a:t> </a:t>
            </a:r>
            <a:r>
              <a:rPr sz="1500" b="0" i="0" dirty="0">
                <a:solidFill>
                  <a:srgbClr val="284F3E"/>
                </a:solidFill>
                <a:latin typeface="Calibri"/>
              </a:rPr>
              <a:t>Duy Anh</a:t>
            </a:r>
          </a:p>
        </p:txBody>
      </p:sp>
      <p:pic>
        <p:nvPicPr>
          <p:cNvPr id="9" name="Picture 8" descr="CJ-BIO-logo-without-background - The Global Feed LCA Institute">
            <a:extLst>
              <a:ext uri="{FF2B5EF4-FFF2-40B4-BE49-F238E27FC236}">
                <a16:creationId xmlns:a16="http://schemas.microsoft.com/office/drawing/2014/main" id="{DB92C9A8-A533-02AF-391F-D5B956BE43E9}"/>
              </a:ext>
            </a:extLst>
          </p:cNvPr>
          <p:cNvPicPr>
            <a:picLocks noChangeAspect="1"/>
          </p:cNvPicPr>
          <p:nvPr/>
        </p:nvPicPr>
        <p:blipFill>
          <a:blip r:embed="rId5"/>
          <a:stretch>
            <a:fillRect/>
          </a:stretch>
        </p:blipFill>
        <p:spPr>
          <a:xfrm>
            <a:off x="7146114" y="1343140"/>
            <a:ext cx="3486961" cy="1911371"/>
          </a:xfrm>
          <a:prstGeom prst="rect">
            <a:avLst/>
          </a:prstGeom>
        </p:spPr>
      </p:pic>
    </p:spTree>
    <p:extLst>
      <p:ext uri="{BB962C8B-B14F-4D97-AF65-F5344CB8AC3E}">
        <p14:creationId xmlns:p14="http://schemas.microsoft.com/office/powerpoint/2010/main" val="13076163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Executive Summary</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TextBox 7"/>
          <p:cNvSpPr txBox="1"/>
          <p:nvPr/>
        </p:nvSpPr>
        <p:spPr>
          <a:xfrm>
            <a:off x="457200" y="1188720"/>
            <a:ext cx="11274552" cy="914400"/>
          </a:xfrm>
          <a:prstGeom prst="rect">
            <a:avLst/>
          </a:prstGeom>
          <a:noFill/>
        </p:spPr>
        <p:txBody>
          <a:bodyPr wrap="square" lIns="45720" tIns="27432" rIns="45720" bIns="27432" anchor="ctr"/>
          <a:lstStyle/>
          <a:p>
            <a:pPr algn="l"/>
            <a:r>
              <a:rPr sz="2200" b="1" i="0">
                <a:solidFill>
                  <a:srgbClr val="284F3E"/>
                </a:solidFill>
                <a:latin typeface="Calibri"/>
              </a:rPr>
              <a:t>BJCS Vietnam is ready to grow TasteNrich® HYBIND &amp; FGAA in Vietnam — building on BJC's existing CJ BIO partnership in Thailand</a:t>
            </a:r>
          </a:p>
        </p:txBody>
      </p:sp>
      <p:sp>
        <p:nvSpPr>
          <p:cNvPr id="9" name="Rounded Rectangle 8"/>
          <p:cNvSpPr/>
          <p:nvPr/>
        </p:nvSpPr>
        <p:spPr>
          <a:xfrm>
            <a:off x="457200" y="2286000"/>
            <a:ext cx="5486400" cy="210312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85800" y="256032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handshake_w.png"/>
          <p:cNvPicPr>
            <a:picLocks noChangeAspect="1"/>
          </p:cNvPicPr>
          <p:nvPr/>
        </p:nvPicPr>
        <p:blipFill>
          <a:blip r:embed="rId7"/>
          <a:stretch>
            <a:fillRect/>
          </a:stretch>
        </p:blipFill>
        <p:spPr>
          <a:xfrm>
            <a:off x="872337" y="2746857"/>
            <a:ext cx="404164" cy="404164"/>
          </a:xfrm>
          <a:prstGeom prst="rect">
            <a:avLst/>
          </a:prstGeom>
        </p:spPr>
      </p:pic>
      <p:sp>
        <p:nvSpPr>
          <p:cNvPr id="12" name="TextBox 11"/>
          <p:cNvSpPr txBox="1"/>
          <p:nvPr/>
        </p:nvSpPr>
        <p:spPr>
          <a:xfrm>
            <a:off x="1645920" y="2468880"/>
            <a:ext cx="4160520" cy="457200"/>
          </a:xfrm>
          <a:prstGeom prst="rect">
            <a:avLst/>
          </a:prstGeom>
          <a:noFill/>
        </p:spPr>
        <p:txBody>
          <a:bodyPr wrap="square" lIns="45720" tIns="27432" rIns="45720" bIns="27432" anchor="t"/>
          <a:lstStyle/>
          <a:p>
            <a:pPr algn="l"/>
            <a:r>
              <a:rPr sz="2000" b="1" i="0">
                <a:solidFill>
                  <a:srgbClr val="284F3E"/>
                </a:solidFill>
                <a:latin typeface="Calibri"/>
              </a:rPr>
              <a:t>Proven CJ BIO partnership</a:t>
            </a:r>
          </a:p>
        </p:txBody>
      </p:sp>
      <p:sp>
        <p:nvSpPr>
          <p:cNvPr id="13" name="TextBox 12"/>
          <p:cNvSpPr txBox="1"/>
          <p:nvPr/>
        </p:nvSpPr>
        <p:spPr>
          <a:xfrm>
            <a:off x="1645920" y="2971800"/>
            <a:ext cx="4160520" cy="1371600"/>
          </a:xfrm>
          <a:prstGeom prst="rect">
            <a:avLst/>
          </a:prstGeom>
          <a:noFill/>
        </p:spPr>
        <p:txBody>
          <a:bodyPr wrap="square" lIns="45720" tIns="27432" rIns="45720" bIns="27432" anchor="t"/>
          <a:lstStyle/>
          <a:p>
            <a:pPr algn="l"/>
            <a:r>
              <a:rPr sz="1600" b="0" i="0">
                <a:solidFill>
                  <a:srgbClr val="262626"/>
                </a:solidFill>
                <a:latin typeface="Calibri"/>
              </a:rPr>
              <a:t>BJC already distributes HYBIND &amp; FGAA for CJ BIO in Thailand — one regional partner, aligned positioning and shared know-how.</a:t>
            </a:r>
          </a:p>
        </p:txBody>
      </p:sp>
      <p:sp>
        <p:nvSpPr>
          <p:cNvPr id="14" name="Rounded Rectangle 13"/>
          <p:cNvSpPr/>
          <p:nvPr/>
        </p:nvSpPr>
        <p:spPr>
          <a:xfrm>
            <a:off x="6245352" y="2286000"/>
            <a:ext cx="5486400" cy="210312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473952" y="256032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users_w.png"/>
          <p:cNvPicPr>
            <a:picLocks noChangeAspect="1"/>
          </p:cNvPicPr>
          <p:nvPr/>
        </p:nvPicPr>
        <p:blipFill>
          <a:blip r:embed="rId8"/>
          <a:stretch>
            <a:fillRect/>
          </a:stretch>
        </p:blipFill>
        <p:spPr>
          <a:xfrm>
            <a:off x="6660489" y="2746857"/>
            <a:ext cx="404164" cy="404164"/>
          </a:xfrm>
          <a:prstGeom prst="rect">
            <a:avLst/>
          </a:prstGeom>
        </p:spPr>
      </p:pic>
      <p:sp>
        <p:nvSpPr>
          <p:cNvPr id="17" name="TextBox 16"/>
          <p:cNvSpPr txBox="1"/>
          <p:nvPr/>
        </p:nvSpPr>
        <p:spPr>
          <a:xfrm>
            <a:off x="7434072" y="2468880"/>
            <a:ext cx="4160520" cy="457200"/>
          </a:xfrm>
          <a:prstGeom prst="rect">
            <a:avLst/>
          </a:prstGeom>
          <a:noFill/>
        </p:spPr>
        <p:txBody>
          <a:bodyPr wrap="square" lIns="45720" tIns="27432" rIns="45720" bIns="27432" anchor="t"/>
          <a:lstStyle/>
          <a:p>
            <a:pPr algn="l"/>
            <a:r>
              <a:rPr sz="2000" b="1" i="0">
                <a:solidFill>
                  <a:srgbClr val="284F3E"/>
                </a:solidFill>
                <a:latin typeface="Calibri"/>
              </a:rPr>
              <a:t>The right customers, today</a:t>
            </a:r>
          </a:p>
        </p:txBody>
      </p:sp>
      <p:sp>
        <p:nvSpPr>
          <p:cNvPr id="18" name="TextBox 17"/>
          <p:cNvSpPr txBox="1"/>
          <p:nvPr/>
        </p:nvSpPr>
        <p:spPr>
          <a:xfrm>
            <a:off x="7434072" y="2971800"/>
            <a:ext cx="4160520" cy="1371600"/>
          </a:xfrm>
          <a:prstGeom prst="rect">
            <a:avLst/>
          </a:prstGeom>
          <a:noFill/>
        </p:spPr>
        <p:txBody>
          <a:bodyPr wrap="square" lIns="45720" tIns="27432" rIns="45720" bIns="27432" anchor="t"/>
          <a:lstStyle/>
          <a:p>
            <a:pPr algn="l"/>
            <a:r>
              <a:rPr sz="1600" b="0" i="0">
                <a:solidFill>
                  <a:srgbClr val="262626"/>
                </a:solidFill>
                <a:latin typeface="Calibri"/>
              </a:rPr>
              <a:t>~90 customer accounts incl. Masan, CJ Cầu Tre, Ajinomoto, Unilever, Navico, Seapimex, Hoa Linh and Merap.</a:t>
            </a:r>
          </a:p>
        </p:txBody>
      </p:sp>
      <p:sp>
        <p:nvSpPr>
          <p:cNvPr id="19" name="Rounded Rectangle 18"/>
          <p:cNvSpPr/>
          <p:nvPr/>
        </p:nvSpPr>
        <p:spPr>
          <a:xfrm>
            <a:off x="457200" y="4572000"/>
            <a:ext cx="5486400" cy="210312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85800" y="484632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flask_w.png"/>
          <p:cNvPicPr>
            <a:picLocks noChangeAspect="1"/>
          </p:cNvPicPr>
          <p:nvPr/>
        </p:nvPicPr>
        <p:blipFill>
          <a:blip r:embed="rId9"/>
          <a:stretch>
            <a:fillRect/>
          </a:stretch>
        </p:blipFill>
        <p:spPr>
          <a:xfrm>
            <a:off x="872337" y="5032857"/>
            <a:ext cx="404164" cy="404164"/>
          </a:xfrm>
          <a:prstGeom prst="rect">
            <a:avLst/>
          </a:prstGeom>
        </p:spPr>
      </p:pic>
      <p:sp>
        <p:nvSpPr>
          <p:cNvPr id="22" name="TextBox 21"/>
          <p:cNvSpPr txBox="1"/>
          <p:nvPr/>
        </p:nvSpPr>
        <p:spPr>
          <a:xfrm>
            <a:off x="1645920" y="4754880"/>
            <a:ext cx="4160520" cy="457200"/>
          </a:xfrm>
          <a:prstGeom prst="rect">
            <a:avLst/>
          </a:prstGeom>
          <a:noFill/>
        </p:spPr>
        <p:txBody>
          <a:bodyPr wrap="square" lIns="45720" tIns="27432" rIns="45720" bIns="27432" anchor="t"/>
          <a:lstStyle/>
          <a:p>
            <a:pPr algn="l"/>
            <a:r>
              <a:rPr sz="2000" b="1" i="0">
                <a:solidFill>
                  <a:srgbClr val="284F3E"/>
                </a:solidFill>
                <a:latin typeface="Calibri"/>
              </a:rPr>
              <a:t>Technical &amp; regulatory selling</a:t>
            </a:r>
          </a:p>
        </p:txBody>
      </p:sp>
      <p:sp>
        <p:nvSpPr>
          <p:cNvPr id="23" name="TextBox 22"/>
          <p:cNvSpPr txBox="1"/>
          <p:nvPr/>
        </p:nvSpPr>
        <p:spPr>
          <a:xfrm>
            <a:off x="1645920" y="5257800"/>
            <a:ext cx="4160520" cy="1371600"/>
          </a:xfrm>
          <a:prstGeom prst="rect">
            <a:avLst/>
          </a:prstGeom>
          <a:noFill/>
        </p:spPr>
        <p:txBody>
          <a:bodyPr wrap="square" lIns="45720" tIns="27432" rIns="45720" bIns="27432" anchor="t"/>
          <a:lstStyle/>
          <a:p>
            <a:pPr algn="l"/>
            <a:r>
              <a:rPr sz="1600" b="0" i="0">
                <a:solidFill>
                  <a:srgbClr val="262626"/>
                </a:solidFill>
                <a:latin typeface="Calibri"/>
              </a:rPr>
              <a:t>Food, Cosmetic and NPD teams, BJCS Application Lab (Bangkok) and in-house handling of import &amp; declaration dossiers.</a:t>
            </a:r>
          </a:p>
        </p:txBody>
      </p:sp>
      <p:sp>
        <p:nvSpPr>
          <p:cNvPr id="24" name="Rounded Rectangle 23"/>
          <p:cNvSpPr/>
          <p:nvPr/>
        </p:nvSpPr>
        <p:spPr>
          <a:xfrm>
            <a:off x="6245352" y="4572000"/>
            <a:ext cx="5486400" cy="210312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Oval 24"/>
          <p:cNvSpPr/>
          <p:nvPr/>
        </p:nvSpPr>
        <p:spPr>
          <a:xfrm>
            <a:off x="6473952" y="484632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truck_w.png"/>
          <p:cNvPicPr>
            <a:picLocks noChangeAspect="1"/>
          </p:cNvPicPr>
          <p:nvPr/>
        </p:nvPicPr>
        <p:blipFill>
          <a:blip r:embed="rId10"/>
          <a:stretch>
            <a:fillRect/>
          </a:stretch>
        </p:blipFill>
        <p:spPr>
          <a:xfrm>
            <a:off x="6660489" y="5032857"/>
            <a:ext cx="404164" cy="404164"/>
          </a:xfrm>
          <a:prstGeom prst="rect">
            <a:avLst/>
          </a:prstGeom>
        </p:spPr>
      </p:pic>
      <p:sp>
        <p:nvSpPr>
          <p:cNvPr id="27" name="TextBox 26"/>
          <p:cNvSpPr txBox="1"/>
          <p:nvPr/>
        </p:nvSpPr>
        <p:spPr>
          <a:xfrm>
            <a:off x="7434072" y="4754880"/>
            <a:ext cx="4160520" cy="457200"/>
          </a:xfrm>
          <a:prstGeom prst="rect">
            <a:avLst/>
          </a:prstGeom>
          <a:noFill/>
        </p:spPr>
        <p:txBody>
          <a:bodyPr wrap="square" lIns="45720" tIns="27432" rIns="45720" bIns="27432" anchor="t"/>
          <a:lstStyle/>
          <a:p>
            <a:pPr algn="l"/>
            <a:r>
              <a:rPr sz="2000" b="1" i="0">
                <a:solidFill>
                  <a:srgbClr val="284F3E"/>
                </a:solidFill>
                <a:latin typeface="Calibri"/>
              </a:rPr>
              <a:t>Supply chain ready</a:t>
            </a:r>
          </a:p>
        </p:txBody>
      </p:sp>
      <p:sp>
        <p:nvSpPr>
          <p:cNvPr id="28" name="TextBox 27"/>
          <p:cNvSpPr txBox="1"/>
          <p:nvPr/>
        </p:nvSpPr>
        <p:spPr>
          <a:xfrm>
            <a:off x="7434072" y="5257800"/>
            <a:ext cx="4160520" cy="1371600"/>
          </a:xfrm>
          <a:prstGeom prst="rect">
            <a:avLst/>
          </a:prstGeom>
          <a:noFill/>
        </p:spPr>
        <p:txBody>
          <a:bodyPr wrap="square" lIns="45720" tIns="27432" rIns="45720" bIns="27432" anchor="t"/>
          <a:lstStyle/>
          <a:p>
            <a:pPr algn="l"/>
            <a:r>
              <a:rPr sz="1600" b="0" i="0">
                <a:solidFill>
                  <a:srgbClr val="262626"/>
                </a:solidFill>
                <a:latin typeface="Calibri"/>
              </a:rPr>
              <a:t>Ex-stock (local warehouse, VND invoicing, door-to-door) and Indent (CIF HCMC / Hai Phong); offices in HCMC &amp; Hanoi.</a:t>
            </a:r>
          </a:p>
        </p:txBody>
      </p:sp>
      <p:sp>
        <p:nvSpPr>
          <p:cNvPr id="29" name="Rounded Rectangle 28"/>
          <p:cNvSpPr/>
          <p:nvPr/>
        </p:nvSpPr>
        <p:spPr>
          <a:xfrm>
            <a:off x="457200" y="6995160"/>
            <a:ext cx="11274552" cy="1463040"/>
          </a:xfrm>
          <a:prstGeom prst="roundRect">
            <a:avLst>
              <a:gd name="adj" fmla="val 8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31520" y="7086600"/>
            <a:ext cx="2103120" cy="1280160"/>
          </a:xfrm>
          <a:prstGeom prst="rect">
            <a:avLst/>
          </a:prstGeom>
          <a:noFill/>
        </p:spPr>
        <p:txBody>
          <a:bodyPr wrap="square" lIns="45720" tIns="27432" rIns="45720" bIns="27432" anchor="ctr"/>
          <a:lstStyle/>
          <a:p>
            <a:pPr algn="l"/>
            <a:r>
              <a:rPr sz="1800" b="1" i="0">
                <a:solidFill>
                  <a:srgbClr val="BFE3CC"/>
                </a:solidFill>
                <a:latin typeface="Calibri"/>
              </a:rPr>
              <a:t>OUR PROPOSAL</a:t>
            </a:r>
          </a:p>
        </p:txBody>
      </p:sp>
      <p:sp>
        <p:nvSpPr>
          <p:cNvPr id="31" name="TextBox 30"/>
          <p:cNvSpPr txBox="1"/>
          <p:nvPr/>
        </p:nvSpPr>
        <p:spPr>
          <a:xfrm>
            <a:off x="2743200" y="7086600"/>
            <a:ext cx="8778240" cy="1280160"/>
          </a:xfrm>
          <a:prstGeom prst="rect">
            <a:avLst/>
          </a:prstGeom>
          <a:noFill/>
        </p:spPr>
        <p:txBody>
          <a:bodyPr wrap="square" lIns="45720" tIns="27432" rIns="45720" bIns="27432" anchor="ctr"/>
          <a:lstStyle/>
          <a:p>
            <a:pPr algn="l"/>
            <a:r>
              <a:rPr sz="1700" b="0" i="0">
                <a:solidFill>
                  <a:srgbClr val="FFFFFF"/>
                </a:solidFill>
                <a:latin typeface="Calibri"/>
              </a:rPr>
              <a:t>Appoint BJCS Vietnam as distributor of HYBIND &amp; FGAA  →  90-day onboarding  →  customer trials from Q1 2027 with ~20 priority accounts across North, Central &amp; South Vietnam</a:t>
            </a:r>
          </a:p>
        </p:txBody>
      </p:sp>
      <p:sp>
        <p:nvSpPr>
          <p:cNvPr id="32" name="TextBox 31"/>
          <p:cNvSpPr txBox="1"/>
          <p:nvPr/>
        </p:nvSpPr>
        <p:spPr>
          <a:xfrm>
            <a:off x="457200" y="859536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(Customer 360, 2026 YTD); CJ BIO Vietnam e-mail, 7 Oct 2026 (BJC Thailand = CJ distributor for Hybind &amp; FGAA).</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Agenda</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325880"/>
            <a:ext cx="11274552" cy="1234440"/>
          </a:xfrm>
          <a:prstGeom prst="roundRect">
            <a:avLst>
              <a:gd name="adj" fmla="val 8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85800" y="155448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users_w.png"/>
          <p:cNvPicPr>
            <a:picLocks noChangeAspect="1"/>
          </p:cNvPicPr>
          <p:nvPr/>
        </p:nvPicPr>
        <p:blipFill>
          <a:blip r:embed="rId7"/>
          <a:stretch>
            <a:fillRect/>
          </a:stretch>
        </p:blipFill>
        <p:spPr>
          <a:xfrm>
            <a:off x="872337" y="1741017"/>
            <a:ext cx="404164" cy="404164"/>
          </a:xfrm>
          <a:prstGeom prst="rect">
            <a:avLst/>
          </a:prstGeom>
        </p:spPr>
      </p:pic>
      <p:sp>
        <p:nvSpPr>
          <p:cNvPr id="11" name="TextBox 10"/>
          <p:cNvSpPr txBox="1"/>
          <p:nvPr/>
        </p:nvSpPr>
        <p:spPr>
          <a:xfrm>
            <a:off x="1691640" y="1435607"/>
            <a:ext cx="7863840" cy="548640"/>
          </a:xfrm>
          <a:prstGeom prst="rect">
            <a:avLst/>
          </a:prstGeom>
          <a:noFill/>
        </p:spPr>
        <p:txBody>
          <a:bodyPr wrap="square" lIns="45720" tIns="27432" rIns="45720" bIns="27432" anchor="ctr"/>
          <a:lstStyle/>
          <a:p>
            <a:pPr algn="l"/>
            <a:r>
              <a:rPr sz="2200" b="1" i="0">
                <a:solidFill>
                  <a:srgbClr val="284F3E"/>
                </a:solidFill>
                <a:latin typeface="Calibri"/>
              </a:rPr>
              <a:t>1.  Who we are</a:t>
            </a:r>
          </a:p>
        </p:txBody>
      </p:sp>
      <p:sp>
        <p:nvSpPr>
          <p:cNvPr id="12" name="TextBox 11"/>
          <p:cNvSpPr txBox="1"/>
          <p:nvPr/>
        </p:nvSpPr>
        <p:spPr>
          <a:xfrm>
            <a:off x="1691640" y="1965960"/>
            <a:ext cx="7863840" cy="457200"/>
          </a:xfrm>
          <a:prstGeom prst="rect">
            <a:avLst/>
          </a:prstGeom>
          <a:noFill/>
        </p:spPr>
        <p:txBody>
          <a:bodyPr wrap="square" lIns="45720" tIns="27432" rIns="45720" bIns="27432" anchor="t"/>
          <a:lstStyle/>
          <a:p>
            <a:pPr algn="l"/>
            <a:r>
              <a:rPr sz="1550" b="0" i="0">
                <a:solidFill>
                  <a:srgbClr val="595959"/>
                </a:solidFill>
                <a:latin typeface="Calibri"/>
              </a:rPr>
              <a:t>BJC Specialties, our CJ BIO link and the BJCS Vietnam platform</a:t>
            </a:r>
          </a:p>
        </p:txBody>
      </p:sp>
      <p:sp>
        <p:nvSpPr>
          <p:cNvPr id="13" name="TextBox 12"/>
          <p:cNvSpPr txBox="1"/>
          <p:nvPr/>
        </p:nvSpPr>
        <p:spPr>
          <a:xfrm>
            <a:off x="9692640" y="1600200"/>
            <a:ext cx="1828800" cy="685800"/>
          </a:xfrm>
          <a:prstGeom prst="rect">
            <a:avLst/>
          </a:prstGeom>
          <a:noFill/>
        </p:spPr>
        <p:txBody>
          <a:bodyPr wrap="square" lIns="45720" tIns="27432" rIns="45720" bIns="27432" anchor="ctr"/>
          <a:lstStyle/>
          <a:p>
            <a:pPr algn="r"/>
            <a:r>
              <a:rPr sz="1500" b="1" i="0">
                <a:solidFill>
                  <a:srgbClr val="1E9E57"/>
                </a:solidFill>
                <a:latin typeface="Calibri"/>
              </a:rPr>
              <a:t>Slides 4 – 8</a:t>
            </a:r>
          </a:p>
        </p:txBody>
      </p:sp>
      <p:sp>
        <p:nvSpPr>
          <p:cNvPr id="14" name="Rounded Rectangle 13"/>
          <p:cNvSpPr/>
          <p:nvPr/>
        </p:nvSpPr>
        <p:spPr>
          <a:xfrm>
            <a:off x="457200" y="2743200"/>
            <a:ext cx="11274552" cy="1234440"/>
          </a:xfrm>
          <a:prstGeom prst="roundRect">
            <a:avLst>
              <a:gd name="adj" fmla="val 8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85800" y="297180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chart_w.png"/>
          <p:cNvPicPr>
            <a:picLocks noChangeAspect="1"/>
          </p:cNvPicPr>
          <p:nvPr/>
        </p:nvPicPr>
        <p:blipFill>
          <a:blip r:embed="rId8"/>
          <a:stretch>
            <a:fillRect/>
          </a:stretch>
        </p:blipFill>
        <p:spPr>
          <a:xfrm>
            <a:off x="872337" y="3158337"/>
            <a:ext cx="404164" cy="404164"/>
          </a:xfrm>
          <a:prstGeom prst="rect">
            <a:avLst/>
          </a:prstGeom>
        </p:spPr>
      </p:pic>
      <p:sp>
        <p:nvSpPr>
          <p:cNvPr id="17" name="TextBox 16"/>
          <p:cNvSpPr txBox="1"/>
          <p:nvPr/>
        </p:nvSpPr>
        <p:spPr>
          <a:xfrm>
            <a:off x="1691640" y="2852928"/>
            <a:ext cx="7863840" cy="548640"/>
          </a:xfrm>
          <a:prstGeom prst="rect">
            <a:avLst/>
          </a:prstGeom>
          <a:noFill/>
        </p:spPr>
        <p:txBody>
          <a:bodyPr wrap="square" lIns="45720" tIns="27432" rIns="45720" bIns="27432" anchor="ctr"/>
          <a:lstStyle/>
          <a:p>
            <a:pPr algn="l"/>
            <a:r>
              <a:rPr sz="2200" b="1" i="0">
                <a:solidFill>
                  <a:srgbClr val="284F3E"/>
                </a:solidFill>
                <a:latin typeface="Calibri"/>
              </a:rPr>
              <a:t>2.  Market &amp; regulatory landscape</a:t>
            </a:r>
          </a:p>
        </p:txBody>
      </p:sp>
      <p:sp>
        <p:nvSpPr>
          <p:cNvPr id="18" name="TextBox 17"/>
          <p:cNvSpPr txBox="1"/>
          <p:nvPr/>
        </p:nvSpPr>
        <p:spPr>
          <a:xfrm>
            <a:off x="1691640" y="3383280"/>
            <a:ext cx="7863840" cy="457200"/>
          </a:xfrm>
          <a:prstGeom prst="rect">
            <a:avLst/>
          </a:prstGeom>
          <a:noFill/>
        </p:spPr>
        <p:txBody>
          <a:bodyPr wrap="square" lIns="45720" tIns="27432" rIns="45720" bIns="27432" anchor="t"/>
          <a:lstStyle/>
          <a:p>
            <a:pPr algn="l"/>
            <a:r>
              <a:rPr sz="1550" b="0" i="0">
                <a:solidFill>
                  <a:srgbClr val="595959"/>
                </a:solidFill>
                <a:latin typeface="Calibri"/>
              </a:rPr>
              <a:t>Food industry, market size for HYBIND &amp; FGAA, rules that apply today</a:t>
            </a:r>
          </a:p>
        </p:txBody>
      </p:sp>
      <p:sp>
        <p:nvSpPr>
          <p:cNvPr id="19" name="TextBox 18"/>
          <p:cNvSpPr txBox="1"/>
          <p:nvPr/>
        </p:nvSpPr>
        <p:spPr>
          <a:xfrm>
            <a:off x="9692640" y="3017520"/>
            <a:ext cx="1828800" cy="685800"/>
          </a:xfrm>
          <a:prstGeom prst="rect">
            <a:avLst/>
          </a:prstGeom>
          <a:noFill/>
        </p:spPr>
        <p:txBody>
          <a:bodyPr wrap="square" lIns="45720" tIns="27432" rIns="45720" bIns="27432" anchor="ctr"/>
          <a:lstStyle/>
          <a:p>
            <a:pPr algn="r"/>
            <a:r>
              <a:rPr sz="1500" b="1" i="0">
                <a:solidFill>
                  <a:srgbClr val="1E9E57"/>
                </a:solidFill>
                <a:latin typeface="Calibri"/>
              </a:rPr>
              <a:t>Slides 9 – 13</a:t>
            </a:r>
          </a:p>
        </p:txBody>
      </p:sp>
      <p:sp>
        <p:nvSpPr>
          <p:cNvPr id="20" name="Rounded Rectangle 19"/>
          <p:cNvSpPr/>
          <p:nvPr/>
        </p:nvSpPr>
        <p:spPr>
          <a:xfrm>
            <a:off x="457200" y="4160520"/>
            <a:ext cx="11274552" cy="1234440"/>
          </a:xfrm>
          <a:prstGeom prst="roundRect">
            <a:avLst>
              <a:gd name="adj" fmla="val 8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685800" y="438912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map_w.png"/>
          <p:cNvPicPr>
            <a:picLocks noChangeAspect="1"/>
          </p:cNvPicPr>
          <p:nvPr/>
        </p:nvPicPr>
        <p:blipFill>
          <a:blip r:embed="rId9"/>
          <a:stretch>
            <a:fillRect/>
          </a:stretch>
        </p:blipFill>
        <p:spPr>
          <a:xfrm>
            <a:off x="872337" y="4575657"/>
            <a:ext cx="404164" cy="404164"/>
          </a:xfrm>
          <a:prstGeom prst="rect">
            <a:avLst/>
          </a:prstGeom>
        </p:spPr>
      </p:pic>
      <p:sp>
        <p:nvSpPr>
          <p:cNvPr id="23" name="TextBox 22"/>
          <p:cNvSpPr txBox="1"/>
          <p:nvPr/>
        </p:nvSpPr>
        <p:spPr>
          <a:xfrm>
            <a:off x="1691640" y="4270248"/>
            <a:ext cx="7863840" cy="548640"/>
          </a:xfrm>
          <a:prstGeom prst="rect">
            <a:avLst/>
          </a:prstGeom>
          <a:noFill/>
        </p:spPr>
        <p:txBody>
          <a:bodyPr wrap="square" lIns="45720" tIns="27432" rIns="45720" bIns="27432" anchor="ctr"/>
          <a:lstStyle/>
          <a:p>
            <a:pPr algn="l"/>
            <a:r>
              <a:rPr sz="2200" b="1" i="0">
                <a:solidFill>
                  <a:srgbClr val="284F3E"/>
                </a:solidFill>
                <a:latin typeface="Calibri"/>
              </a:rPr>
              <a:t>3.  Opportunity map</a:t>
            </a:r>
          </a:p>
        </p:txBody>
      </p:sp>
      <p:sp>
        <p:nvSpPr>
          <p:cNvPr id="24" name="TextBox 23"/>
          <p:cNvSpPr txBox="1"/>
          <p:nvPr/>
        </p:nvSpPr>
        <p:spPr>
          <a:xfrm>
            <a:off x="1691640" y="4800600"/>
            <a:ext cx="7863840" cy="457200"/>
          </a:xfrm>
          <a:prstGeom prst="rect">
            <a:avLst/>
          </a:prstGeom>
          <a:noFill/>
        </p:spPr>
        <p:txBody>
          <a:bodyPr wrap="square" lIns="45720" tIns="27432" rIns="45720" bIns="27432" anchor="t"/>
          <a:lstStyle/>
          <a:p>
            <a:pPr algn="l"/>
            <a:r>
              <a:rPr sz="1550" b="0" i="0">
                <a:solidFill>
                  <a:srgbClr val="595959"/>
                </a:solidFill>
                <a:latin typeface="Calibri"/>
              </a:rPr>
              <a:t>Applications, target accounts by segment and by North / Central / South</a:t>
            </a:r>
          </a:p>
        </p:txBody>
      </p:sp>
      <p:sp>
        <p:nvSpPr>
          <p:cNvPr id="25" name="TextBox 24"/>
          <p:cNvSpPr txBox="1"/>
          <p:nvPr/>
        </p:nvSpPr>
        <p:spPr>
          <a:xfrm>
            <a:off x="9692640" y="4434840"/>
            <a:ext cx="1828800" cy="685800"/>
          </a:xfrm>
          <a:prstGeom prst="rect">
            <a:avLst/>
          </a:prstGeom>
          <a:noFill/>
        </p:spPr>
        <p:txBody>
          <a:bodyPr wrap="square" lIns="45720" tIns="27432" rIns="45720" bIns="27432" anchor="ctr"/>
          <a:lstStyle/>
          <a:p>
            <a:pPr algn="r"/>
            <a:r>
              <a:rPr sz="1500" b="1" i="0">
                <a:solidFill>
                  <a:srgbClr val="1E9E57"/>
                </a:solidFill>
                <a:latin typeface="Calibri"/>
              </a:rPr>
              <a:t>Slides 14 – 20</a:t>
            </a:r>
          </a:p>
        </p:txBody>
      </p:sp>
      <p:sp>
        <p:nvSpPr>
          <p:cNvPr id="26" name="Rounded Rectangle 25"/>
          <p:cNvSpPr/>
          <p:nvPr/>
        </p:nvSpPr>
        <p:spPr>
          <a:xfrm>
            <a:off x="457200" y="5577840"/>
            <a:ext cx="11274552" cy="1234440"/>
          </a:xfrm>
          <a:prstGeom prst="roundRect">
            <a:avLst>
              <a:gd name="adj" fmla="val 8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685800" y="580644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target_w.png"/>
          <p:cNvPicPr>
            <a:picLocks noChangeAspect="1"/>
          </p:cNvPicPr>
          <p:nvPr/>
        </p:nvPicPr>
        <p:blipFill>
          <a:blip r:embed="rId10"/>
          <a:stretch>
            <a:fillRect/>
          </a:stretch>
        </p:blipFill>
        <p:spPr>
          <a:xfrm>
            <a:off x="872337" y="5992977"/>
            <a:ext cx="404164" cy="404164"/>
          </a:xfrm>
          <a:prstGeom prst="rect">
            <a:avLst/>
          </a:prstGeom>
        </p:spPr>
      </p:pic>
      <p:sp>
        <p:nvSpPr>
          <p:cNvPr id="29" name="TextBox 28"/>
          <p:cNvSpPr txBox="1"/>
          <p:nvPr/>
        </p:nvSpPr>
        <p:spPr>
          <a:xfrm>
            <a:off x="1691640" y="5687568"/>
            <a:ext cx="7863840" cy="548640"/>
          </a:xfrm>
          <a:prstGeom prst="rect">
            <a:avLst/>
          </a:prstGeom>
          <a:noFill/>
        </p:spPr>
        <p:txBody>
          <a:bodyPr wrap="square" lIns="45720" tIns="27432" rIns="45720" bIns="27432" anchor="ctr"/>
          <a:lstStyle/>
          <a:p>
            <a:pPr algn="l"/>
            <a:r>
              <a:rPr sz="2200" b="1" i="0">
                <a:solidFill>
                  <a:srgbClr val="284F3E"/>
                </a:solidFill>
                <a:latin typeface="Calibri"/>
              </a:rPr>
              <a:t>4.  How we win</a:t>
            </a:r>
          </a:p>
        </p:txBody>
      </p:sp>
      <p:sp>
        <p:nvSpPr>
          <p:cNvPr id="30" name="TextBox 29"/>
          <p:cNvSpPr txBox="1"/>
          <p:nvPr/>
        </p:nvSpPr>
        <p:spPr>
          <a:xfrm>
            <a:off x="1691640" y="6217920"/>
            <a:ext cx="7863840" cy="457200"/>
          </a:xfrm>
          <a:prstGeom prst="rect">
            <a:avLst/>
          </a:prstGeom>
          <a:noFill/>
        </p:spPr>
        <p:txBody>
          <a:bodyPr wrap="square" lIns="45720" tIns="27432" rIns="45720" bIns="27432" anchor="t"/>
          <a:lstStyle/>
          <a:p>
            <a:pPr algn="l"/>
            <a:r>
              <a:rPr sz="1550" b="0" i="0">
                <a:solidFill>
                  <a:srgbClr val="595959"/>
                </a:solidFill>
                <a:latin typeface="Calibri"/>
              </a:rPr>
              <a:t>Value proposition, customer pain points, account approach, competition</a:t>
            </a:r>
          </a:p>
        </p:txBody>
      </p:sp>
      <p:sp>
        <p:nvSpPr>
          <p:cNvPr id="31" name="TextBox 30"/>
          <p:cNvSpPr txBox="1"/>
          <p:nvPr/>
        </p:nvSpPr>
        <p:spPr>
          <a:xfrm>
            <a:off x="9692640" y="5852160"/>
            <a:ext cx="1828800" cy="685800"/>
          </a:xfrm>
          <a:prstGeom prst="rect">
            <a:avLst/>
          </a:prstGeom>
          <a:noFill/>
        </p:spPr>
        <p:txBody>
          <a:bodyPr wrap="square" lIns="45720" tIns="27432" rIns="45720" bIns="27432" anchor="ctr"/>
          <a:lstStyle/>
          <a:p>
            <a:pPr algn="r"/>
            <a:r>
              <a:rPr sz="1500" b="1" i="0">
                <a:solidFill>
                  <a:srgbClr val="1E9E57"/>
                </a:solidFill>
                <a:latin typeface="Calibri"/>
              </a:rPr>
              <a:t>Slides 21 – 26</a:t>
            </a:r>
          </a:p>
        </p:txBody>
      </p:sp>
      <p:sp>
        <p:nvSpPr>
          <p:cNvPr id="32" name="Rounded Rectangle 31"/>
          <p:cNvSpPr/>
          <p:nvPr/>
        </p:nvSpPr>
        <p:spPr>
          <a:xfrm>
            <a:off x="457200" y="6995160"/>
            <a:ext cx="11274552" cy="1234440"/>
          </a:xfrm>
          <a:prstGeom prst="roundRect">
            <a:avLst>
              <a:gd name="adj" fmla="val 8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685800" y="7223760"/>
            <a:ext cx="777240" cy="7772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handshake_w.png"/>
          <p:cNvPicPr>
            <a:picLocks noChangeAspect="1"/>
          </p:cNvPicPr>
          <p:nvPr/>
        </p:nvPicPr>
        <p:blipFill>
          <a:blip r:embed="rId11"/>
          <a:stretch>
            <a:fillRect/>
          </a:stretch>
        </p:blipFill>
        <p:spPr>
          <a:xfrm>
            <a:off x="872337" y="7410297"/>
            <a:ext cx="404164" cy="404164"/>
          </a:xfrm>
          <a:prstGeom prst="rect">
            <a:avLst/>
          </a:prstGeom>
        </p:spPr>
      </p:pic>
      <p:sp>
        <p:nvSpPr>
          <p:cNvPr id="35" name="TextBox 34"/>
          <p:cNvSpPr txBox="1"/>
          <p:nvPr/>
        </p:nvSpPr>
        <p:spPr>
          <a:xfrm>
            <a:off x="1691640" y="7104888"/>
            <a:ext cx="7863840" cy="548640"/>
          </a:xfrm>
          <a:prstGeom prst="rect">
            <a:avLst/>
          </a:prstGeom>
          <a:noFill/>
        </p:spPr>
        <p:txBody>
          <a:bodyPr wrap="square" lIns="45720" tIns="27432" rIns="45720" bIns="27432" anchor="ctr"/>
          <a:lstStyle/>
          <a:p>
            <a:pPr algn="l"/>
            <a:r>
              <a:rPr sz="2200" b="1" i="0">
                <a:solidFill>
                  <a:srgbClr val="284F3E"/>
                </a:solidFill>
                <a:latin typeface="Calibri"/>
              </a:rPr>
              <a:t>5.  Roadmap &amp; partnership</a:t>
            </a:r>
          </a:p>
        </p:txBody>
      </p:sp>
      <p:sp>
        <p:nvSpPr>
          <p:cNvPr id="36" name="TextBox 35"/>
          <p:cNvSpPr txBox="1"/>
          <p:nvPr/>
        </p:nvSpPr>
        <p:spPr>
          <a:xfrm>
            <a:off x="1691640" y="7635240"/>
            <a:ext cx="7863840" cy="457200"/>
          </a:xfrm>
          <a:prstGeom prst="rect">
            <a:avLst/>
          </a:prstGeom>
          <a:noFill/>
        </p:spPr>
        <p:txBody>
          <a:bodyPr wrap="square" lIns="45720" tIns="27432" rIns="45720" bIns="27432" anchor="t"/>
          <a:lstStyle/>
          <a:p>
            <a:pPr algn="l"/>
            <a:r>
              <a:rPr sz="1550" b="0" i="0">
                <a:solidFill>
                  <a:srgbClr val="595959"/>
                </a:solidFill>
                <a:latin typeface="Calibri"/>
              </a:rPr>
              <a:t>Go-to-market milestones, proposal and next steps</a:t>
            </a:r>
          </a:p>
        </p:txBody>
      </p:sp>
      <p:sp>
        <p:nvSpPr>
          <p:cNvPr id="37" name="TextBox 36"/>
          <p:cNvSpPr txBox="1"/>
          <p:nvPr/>
        </p:nvSpPr>
        <p:spPr>
          <a:xfrm>
            <a:off x="9692640" y="7269480"/>
            <a:ext cx="1828800" cy="685800"/>
          </a:xfrm>
          <a:prstGeom prst="rect">
            <a:avLst/>
          </a:prstGeom>
          <a:noFill/>
        </p:spPr>
        <p:txBody>
          <a:bodyPr wrap="square" lIns="45720" tIns="27432" rIns="45720" bIns="27432" anchor="ctr"/>
          <a:lstStyle/>
          <a:p>
            <a:pPr algn="r"/>
            <a:r>
              <a:rPr sz="1500" b="1" i="0">
                <a:solidFill>
                  <a:srgbClr val="1E9E57"/>
                </a:solidFill>
                <a:latin typeface="Calibri"/>
              </a:rPr>
              <a:t>Slides 27 – 28</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1D4364-D474-4DD9-AD9F-02428C548F39}"/>
              </a:ext>
            </a:extLst>
          </p:cNvPr>
          <p:cNvPicPr/>
          <p:nvPr/>
        </p:nvPicPr>
        <p:blipFill>
          <a:blip r:embed="rId5" cstate="email">
            <a:extLst>
              <a:ext uri="{28A0092B-C50C-407E-A947-70E740481C1C}">
                <a14:useLocalDpi xmlns:a14="http://schemas.microsoft.com/office/drawing/2010/main"/>
              </a:ext>
            </a:extLst>
          </a:blip>
          <a:stretch>
            <a:fillRect/>
          </a:stretch>
        </p:blipFill>
        <p:spPr>
          <a:xfrm>
            <a:off x="253446" y="105888"/>
            <a:ext cx="2894161" cy="868190"/>
          </a:xfrm>
          <a:prstGeom prst="rect">
            <a:avLst/>
          </a:prstGeom>
        </p:spPr>
      </p:pic>
      <p:sp>
        <p:nvSpPr>
          <p:cNvPr id="6" name="Rectangle 5"/>
          <p:cNvSpPr/>
          <p:nvPr/>
        </p:nvSpPr>
        <p:spPr>
          <a:xfrm>
            <a:off x="10082540" y="456227"/>
            <a:ext cx="1558440" cy="369332"/>
          </a:xfrm>
          <a:prstGeom prst="rect">
            <a:avLst/>
          </a:prstGeom>
        </p:spPr>
        <p:txBody>
          <a:bodyPr wrap="none">
            <a:spAutoFit/>
          </a:bodyPr>
          <a:lstStyle/>
          <a:p>
            <a:r>
              <a:rPr lang="en-US" b="1" dirty="0">
                <a:solidFill>
                  <a:srgbClr val="284F3E"/>
                </a:solidFill>
                <a:latin typeface="Century Gothic" panose="020B0502020202020204" pitchFamily="34" charset="0"/>
              </a:rPr>
              <a:t>Key Partners</a:t>
            </a:r>
            <a:endParaRPr lang="en-US" b="1" dirty="0">
              <a:solidFill>
                <a:srgbClr val="284F3E"/>
              </a:solidFill>
            </a:endParaRPr>
          </a:p>
        </p:txBody>
      </p:sp>
      <p:sp>
        <p:nvSpPr>
          <p:cNvPr id="21" name="Rectangle 20">
            <a:extLst>
              <a:ext uri="{FF2B5EF4-FFF2-40B4-BE49-F238E27FC236}">
                <a16:creationId xmlns:a16="http://schemas.microsoft.com/office/drawing/2014/main" id="{635729B5-BAF0-4850-B9F2-440A60F7511E}"/>
              </a:ext>
            </a:extLst>
          </p:cNvPr>
          <p:cNvSpPr/>
          <p:nvPr/>
        </p:nvSpPr>
        <p:spPr>
          <a:xfrm>
            <a:off x="3355848" y="1186725"/>
            <a:ext cx="5486400" cy="369332"/>
          </a:xfrm>
          <a:prstGeom prst="rect">
            <a:avLst/>
          </a:prstGeom>
        </p:spPr>
        <p:txBody>
          <a:bodyPr wrap="square">
            <a:spAutoFit/>
          </a:bodyPr>
          <a:lstStyle/>
          <a:p>
            <a:r>
              <a:rPr lang="en-US" altLang="en-US" dirty="0">
                <a:solidFill>
                  <a:srgbClr val="006800"/>
                </a:solidFill>
                <a:latin typeface="Century Gothic" pitchFamily="34" charset="0"/>
                <a:cs typeface="Tahoma" pitchFamily="34" charset="0"/>
              </a:rPr>
              <a:t>World-leading manufacturers we represent</a:t>
            </a:r>
            <a:endParaRPr lang="en-US" dirty="0">
              <a:solidFill>
                <a:srgbClr val="006800"/>
              </a:solidFill>
            </a:endParaRPr>
          </a:p>
        </p:txBody>
      </p:sp>
      <p:pic>
        <p:nvPicPr>
          <p:cNvPr id="27" name="Picture 26">
            <a:extLst>
              <a:ext uri="{FF2B5EF4-FFF2-40B4-BE49-F238E27FC236}">
                <a16:creationId xmlns:a16="http://schemas.microsoft.com/office/drawing/2014/main" id="{00000000-0008-0000-0000-000003000000}"/>
              </a:ext>
            </a:extLst>
          </p:cNvPr>
          <p:cNvPicPr>
            <a:picLocks noChangeAspect="1"/>
          </p:cNvPicPr>
          <p:nvPr/>
        </p:nvPicPr>
        <p:blipFill>
          <a:blip r:embed="rId6"/>
          <a:stretch>
            <a:fillRect/>
          </a:stretch>
        </p:blipFill>
        <p:spPr>
          <a:xfrm>
            <a:off x="6158469" y="5620292"/>
            <a:ext cx="2559208" cy="1096804"/>
          </a:xfrm>
          <a:prstGeom prst="rect">
            <a:avLst/>
          </a:prstGeom>
        </p:spPr>
      </p:pic>
      <p:pic>
        <p:nvPicPr>
          <p:cNvPr id="45" name="Picture 44"/>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083807" y="4540991"/>
            <a:ext cx="2477229" cy="616829"/>
          </a:xfrm>
          <a:prstGeom prst="rect">
            <a:avLst/>
          </a:prstGeom>
        </p:spPr>
      </p:pic>
      <p:pic>
        <p:nvPicPr>
          <p:cNvPr id="46" name="Picture 45" descr="_1_0991D6900991CD100036F4AAC1257CFB">
            <a:extLst>
              <a:ext uri="{FF2B5EF4-FFF2-40B4-BE49-F238E27FC236}">
                <a16:creationId xmlns:a16="http://schemas.microsoft.com/office/drawing/2014/main" id="{00000000-0008-0000-0000-000009000000}"/>
              </a:ext>
            </a:extLst>
          </p:cNvPr>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3493025" y="5952181"/>
            <a:ext cx="2103936" cy="582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4" name="Picture 2" descr="Merger documents"/>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660132" y="1885837"/>
            <a:ext cx="3343047" cy="72329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IFF">
            <a:extLst>
              <a:ext uri="{FF2B5EF4-FFF2-40B4-BE49-F238E27FC236}">
                <a16:creationId xmlns:a16="http://schemas.microsoft.com/office/drawing/2014/main" id="{7864BCFD-7FF1-8908-647A-664805AB3B52}"/>
              </a:ext>
            </a:extLst>
          </p:cNvPr>
          <p:cNvPicPr>
            <a:picLocks noChangeAspect="1" noChangeArrowheads="1"/>
          </p:cNvPicPr>
          <p:nvPr/>
        </p:nvPicPr>
        <p:blipFill rotWithShape="1">
          <a:blip r:embed="rId10" cstate="email">
            <a:extLst>
              <a:ext uri="{28A0092B-C50C-407E-A947-70E740481C1C}">
                <a14:useLocalDpi xmlns:a14="http://schemas.microsoft.com/office/drawing/2010/main"/>
              </a:ext>
            </a:extLst>
          </a:blip>
          <a:srcRect t="22271" b="12778"/>
          <a:stretch/>
        </p:blipFill>
        <p:spPr bwMode="auto">
          <a:xfrm>
            <a:off x="5215121" y="1760617"/>
            <a:ext cx="1761755" cy="11442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anxess - Wikipedia">
            <a:extLst>
              <a:ext uri="{FF2B5EF4-FFF2-40B4-BE49-F238E27FC236}">
                <a16:creationId xmlns:a16="http://schemas.microsoft.com/office/drawing/2014/main" id="{F070478E-C021-C1B7-705A-3656C7E979BF}"/>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9155748" y="1760617"/>
            <a:ext cx="2097879" cy="87936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EFAC7E58-2EA3-4B07-9D43-39224250CC14}"/>
              </a:ext>
            </a:extLst>
          </p:cNvPr>
          <p:cNvPicPr>
            <a:picLocks noChangeAspect="1"/>
          </p:cNvPicPr>
          <p:nvPr/>
        </p:nvPicPr>
        <p:blipFill rotWithShape="1">
          <a:blip r:embed="rId12" cstate="email">
            <a:extLst>
              <a:ext uri="{28A0092B-C50C-407E-A947-70E740481C1C}">
                <a14:useLocalDpi xmlns:a14="http://schemas.microsoft.com/office/drawing/2010/main"/>
              </a:ext>
            </a:extLst>
          </a:blip>
          <a:srcRect/>
          <a:stretch/>
        </p:blipFill>
        <p:spPr>
          <a:xfrm>
            <a:off x="9885656" y="7192802"/>
            <a:ext cx="1501436" cy="1351292"/>
          </a:xfrm>
          <a:prstGeom prst="ellipse">
            <a:avLst/>
          </a:prstGeom>
        </p:spPr>
      </p:pic>
      <p:pic>
        <p:nvPicPr>
          <p:cNvPr id="37" name="Picture 36" descr="cid:image003.jpg@01D3B177.A30BA3F0">
            <a:extLst>
              <a:ext uri="{FF2B5EF4-FFF2-40B4-BE49-F238E27FC236}">
                <a16:creationId xmlns:a16="http://schemas.microsoft.com/office/drawing/2014/main" id="{4F98E256-DA9B-486C-9F81-23E5E4A00C63}"/>
              </a:ext>
            </a:extLst>
          </p:cNvPr>
          <p:cNvPicPr>
            <a:picLocks noChangeAspect="1" noChangeArrowheads="1"/>
          </p:cNvPicPr>
          <p:nvPr/>
        </p:nvPicPr>
        <p:blipFill>
          <a:blip r:embed="rId13" r:link="rId14">
            <a:extLst>
              <a:ext uri="{28A0092B-C50C-407E-A947-70E740481C1C}">
                <a14:useLocalDpi xmlns:a14="http://schemas.microsoft.com/office/drawing/2010/main"/>
              </a:ext>
            </a:extLst>
          </a:blip>
          <a:srcRect/>
          <a:stretch>
            <a:fillRect/>
          </a:stretch>
        </p:blipFill>
        <p:spPr bwMode="auto">
          <a:xfrm>
            <a:off x="8990495" y="3125836"/>
            <a:ext cx="2663854" cy="675523"/>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2">
            <a:extLst>
              <a:ext uri="{FF2B5EF4-FFF2-40B4-BE49-F238E27FC236}">
                <a16:creationId xmlns:a16="http://schemas.microsoft.com/office/drawing/2014/main" id="{947AE02E-D516-58DE-1825-3F2CB264DD33}"/>
              </a:ext>
            </a:extLst>
          </p:cNvPr>
          <p:cNvGrpSpPr/>
          <p:nvPr/>
        </p:nvGrpSpPr>
        <p:grpSpPr>
          <a:xfrm>
            <a:off x="3118991" y="294668"/>
            <a:ext cx="3206924" cy="530891"/>
            <a:chOff x="4160710" y="152186"/>
            <a:chExt cx="7468340" cy="1236347"/>
          </a:xfrm>
        </p:grpSpPr>
        <p:pic>
          <p:nvPicPr>
            <p:cNvPr id="4" name="Picture 3">
              <a:extLst>
                <a:ext uri="{FF2B5EF4-FFF2-40B4-BE49-F238E27FC236}">
                  <a16:creationId xmlns:a16="http://schemas.microsoft.com/office/drawing/2014/main" id="{845A32EC-1262-2EEF-AF7F-144085EA6352}"/>
                </a:ext>
              </a:extLst>
            </p:cNvPr>
            <p:cNvPicPr>
              <a:picLocks noChangeAspect="1"/>
            </p:cNvPicPr>
            <p:nvPr/>
          </p:nvPicPr>
          <p:blipFill rotWithShape="1">
            <a:blip r:embed="rId15"/>
            <a:srcRect l="24000" t="30128" r="23579" b="58286"/>
            <a:stretch/>
          </p:blipFill>
          <p:spPr>
            <a:xfrm>
              <a:off x="5125178" y="170201"/>
              <a:ext cx="6503872" cy="1078087"/>
            </a:xfrm>
            <a:prstGeom prst="rect">
              <a:avLst/>
            </a:prstGeom>
          </p:spPr>
        </p:pic>
        <p:pic>
          <p:nvPicPr>
            <p:cNvPr id="5" name="Picture 4">
              <a:extLst>
                <a:ext uri="{FF2B5EF4-FFF2-40B4-BE49-F238E27FC236}">
                  <a16:creationId xmlns:a16="http://schemas.microsoft.com/office/drawing/2014/main" id="{D1A37572-D1E2-5E73-95BE-36EF984980BA}"/>
                </a:ext>
              </a:extLst>
            </p:cNvPr>
            <p:cNvPicPr>
              <a:picLocks noChangeAspect="1"/>
            </p:cNvPicPr>
            <p:nvPr/>
          </p:nvPicPr>
          <p:blipFill rotWithShape="1">
            <a:blip r:embed="rId15"/>
            <a:srcRect l="43239" t="10955" r="42914" b="68933"/>
            <a:stretch/>
          </p:blipFill>
          <p:spPr>
            <a:xfrm>
              <a:off x="4160710" y="152186"/>
              <a:ext cx="1134948" cy="1236347"/>
            </a:xfrm>
            <a:prstGeom prst="rect">
              <a:avLst/>
            </a:prstGeom>
          </p:spPr>
        </p:pic>
      </p:grpSp>
      <p:pic>
        <p:nvPicPr>
          <p:cNvPr id="7" name="Picture 16">
            <a:extLst>
              <a:ext uri="{FF2B5EF4-FFF2-40B4-BE49-F238E27FC236}">
                <a16:creationId xmlns:a16="http://schemas.microsoft.com/office/drawing/2014/main" id="{F521E8DC-C8D7-17AA-7635-8E7DC244E6B6}"/>
              </a:ext>
            </a:extLst>
          </p:cNvPr>
          <p:cNvPicPr>
            <a:picLocks noChangeAspect="1"/>
          </p:cNvPicPr>
          <p:nvPr/>
        </p:nvPicPr>
        <p:blipFill>
          <a:blip r:embed="rId16" cstate="email">
            <a:extLst>
              <a:ext uri="{28A0092B-C50C-407E-A947-70E740481C1C}">
                <a14:useLocalDpi xmlns:a14="http://schemas.microsoft.com/office/drawing/2010/main"/>
              </a:ext>
            </a:extLst>
          </a:blip>
          <a:srcRect/>
          <a:stretch>
            <a:fillRect/>
          </a:stretch>
        </p:blipFill>
        <p:spPr bwMode="auto">
          <a:xfrm>
            <a:off x="972691" y="3111799"/>
            <a:ext cx="2389975" cy="818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B6C0BEF3-D2E9-9A8E-7B9C-94C71195D4A6}"/>
              </a:ext>
            </a:extLst>
          </p:cNvPr>
          <p:cNvPicPr>
            <a:picLocks noChangeAspect="1"/>
          </p:cNvPicPr>
          <p:nvPr/>
        </p:nvPicPr>
        <p:blipFill>
          <a:blip r:embed="rId17" cstate="email">
            <a:extLst>
              <a:ext uri="{28A0092B-C50C-407E-A947-70E740481C1C}">
                <a14:useLocalDpi xmlns:a14="http://schemas.microsoft.com/office/drawing/2010/main"/>
              </a:ext>
            </a:extLst>
          </a:blip>
          <a:stretch>
            <a:fillRect/>
          </a:stretch>
        </p:blipFill>
        <p:spPr>
          <a:xfrm>
            <a:off x="4321214" y="2883187"/>
            <a:ext cx="3451653" cy="1112065"/>
          </a:xfrm>
          <a:prstGeom prst="rect">
            <a:avLst/>
          </a:prstGeom>
        </p:spPr>
      </p:pic>
      <p:grpSp>
        <p:nvGrpSpPr>
          <p:cNvPr id="9" name="Group 8">
            <a:extLst>
              <a:ext uri="{FF2B5EF4-FFF2-40B4-BE49-F238E27FC236}">
                <a16:creationId xmlns:a16="http://schemas.microsoft.com/office/drawing/2014/main" id="{A32199ED-3F9D-DBA6-EB73-CCCCAEB969CA}"/>
              </a:ext>
            </a:extLst>
          </p:cNvPr>
          <p:cNvGrpSpPr/>
          <p:nvPr/>
        </p:nvGrpSpPr>
        <p:grpSpPr>
          <a:xfrm>
            <a:off x="4370171" y="4322086"/>
            <a:ext cx="3451653" cy="1096804"/>
            <a:chOff x="4400749" y="2231522"/>
            <a:chExt cx="4598108" cy="1430425"/>
          </a:xfrm>
        </p:grpSpPr>
        <p:pic>
          <p:nvPicPr>
            <p:cNvPr id="10" name="Picture 9" descr="http://www.thecarycompany.com/media/catalog/category/vanderbilt-minerals.gif">
              <a:extLst>
                <a:ext uri="{FF2B5EF4-FFF2-40B4-BE49-F238E27FC236}">
                  <a16:creationId xmlns:a16="http://schemas.microsoft.com/office/drawing/2014/main" id="{806E61BD-5BFA-F9A4-7BDF-0BC5031A2098}"/>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4501355" y="2231522"/>
              <a:ext cx="4387686" cy="53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a:extLst>
                <a:ext uri="{FF2B5EF4-FFF2-40B4-BE49-F238E27FC236}">
                  <a16:creationId xmlns:a16="http://schemas.microsoft.com/office/drawing/2014/main" id="{67BDF9F3-BD81-A341-DCDF-1AB851BFA723}"/>
                </a:ext>
              </a:extLst>
            </p:cNvPr>
            <p:cNvPicPr>
              <a:picLocks noChangeAspect="1"/>
            </p:cNvPicPr>
            <p:nvPr/>
          </p:nvPicPr>
          <p:blipFill>
            <a:blip r:embed="rId19"/>
            <a:stretch>
              <a:fillRect/>
            </a:stretch>
          </p:blipFill>
          <p:spPr>
            <a:xfrm>
              <a:off x="4400749" y="2833716"/>
              <a:ext cx="4598108" cy="828231"/>
            </a:xfrm>
            <a:prstGeom prst="rect">
              <a:avLst/>
            </a:prstGeom>
          </p:spPr>
        </p:pic>
      </p:grpSp>
      <p:pic>
        <p:nvPicPr>
          <p:cNvPr id="12" name="Picture 11">
            <a:extLst>
              <a:ext uri="{FF2B5EF4-FFF2-40B4-BE49-F238E27FC236}">
                <a16:creationId xmlns:a16="http://schemas.microsoft.com/office/drawing/2014/main" id="{E73C82DC-4027-E5B8-2F9A-518BBA33AD2B}"/>
              </a:ext>
            </a:extLst>
          </p:cNvPr>
          <p:cNvPicPr>
            <a:picLocks noChangeAspect="1"/>
          </p:cNvPicPr>
          <p:nvPr/>
        </p:nvPicPr>
        <p:blipFill>
          <a:blip r:embed="rId20"/>
          <a:srcRect t="17320" b="34458"/>
          <a:stretch/>
        </p:blipFill>
        <p:spPr>
          <a:xfrm>
            <a:off x="712571" y="4263088"/>
            <a:ext cx="3003803" cy="858182"/>
          </a:xfrm>
          <a:prstGeom prst="rect">
            <a:avLst/>
          </a:prstGeom>
        </p:spPr>
      </p:pic>
      <p:pic>
        <p:nvPicPr>
          <p:cNvPr id="13" name="Picture 12">
            <a:extLst>
              <a:ext uri="{FF2B5EF4-FFF2-40B4-BE49-F238E27FC236}">
                <a16:creationId xmlns:a16="http://schemas.microsoft.com/office/drawing/2014/main" id="{E3034D5E-9412-01B7-6545-1FF7CB996F16}"/>
              </a:ext>
            </a:extLst>
          </p:cNvPr>
          <p:cNvPicPr>
            <a:picLocks noChangeAspect="1"/>
          </p:cNvPicPr>
          <p:nvPr/>
        </p:nvPicPr>
        <p:blipFill>
          <a:blip r:embed="rId21" cstate="email">
            <a:extLst>
              <a:ext uri="{28A0092B-C50C-407E-A947-70E740481C1C}">
                <a14:useLocalDpi xmlns:a14="http://schemas.microsoft.com/office/drawing/2010/main"/>
              </a:ext>
            </a:extLst>
          </a:blip>
          <a:stretch>
            <a:fillRect/>
          </a:stretch>
        </p:blipFill>
        <p:spPr>
          <a:xfrm>
            <a:off x="3735290" y="7119583"/>
            <a:ext cx="1814825" cy="277160"/>
          </a:xfrm>
          <a:prstGeom prst="rect">
            <a:avLst/>
          </a:prstGeom>
        </p:spPr>
      </p:pic>
      <p:pic>
        <p:nvPicPr>
          <p:cNvPr id="14" name="Picture 6" descr="Thermo Fisher Scientific - Wikipedia">
            <a:extLst>
              <a:ext uri="{FF2B5EF4-FFF2-40B4-BE49-F238E27FC236}">
                <a16:creationId xmlns:a16="http://schemas.microsoft.com/office/drawing/2014/main" id="{3A1B99BE-0D63-7AD7-0B06-3204A23D7DF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13590" y="5631934"/>
            <a:ext cx="2025108" cy="93492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F1C174BB-FB91-0396-E22B-40EC29C6251F}"/>
              </a:ext>
            </a:extLst>
          </p:cNvPr>
          <p:cNvPicPr>
            <a:picLocks noChangeAspect="1"/>
          </p:cNvPicPr>
          <p:nvPr/>
        </p:nvPicPr>
        <p:blipFill>
          <a:blip r:embed="rId23"/>
          <a:stretch>
            <a:fillRect/>
          </a:stretch>
        </p:blipFill>
        <p:spPr>
          <a:xfrm>
            <a:off x="3452915" y="7827935"/>
            <a:ext cx="2873000" cy="904995"/>
          </a:xfrm>
          <a:prstGeom prst="rect">
            <a:avLst/>
          </a:prstGeom>
        </p:spPr>
      </p:pic>
      <p:pic>
        <p:nvPicPr>
          <p:cNvPr id="16" name="Picture 15">
            <a:extLst>
              <a:ext uri="{FF2B5EF4-FFF2-40B4-BE49-F238E27FC236}">
                <a16:creationId xmlns:a16="http://schemas.microsoft.com/office/drawing/2014/main" id="{21C0AF5A-1B1D-903E-77FD-9FA17472BB92}"/>
              </a:ext>
            </a:extLst>
          </p:cNvPr>
          <p:cNvPicPr>
            <a:picLocks noChangeAspect="1"/>
          </p:cNvPicPr>
          <p:nvPr/>
        </p:nvPicPr>
        <p:blipFill>
          <a:blip r:embed="rId24"/>
          <a:stretch>
            <a:fillRect/>
          </a:stretch>
        </p:blipFill>
        <p:spPr>
          <a:xfrm>
            <a:off x="6848239" y="6922619"/>
            <a:ext cx="2419350" cy="1885950"/>
          </a:xfrm>
          <a:prstGeom prst="rect">
            <a:avLst/>
          </a:prstGeom>
        </p:spPr>
      </p:pic>
      <p:pic>
        <p:nvPicPr>
          <p:cNvPr id="17" name="Picture 16">
            <a:extLst>
              <a:ext uri="{FF2B5EF4-FFF2-40B4-BE49-F238E27FC236}">
                <a16:creationId xmlns:a16="http://schemas.microsoft.com/office/drawing/2014/main" id="{6E912324-9F3C-FBB2-FCC7-17B8419AF18C}"/>
              </a:ext>
            </a:extLst>
          </p:cNvPr>
          <p:cNvPicPr>
            <a:picLocks noChangeAspect="1"/>
          </p:cNvPicPr>
          <p:nvPr/>
        </p:nvPicPr>
        <p:blipFill>
          <a:blip r:embed="rId25"/>
          <a:stretch>
            <a:fillRect/>
          </a:stretch>
        </p:blipFill>
        <p:spPr>
          <a:xfrm>
            <a:off x="9448890" y="5600607"/>
            <a:ext cx="2374968" cy="1136173"/>
          </a:xfrm>
          <a:prstGeom prst="rect">
            <a:avLst/>
          </a:prstGeom>
        </p:spPr>
      </p:pic>
      <p:pic>
        <p:nvPicPr>
          <p:cNvPr id="18" name="Picture 17">
            <a:extLst>
              <a:ext uri="{FF2B5EF4-FFF2-40B4-BE49-F238E27FC236}">
                <a16:creationId xmlns:a16="http://schemas.microsoft.com/office/drawing/2014/main" id="{F4892BF7-84EE-858A-30A3-A45E77C71C35}"/>
              </a:ext>
            </a:extLst>
          </p:cNvPr>
          <p:cNvPicPr>
            <a:picLocks noChangeAspect="1"/>
          </p:cNvPicPr>
          <p:nvPr/>
        </p:nvPicPr>
        <p:blipFill>
          <a:blip r:embed="rId26"/>
          <a:srcRect l="16385" t="28369" r="12079" b="31839"/>
          <a:stretch/>
        </p:blipFill>
        <p:spPr>
          <a:xfrm>
            <a:off x="506429" y="7135173"/>
            <a:ext cx="2626108" cy="1460841"/>
          </a:xfrm>
          <a:prstGeom prst="rect">
            <a:avLst/>
          </a:prstGeom>
        </p:spPr>
      </p:pic>
    </p:spTree>
    <p:extLst>
      <p:ext uri="{BB962C8B-B14F-4D97-AF65-F5344CB8AC3E}">
        <p14:creationId xmlns:p14="http://schemas.microsoft.com/office/powerpoint/2010/main" val="267112853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BJC × CJ BIO: Thailand to Vietnam</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234440"/>
            <a:ext cx="5120640" cy="274320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1325880"/>
            <a:ext cx="4663440" cy="411480"/>
          </a:xfrm>
          <a:prstGeom prst="rect">
            <a:avLst/>
          </a:prstGeom>
          <a:noFill/>
        </p:spPr>
        <p:txBody>
          <a:bodyPr wrap="square" lIns="45720" tIns="27432" rIns="45720" bIns="27432" anchor="t"/>
          <a:lstStyle/>
          <a:p>
            <a:pPr algn="ctr"/>
            <a:r>
              <a:rPr sz="1700" b="1" i="0">
                <a:solidFill>
                  <a:srgbClr val="595959"/>
                </a:solidFill>
                <a:latin typeface="Calibri"/>
              </a:rPr>
              <a:t>THAILAND — TODAY</a:t>
            </a:r>
          </a:p>
        </p:txBody>
      </p:sp>
      <p:sp>
        <p:nvSpPr>
          <p:cNvPr id="10" name="Rounded Rectangle 9"/>
          <p:cNvSpPr/>
          <p:nvPr/>
        </p:nvSpPr>
        <p:spPr>
          <a:xfrm>
            <a:off x="731520" y="1874519"/>
            <a:ext cx="1874519" cy="960120"/>
          </a:xfrm>
          <a:prstGeom prst="roundRect">
            <a:avLst>
              <a:gd name="adj" fmla="val 12000"/>
            </a:avLst>
          </a:prstGeom>
          <a:solidFill>
            <a:srgbClr val="FFFFFF"/>
          </a:solidFill>
          <a:ln w="15875">
            <a:solidFill>
              <a:srgbClr val="284F3E"/>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CJ BIO Bangkok</a:t>
            </a:r>
          </a:p>
        </p:txBody>
      </p:sp>
      <p:sp>
        <p:nvSpPr>
          <p:cNvPr id="11" name="Rounded Rectangle 10"/>
          <p:cNvSpPr/>
          <p:nvPr/>
        </p:nvSpPr>
        <p:spPr>
          <a:xfrm>
            <a:off x="3429000" y="1874519"/>
            <a:ext cx="1874519" cy="960120"/>
          </a:xfrm>
          <a:prstGeom prst="roundRect">
            <a:avLst>
              <a:gd name="adj" fmla="val 12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BJC Thailand</a:t>
            </a:r>
          </a:p>
        </p:txBody>
      </p:sp>
      <p:sp>
        <p:nvSpPr>
          <p:cNvPr id="12" name="Left-Right Arrow 11"/>
          <p:cNvSpPr/>
          <p:nvPr/>
        </p:nvSpPr>
        <p:spPr>
          <a:xfrm>
            <a:off x="2697480" y="2167128"/>
            <a:ext cx="640080" cy="384048"/>
          </a:xfrm>
          <a:prstGeom prst="leftRightArrow">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971800"/>
            <a:ext cx="4663440" cy="914400"/>
          </a:xfrm>
          <a:prstGeom prst="rect">
            <a:avLst/>
          </a:prstGeom>
          <a:noFill/>
        </p:spPr>
        <p:txBody>
          <a:bodyPr wrap="square" lIns="45720" tIns="27432" rIns="45720" bIns="27432" anchor="ctr"/>
          <a:lstStyle/>
          <a:p>
            <a:pPr algn="ctr"/>
            <a:r>
              <a:rPr sz="1600" b="0" i="0">
                <a:solidFill>
                  <a:srgbClr val="262626"/>
                </a:solidFill>
                <a:latin typeface="Calibri"/>
              </a:rPr>
              <a:t>BJC is CJ BIO's distributor for TasteNrich® HYBIND &amp; FGAA</a:t>
            </a:r>
          </a:p>
        </p:txBody>
      </p:sp>
      <p:sp>
        <p:nvSpPr>
          <p:cNvPr id="14" name="Rounded Rectangle 13"/>
          <p:cNvSpPr/>
          <p:nvPr/>
        </p:nvSpPr>
        <p:spPr>
          <a:xfrm>
            <a:off x="6611112" y="1234440"/>
            <a:ext cx="5120640" cy="2743200"/>
          </a:xfrm>
          <a:prstGeom prst="roundRect">
            <a:avLst>
              <a:gd name="adj" fmla="val 6000"/>
            </a:avLst>
          </a:prstGeom>
          <a:solidFill>
            <a:srgbClr val="EAF5EE"/>
          </a:solidFill>
          <a:ln w="1905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839712" y="1325880"/>
            <a:ext cx="4663440" cy="411480"/>
          </a:xfrm>
          <a:prstGeom prst="rect">
            <a:avLst/>
          </a:prstGeom>
          <a:noFill/>
        </p:spPr>
        <p:txBody>
          <a:bodyPr wrap="square" lIns="45720" tIns="27432" rIns="45720" bIns="27432" anchor="t"/>
          <a:lstStyle/>
          <a:p>
            <a:pPr algn="ctr"/>
            <a:r>
              <a:rPr sz="1700" b="1" i="0">
                <a:solidFill>
                  <a:srgbClr val="1E9E57"/>
                </a:solidFill>
                <a:latin typeface="Calibri"/>
              </a:rPr>
              <a:t>VIETNAM — PROPOSED</a:t>
            </a:r>
          </a:p>
        </p:txBody>
      </p:sp>
      <p:sp>
        <p:nvSpPr>
          <p:cNvPr id="16" name="Rounded Rectangle 15"/>
          <p:cNvSpPr/>
          <p:nvPr/>
        </p:nvSpPr>
        <p:spPr>
          <a:xfrm>
            <a:off x="6885432" y="1874519"/>
            <a:ext cx="1874519" cy="960120"/>
          </a:xfrm>
          <a:prstGeom prst="roundRect">
            <a:avLst>
              <a:gd name="adj" fmla="val 12000"/>
            </a:avLst>
          </a:prstGeom>
          <a:solidFill>
            <a:srgbClr val="FFFFFF"/>
          </a:solidFill>
          <a:ln w="15875">
            <a:solidFill>
              <a:srgbClr val="284F3E"/>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CJ BIO Vietnam</a:t>
            </a:r>
          </a:p>
        </p:txBody>
      </p:sp>
      <p:sp>
        <p:nvSpPr>
          <p:cNvPr id="17" name="Rounded Rectangle 16"/>
          <p:cNvSpPr/>
          <p:nvPr/>
        </p:nvSpPr>
        <p:spPr>
          <a:xfrm>
            <a:off x="9582912" y="1874519"/>
            <a:ext cx="1874519" cy="960120"/>
          </a:xfrm>
          <a:prstGeom prst="roundRect">
            <a:avLst>
              <a:gd name="adj" fmla="val 12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BJCS Vietnam</a:t>
            </a:r>
          </a:p>
        </p:txBody>
      </p:sp>
      <p:sp>
        <p:nvSpPr>
          <p:cNvPr id="18" name="Left-Right Arrow 17"/>
          <p:cNvSpPr/>
          <p:nvPr/>
        </p:nvSpPr>
        <p:spPr>
          <a:xfrm>
            <a:off x="8851392" y="2167128"/>
            <a:ext cx="640080" cy="384048"/>
          </a:xfrm>
          <a:prstGeom prst="leftRightArrow">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39712" y="2971800"/>
            <a:ext cx="4663440" cy="914400"/>
          </a:xfrm>
          <a:prstGeom prst="rect">
            <a:avLst/>
          </a:prstGeom>
          <a:noFill/>
        </p:spPr>
        <p:txBody>
          <a:bodyPr wrap="square" lIns="45720" tIns="27432" rIns="45720" bIns="27432" anchor="ctr"/>
          <a:lstStyle/>
          <a:p>
            <a:pPr algn="ctr"/>
            <a:r>
              <a:rPr sz="1600" b="0" i="0">
                <a:solidFill>
                  <a:srgbClr val="262626"/>
                </a:solidFill>
                <a:latin typeface="Calibri"/>
              </a:rPr>
              <a:t>Same portfolio · same partner · dedicated local team</a:t>
            </a:r>
          </a:p>
        </p:txBody>
      </p:sp>
      <p:sp>
        <p:nvSpPr>
          <p:cNvPr id="20" name="Right Arrow 19"/>
          <p:cNvSpPr/>
          <p:nvPr/>
        </p:nvSpPr>
        <p:spPr>
          <a:xfrm>
            <a:off x="5715000" y="2148840"/>
            <a:ext cx="777240" cy="868680"/>
          </a:xfrm>
          <a:prstGeom prst="rightArrow">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200" y="4206240"/>
            <a:ext cx="11274552" cy="457200"/>
          </a:xfrm>
          <a:prstGeom prst="rect">
            <a:avLst/>
          </a:prstGeom>
          <a:noFill/>
        </p:spPr>
        <p:txBody>
          <a:bodyPr wrap="square" lIns="45720" tIns="27432" rIns="45720" bIns="27432" anchor="t"/>
          <a:lstStyle/>
          <a:p>
            <a:pPr algn="l"/>
            <a:r>
              <a:rPr sz="2000" b="1" i="0">
                <a:solidFill>
                  <a:srgbClr val="284F3E"/>
                </a:solidFill>
                <a:latin typeface="Calibri"/>
              </a:rPr>
              <a:t>What CJ BIO gains</a:t>
            </a:r>
          </a:p>
        </p:txBody>
      </p:sp>
      <p:sp>
        <p:nvSpPr>
          <p:cNvPr id="22" name="Rounded Rectangle 21"/>
          <p:cNvSpPr/>
          <p:nvPr/>
        </p:nvSpPr>
        <p:spPr>
          <a:xfrm>
            <a:off x="457200" y="4754880"/>
            <a:ext cx="2651760" cy="365760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1371600" y="4937760"/>
            <a:ext cx="822960" cy="8229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globe_w.png"/>
          <p:cNvPicPr>
            <a:picLocks noChangeAspect="1"/>
          </p:cNvPicPr>
          <p:nvPr/>
        </p:nvPicPr>
        <p:blipFill>
          <a:blip r:embed="rId7"/>
          <a:stretch>
            <a:fillRect/>
          </a:stretch>
        </p:blipFill>
        <p:spPr>
          <a:xfrm>
            <a:off x="1569110" y="5135270"/>
            <a:ext cx="427939" cy="427939"/>
          </a:xfrm>
          <a:prstGeom prst="rect">
            <a:avLst/>
          </a:prstGeom>
        </p:spPr>
      </p:pic>
      <p:sp>
        <p:nvSpPr>
          <p:cNvPr id="25" name="TextBox 24"/>
          <p:cNvSpPr txBox="1"/>
          <p:nvPr/>
        </p:nvSpPr>
        <p:spPr>
          <a:xfrm>
            <a:off x="594360" y="5852160"/>
            <a:ext cx="2377440" cy="685800"/>
          </a:xfrm>
          <a:prstGeom prst="rect">
            <a:avLst/>
          </a:prstGeom>
          <a:noFill/>
        </p:spPr>
        <p:txBody>
          <a:bodyPr wrap="square" lIns="45720" tIns="27432" rIns="45720" bIns="27432" anchor="ctr"/>
          <a:lstStyle/>
          <a:p>
            <a:pPr algn="ctr"/>
            <a:r>
              <a:rPr sz="1700" b="1" i="0">
                <a:solidFill>
                  <a:srgbClr val="284F3E"/>
                </a:solidFill>
                <a:latin typeface="Calibri"/>
              </a:rPr>
              <a:t>One regional partner</a:t>
            </a:r>
          </a:p>
        </p:txBody>
      </p:sp>
      <p:sp>
        <p:nvSpPr>
          <p:cNvPr id="26" name="TextBox 25"/>
          <p:cNvSpPr txBox="1"/>
          <p:nvPr/>
        </p:nvSpPr>
        <p:spPr>
          <a:xfrm>
            <a:off x="594360" y="6537960"/>
            <a:ext cx="2377440" cy="1828800"/>
          </a:xfrm>
          <a:prstGeom prst="rect">
            <a:avLst/>
          </a:prstGeom>
          <a:noFill/>
        </p:spPr>
        <p:txBody>
          <a:bodyPr wrap="square" lIns="45720" tIns="27432" rIns="45720" bIns="27432" anchor="t"/>
          <a:lstStyle/>
          <a:p>
            <a:pPr algn="ctr"/>
            <a:r>
              <a:rPr sz="1500" b="0" i="0">
                <a:solidFill>
                  <a:srgbClr val="262626"/>
                </a:solidFill>
                <a:latin typeface="Calibri"/>
              </a:rPr>
              <a:t>Consistent positioning, pricing discipline and key-account approach across Thailand and Vietnam.</a:t>
            </a:r>
          </a:p>
        </p:txBody>
      </p:sp>
      <p:sp>
        <p:nvSpPr>
          <p:cNvPr id="27" name="Rounded Rectangle 26"/>
          <p:cNvSpPr/>
          <p:nvPr/>
        </p:nvSpPr>
        <p:spPr>
          <a:xfrm>
            <a:off x="3319272" y="4754880"/>
            <a:ext cx="2651760" cy="365760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Oval 27"/>
          <p:cNvSpPr/>
          <p:nvPr/>
        </p:nvSpPr>
        <p:spPr>
          <a:xfrm>
            <a:off x="4233672" y="4937760"/>
            <a:ext cx="822960" cy="8229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Picture 28" descr="rocket_w.png"/>
          <p:cNvPicPr>
            <a:picLocks noChangeAspect="1"/>
          </p:cNvPicPr>
          <p:nvPr/>
        </p:nvPicPr>
        <p:blipFill>
          <a:blip r:embed="rId8"/>
          <a:stretch>
            <a:fillRect/>
          </a:stretch>
        </p:blipFill>
        <p:spPr>
          <a:xfrm>
            <a:off x="4431182" y="5135270"/>
            <a:ext cx="427939" cy="427939"/>
          </a:xfrm>
          <a:prstGeom prst="rect">
            <a:avLst/>
          </a:prstGeom>
        </p:spPr>
      </p:pic>
      <p:sp>
        <p:nvSpPr>
          <p:cNvPr id="30" name="TextBox 29"/>
          <p:cNvSpPr txBox="1"/>
          <p:nvPr/>
        </p:nvSpPr>
        <p:spPr>
          <a:xfrm>
            <a:off x="3456432" y="5852160"/>
            <a:ext cx="2377440" cy="685800"/>
          </a:xfrm>
          <a:prstGeom prst="rect">
            <a:avLst/>
          </a:prstGeom>
          <a:noFill/>
        </p:spPr>
        <p:txBody>
          <a:bodyPr wrap="square" lIns="45720" tIns="27432" rIns="45720" bIns="27432" anchor="ctr"/>
          <a:lstStyle/>
          <a:p>
            <a:pPr algn="ctr"/>
            <a:r>
              <a:rPr sz="1700" b="1" i="0">
                <a:solidFill>
                  <a:srgbClr val="284F3E"/>
                </a:solidFill>
                <a:latin typeface="Calibri"/>
              </a:rPr>
              <a:t>Faster ramp-up</a:t>
            </a:r>
          </a:p>
        </p:txBody>
      </p:sp>
      <p:sp>
        <p:nvSpPr>
          <p:cNvPr id="31" name="TextBox 30"/>
          <p:cNvSpPr txBox="1"/>
          <p:nvPr/>
        </p:nvSpPr>
        <p:spPr>
          <a:xfrm>
            <a:off x="3456432" y="6537960"/>
            <a:ext cx="2377440" cy="1828800"/>
          </a:xfrm>
          <a:prstGeom prst="rect">
            <a:avLst/>
          </a:prstGeom>
          <a:noFill/>
        </p:spPr>
        <p:txBody>
          <a:bodyPr wrap="square" lIns="45720" tIns="27432" rIns="45720" bIns="27432" anchor="t"/>
          <a:lstStyle/>
          <a:p>
            <a:pPr algn="ctr"/>
            <a:r>
              <a:rPr sz="1500" b="0" i="0">
                <a:solidFill>
                  <a:srgbClr val="262626"/>
                </a:solidFill>
                <a:latin typeface="Calibri"/>
              </a:rPr>
              <a:t>Product know-how, application learnings and references shared from BJC Thailand with the Vietnam team.</a:t>
            </a:r>
          </a:p>
        </p:txBody>
      </p:sp>
      <p:sp>
        <p:nvSpPr>
          <p:cNvPr id="32" name="Rounded Rectangle 31"/>
          <p:cNvSpPr/>
          <p:nvPr/>
        </p:nvSpPr>
        <p:spPr>
          <a:xfrm>
            <a:off x="6181344" y="4754880"/>
            <a:ext cx="2651760" cy="365760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Oval 32"/>
          <p:cNvSpPr/>
          <p:nvPr/>
        </p:nvSpPr>
        <p:spPr>
          <a:xfrm>
            <a:off x="7095744" y="4937760"/>
            <a:ext cx="822960" cy="8229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flask_w.png"/>
          <p:cNvPicPr>
            <a:picLocks noChangeAspect="1"/>
          </p:cNvPicPr>
          <p:nvPr/>
        </p:nvPicPr>
        <p:blipFill>
          <a:blip r:embed="rId9"/>
          <a:stretch>
            <a:fillRect/>
          </a:stretch>
        </p:blipFill>
        <p:spPr>
          <a:xfrm>
            <a:off x="7293254" y="5135270"/>
            <a:ext cx="427939" cy="427939"/>
          </a:xfrm>
          <a:prstGeom prst="rect">
            <a:avLst/>
          </a:prstGeom>
        </p:spPr>
      </p:pic>
      <p:sp>
        <p:nvSpPr>
          <p:cNvPr id="35" name="TextBox 34"/>
          <p:cNvSpPr txBox="1"/>
          <p:nvPr/>
        </p:nvSpPr>
        <p:spPr>
          <a:xfrm>
            <a:off x="6318504" y="5852160"/>
            <a:ext cx="2377440" cy="685800"/>
          </a:xfrm>
          <a:prstGeom prst="rect">
            <a:avLst/>
          </a:prstGeom>
          <a:noFill/>
        </p:spPr>
        <p:txBody>
          <a:bodyPr wrap="square" lIns="45720" tIns="27432" rIns="45720" bIns="27432" anchor="ctr"/>
          <a:lstStyle/>
          <a:p>
            <a:pPr algn="ctr"/>
            <a:r>
              <a:rPr sz="1700" b="1" i="0">
                <a:solidFill>
                  <a:srgbClr val="284F3E"/>
                </a:solidFill>
                <a:latin typeface="Calibri"/>
              </a:rPr>
              <a:t>Shared technical resources</a:t>
            </a:r>
          </a:p>
        </p:txBody>
      </p:sp>
      <p:sp>
        <p:nvSpPr>
          <p:cNvPr id="36" name="TextBox 35"/>
          <p:cNvSpPr txBox="1"/>
          <p:nvPr/>
        </p:nvSpPr>
        <p:spPr>
          <a:xfrm>
            <a:off x="6318504" y="6537960"/>
            <a:ext cx="2377440" cy="1828800"/>
          </a:xfrm>
          <a:prstGeom prst="rect">
            <a:avLst/>
          </a:prstGeom>
          <a:noFill/>
        </p:spPr>
        <p:txBody>
          <a:bodyPr wrap="square" lIns="45720" tIns="27432" rIns="45720" bIns="27432" anchor="t"/>
          <a:lstStyle/>
          <a:p>
            <a:pPr algn="ctr"/>
            <a:r>
              <a:rPr sz="1500" b="0" i="0">
                <a:solidFill>
                  <a:srgbClr val="262626"/>
                </a:solidFill>
                <a:latin typeface="Calibri"/>
              </a:rPr>
              <a:t>BJCS Application Lab in Bangkok for meat trials, demos and customer training.</a:t>
            </a:r>
          </a:p>
        </p:txBody>
      </p:sp>
      <p:sp>
        <p:nvSpPr>
          <p:cNvPr id="37" name="Rounded Rectangle 36"/>
          <p:cNvSpPr/>
          <p:nvPr/>
        </p:nvSpPr>
        <p:spPr>
          <a:xfrm>
            <a:off x="9043416" y="4754880"/>
            <a:ext cx="2651760" cy="365760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9957816" y="4937760"/>
            <a:ext cx="822960" cy="8229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sitemap_w.png"/>
          <p:cNvPicPr>
            <a:picLocks noChangeAspect="1"/>
          </p:cNvPicPr>
          <p:nvPr/>
        </p:nvPicPr>
        <p:blipFill>
          <a:blip r:embed="rId10"/>
          <a:stretch>
            <a:fillRect/>
          </a:stretch>
        </p:blipFill>
        <p:spPr>
          <a:xfrm>
            <a:off x="10155326" y="5135270"/>
            <a:ext cx="427939" cy="427939"/>
          </a:xfrm>
          <a:prstGeom prst="rect">
            <a:avLst/>
          </a:prstGeom>
        </p:spPr>
      </p:pic>
      <p:sp>
        <p:nvSpPr>
          <p:cNvPr id="40" name="TextBox 39"/>
          <p:cNvSpPr txBox="1"/>
          <p:nvPr/>
        </p:nvSpPr>
        <p:spPr>
          <a:xfrm>
            <a:off x="9180576" y="5852160"/>
            <a:ext cx="2377440" cy="685800"/>
          </a:xfrm>
          <a:prstGeom prst="rect">
            <a:avLst/>
          </a:prstGeom>
          <a:noFill/>
        </p:spPr>
        <p:txBody>
          <a:bodyPr wrap="square" lIns="45720" tIns="27432" rIns="45720" bIns="27432" anchor="ctr"/>
          <a:lstStyle/>
          <a:p>
            <a:pPr algn="ctr"/>
            <a:r>
              <a:rPr sz="1700" b="1" i="0">
                <a:solidFill>
                  <a:srgbClr val="284F3E"/>
                </a:solidFill>
                <a:latin typeface="Calibri"/>
              </a:rPr>
              <a:t>Regional sponsorship</a:t>
            </a:r>
          </a:p>
        </p:txBody>
      </p:sp>
      <p:sp>
        <p:nvSpPr>
          <p:cNvPr id="41" name="TextBox 40"/>
          <p:cNvSpPr txBox="1"/>
          <p:nvPr/>
        </p:nvSpPr>
        <p:spPr>
          <a:xfrm>
            <a:off x="9180576" y="6537960"/>
            <a:ext cx="2377440" cy="1828800"/>
          </a:xfrm>
          <a:prstGeom prst="rect">
            <a:avLst/>
          </a:prstGeom>
          <a:noFill/>
        </p:spPr>
        <p:txBody>
          <a:bodyPr wrap="square" lIns="45720" tIns="27432" rIns="45720" bIns="27432" anchor="t"/>
          <a:lstStyle/>
          <a:p>
            <a:pPr algn="ctr"/>
            <a:r>
              <a:rPr sz="1500" b="0" i="0">
                <a:solidFill>
                  <a:srgbClr val="262626"/>
                </a:solidFill>
                <a:latin typeface="Calibri"/>
              </a:rPr>
              <a:t>BJC regional management oversight, with a dedicated local team executing in Vietnam.</a:t>
            </a:r>
          </a:p>
        </p:txBody>
      </p:sp>
      <p:sp>
        <p:nvSpPr>
          <p:cNvPr id="42" name="TextBox 41"/>
          <p:cNvSpPr txBox="1"/>
          <p:nvPr/>
        </p:nvSpPr>
        <p:spPr>
          <a:xfrm>
            <a:off x="457200" y="859536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CJ BIO Vietnam e-mail, 7 Oct 2026; BJC Vietnam experience.</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 name="object 6"/>
          <p:cNvSpPr txBox="1">
            <a:spLocks noGrp="1"/>
          </p:cNvSpPr>
          <p:nvPr>
            <p:ph type="title"/>
          </p:nvPr>
        </p:nvSpPr>
        <p:spPr>
          <a:xfrm>
            <a:off x="406379" y="41812"/>
            <a:ext cx="11379242" cy="815041"/>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BJCS Vietnam – Platform Today</a:t>
            </a:r>
          </a:p>
        </p:txBody>
      </p:sp>
      <p:grpSp>
        <p:nvGrpSpPr>
          <p:cNvPr id="8" name="object 8"/>
          <p:cNvGrpSpPr/>
          <p:nvPr/>
        </p:nvGrpSpPr>
        <p:grpSpPr>
          <a:xfrm>
            <a:off x="306593" y="7723991"/>
            <a:ext cx="11580606" cy="1152860"/>
            <a:chOff x="108204" y="6565392"/>
            <a:chExt cx="9843515" cy="979931"/>
          </a:xfrm>
        </p:grpSpPr>
        <p:pic>
          <p:nvPicPr>
            <p:cNvPr id="10" name="object 10"/>
            <p:cNvPicPr/>
            <p:nvPr/>
          </p:nvPicPr>
          <p:blipFill>
            <a:blip r:embed="rId5" cstate="print"/>
            <a:stretch>
              <a:fillRect/>
            </a:stretch>
          </p:blipFill>
          <p:spPr>
            <a:xfrm>
              <a:off x="1412748" y="6582155"/>
              <a:ext cx="1181100" cy="885444"/>
            </a:xfrm>
            <a:prstGeom prst="rect">
              <a:avLst/>
            </a:prstGeom>
          </p:spPr>
        </p:pic>
        <p:pic>
          <p:nvPicPr>
            <p:cNvPr id="11" name="object 11"/>
            <p:cNvPicPr/>
            <p:nvPr/>
          </p:nvPicPr>
          <p:blipFill>
            <a:blip r:embed="rId6" cstate="print"/>
            <a:stretch>
              <a:fillRect/>
            </a:stretch>
          </p:blipFill>
          <p:spPr>
            <a:xfrm>
              <a:off x="108204" y="6582155"/>
              <a:ext cx="1181100" cy="885444"/>
            </a:xfrm>
            <a:prstGeom prst="rect">
              <a:avLst/>
            </a:prstGeom>
          </p:spPr>
        </p:pic>
        <p:pic>
          <p:nvPicPr>
            <p:cNvPr id="12" name="object 12"/>
            <p:cNvPicPr/>
            <p:nvPr/>
          </p:nvPicPr>
          <p:blipFill>
            <a:blip r:embed="rId7" cstate="print"/>
            <a:stretch>
              <a:fillRect/>
            </a:stretch>
          </p:blipFill>
          <p:spPr>
            <a:xfrm>
              <a:off x="2717292" y="6582155"/>
              <a:ext cx="1181100" cy="885444"/>
            </a:xfrm>
            <a:prstGeom prst="rect">
              <a:avLst/>
            </a:prstGeom>
          </p:spPr>
        </p:pic>
        <p:pic>
          <p:nvPicPr>
            <p:cNvPr id="13" name="object 13"/>
            <p:cNvPicPr/>
            <p:nvPr/>
          </p:nvPicPr>
          <p:blipFill>
            <a:blip r:embed="rId8" cstate="print"/>
            <a:stretch>
              <a:fillRect/>
            </a:stretch>
          </p:blipFill>
          <p:spPr>
            <a:xfrm>
              <a:off x="6260592" y="6582155"/>
              <a:ext cx="1391412" cy="963167"/>
            </a:xfrm>
            <a:prstGeom prst="rect">
              <a:avLst/>
            </a:prstGeom>
          </p:spPr>
        </p:pic>
        <p:pic>
          <p:nvPicPr>
            <p:cNvPr id="14" name="object 14"/>
            <p:cNvPicPr/>
            <p:nvPr/>
          </p:nvPicPr>
          <p:blipFill>
            <a:blip r:embed="rId9" cstate="print"/>
            <a:stretch>
              <a:fillRect/>
            </a:stretch>
          </p:blipFill>
          <p:spPr>
            <a:xfrm>
              <a:off x="4002024" y="6582155"/>
              <a:ext cx="1284731" cy="963168"/>
            </a:xfrm>
            <a:prstGeom prst="rect">
              <a:avLst/>
            </a:prstGeom>
          </p:spPr>
        </p:pic>
        <p:pic>
          <p:nvPicPr>
            <p:cNvPr id="15" name="object 15"/>
            <p:cNvPicPr/>
            <p:nvPr/>
          </p:nvPicPr>
          <p:blipFill>
            <a:blip r:embed="rId10" cstate="print"/>
            <a:stretch>
              <a:fillRect/>
            </a:stretch>
          </p:blipFill>
          <p:spPr>
            <a:xfrm>
              <a:off x="5370575" y="6582155"/>
              <a:ext cx="806196" cy="963168"/>
            </a:xfrm>
            <a:prstGeom prst="rect">
              <a:avLst/>
            </a:prstGeom>
          </p:spPr>
        </p:pic>
        <p:pic>
          <p:nvPicPr>
            <p:cNvPr id="16" name="object 16"/>
            <p:cNvPicPr/>
            <p:nvPr/>
          </p:nvPicPr>
          <p:blipFill>
            <a:blip r:embed="rId11" cstate="print"/>
            <a:stretch>
              <a:fillRect/>
            </a:stretch>
          </p:blipFill>
          <p:spPr>
            <a:xfrm>
              <a:off x="7735823" y="6582155"/>
              <a:ext cx="1391412" cy="963168"/>
            </a:xfrm>
            <a:prstGeom prst="rect">
              <a:avLst/>
            </a:prstGeom>
          </p:spPr>
        </p:pic>
        <p:pic>
          <p:nvPicPr>
            <p:cNvPr id="17" name="object 17"/>
            <p:cNvPicPr/>
            <p:nvPr/>
          </p:nvPicPr>
          <p:blipFill>
            <a:blip r:embed="rId12" cstate="print"/>
            <a:stretch>
              <a:fillRect/>
            </a:stretch>
          </p:blipFill>
          <p:spPr>
            <a:xfrm>
              <a:off x="9204960" y="6565392"/>
              <a:ext cx="746759" cy="979931"/>
            </a:xfrm>
            <a:prstGeom prst="rect">
              <a:avLst/>
            </a:prstGeom>
          </p:spPr>
        </p:pic>
      </p:grpSp>
      <p:pic>
        <p:nvPicPr>
          <p:cNvPr id="2" name="Picture 1">
            <a:extLst>
              <a:ext uri="{FF2B5EF4-FFF2-40B4-BE49-F238E27FC236}">
                <a16:creationId xmlns:a16="http://schemas.microsoft.com/office/drawing/2014/main" id="{F5DA2226-70A9-995B-CCDE-BBAF328600FE}"/>
              </a:ext>
            </a:extLst>
          </p:cNvPr>
          <p:cNvPicPr/>
          <p:nvPr/>
        </p:nvPicPr>
        <p:blipFill>
          <a:blip r:embed="rId13"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3" name="Group 2">
            <a:extLst>
              <a:ext uri="{FF2B5EF4-FFF2-40B4-BE49-F238E27FC236}">
                <a16:creationId xmlns:a16="http://schemas.microsoft.com/office/drawing/2014/main" id="{3EDEA5E5-8390-2056-E1F2-26CE5AC1039A}"/>
              </a:ext>
            </a:extLst>
          </p:cNvPr>
          <p:cNvGrpSpPr/>
          <p:nvPr/>
        </p:nvGrpSpPr>
        <p:grpSpPr>
          <a:xfrm>
            <a:off x="3310103" y="279484"/>
            <a:ext cx="3206924" cy="530891"/>
            <a:chOff x="4160710" y="152186"/>
            <a:chExt cx="7468340" cy="1236347"/>
          </a:xfrm>
        </p:grpSpPr>
        <p:pic>
          <p:nvPicPr>
            <p:cNvPr id="4" name="Picture 3">
              <a:extLst>
                <a:ext uri="{FF2B5EF4-FFF2-40B4-BE49-F238E27FC236}">
                  <a16:creationId xmlns:a16="http://schemas.microsoft.com/office/drawing/2014/main" id="{A3B0CD48-DF31-ECFC-7B19-C3D3CE594244}"/>
                </a:ext>
              </a:extLst>
            </p:cNvPr>
            <p:cNvPicPr>
              <a:picLocks noChangeAspect="1"/>
            </p:cNvPicPr>
            <p:nvPr/>
          </p:nvPicPr>
          <p:blipFill rotWithShape="1">
            <a:blip r:embed="rId14"/>
            <a:srcRect l="24000" t="30128" r="23579" b="58286"/>
            <a:stretch/>
          </p:blipFill>
          <p:spPr>
            <a:xfrm>
              <a:off x="5125178" y="170201"/>
              <a:ext cx="6503872" cy="1078087"/>
            </a:xfrm>
            <a:prstGeom prst="rect">
              <a:avLst/>
            </a:prstGeom>
          </p:spPr>
        </p:pic>
        <p:pic>
          <p:nvPicPr>
            <p:cNvPr id="5" name="Picture 4">
              <a:extLst>
                <a:ext uri="{FF2B5EF4-FFF2-40B4-BE49-F238E27FC236}">
                  <a16:creationId xmlns:a16="http://schemas.microsoft.com/office/drawing/2014/main" id="{9844E5F7-C2B6-4330-41EF-B0AAC31A1F56}"/>
                </a:ext>
              </a:extLst>
            </p:cNvPr>
            <p:cNvPicPr>
              <a:picLocks noChangeAspect="1"/>
            </p:cNvPicPr>
            <p:nvPr/>
          </p:nvPicPr>
          <p:blipFill rotWithShape="1">
            <a:blip r:embed="rId14"/>
            <a:srcRect l="43239" t="10955" r="42914" b="68933"/>
            <a:stretch/>
          </p:blipFill>
          <p:spPr>
            <a:xfrm>
              <a:off x="4160710" y="152186"/>
              <a:ext cx="1134948" cy="1236347"/>
            </a:xfrm>
            <a:prstGeom prst="rect">
              <a:avLst/>
            </a:prstGeom>
          </p:spPr>
        </p:pic>
      </p:grpSp>
      <p:sp>
        <p:nvSpPr>
          <p:cNvPr id="18" name="Rounded Rectangle 17"/>
          <p:cNvSpPr/>
          <p:nvPr/>
        </p:nvSpPr>
        <p:spPr>
          <a:xfrm>
            <a:off x="457200" y="1188720"/>
            <a:ext cx="3611880" cy="36576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85800"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map_w.png"/>
          <p:cNvPicPr>
            <a:picLocks noChangeAspect="1"/>
          </p:cNvPicPr>
          <p:nvPr/>
        </p:nvPicPr>
        <p:blipFill>
          <a:blip r:embed="rId15"/>
          <a:stretch>
            <a:fillRect/>
          </a:stretch>
        </p:blipFill>
        <p:spPr>
          <a:xfrm>
            <a:off x="850392" y="1536192"/>
            <a:ext cx="356616" cy="356616"/>
          </a:xfrm>
          <a:prstGeom prst="rect">
            <a:avLst/>
          </a:prstGeom>
        </p:spPr>
      </p:pic>
      <p:sp>
        <p:nvSpPr>
          <p:cNvPr id="21" name="TextBox 20"/>
          <p:cNvSpPr txBox="1"/>
          <p:nvPr/>
        </p:nvSpPr>
        <p:spPr>
          <a:xfrm>
            <a:off x="1508760" y="1463040"/>
            <a:ext cx="2468880" cy="502920"/>
          </a:xfrm>
          <a:prstGeom prst="rect">
            <a:avLst/>
          </a:prstGeom>
          <a:noFill/>
        </p:spPr>
        <p:txBody>
          <a:bodyPr wrap="square" lIns="45720" tIns="27432" rIns="45720" bIns="27432" anchor="ctr"/>
          <a:lstStyle/>
          <a:p>
            <a:pPr algn="l"/>
            <a:r>
              <a:rPr sz="2000" b="1" i="0">
                <a:solidFill>
                  <a:srgbClr val="284F3E"/>
                </a:solidFill>
                <a:latin typeface="Calibri"/>
              </a:rPr>
              <a:t>Presence</a:t>
            </a:r>
          </a:p>
        </p:txBody>
      </p:sp>
      <p:sp>
        <p:nvSpPr>
          <p:cNvPr id="22" name="TextBox 21"/>
          <p:cNvSpPr txBox="1"/>
          <p:nvPr/>
        </p:nvSpPr>
        <p:spPr>
          <a:xfrm>
            <a:off x="685800" y="2240280"/>
            <a:ext cx="3246120" cy="2560320"/>
          </a:xfrm>
          <a:prstGeom prst="rect">
            <a:avLst/>
          </a:prstGeom>
          <a:noFill/>
        </p:spPr>
        <p:txBody>
          <a:bodyPr wrap="square" lIns="45720" tIns="27432" rIns="45720" bIns="27432" anchor="t"/>
          <a:lstStyle/>
          <a:p>
            <a:pPr marL="182880" indent="-182880" algn="l">
              <a:spcAft>
                <a:spcPts val="800"/>
              </a:spcAft>
              <a:buFont typeface="Arial"/>
              <a:buChar char="•"/>
            </a:pPr>
            <a:r>
              <a:rPr sz="1700" b="0" i="0">
                <a:solidFill>
                  <a:srgbClr val="262626"/>
                </a:solidFill>
                <a:latin typeface="Calibri"/>
              </a:rPr>
              <a:t>In Vietnam since 2007</a:t>
            </a:r>
          </a:p>
          <a:p>
            <a:pPr marL="182880" indent="-182880" algn="l">
              <a:spcAft>
                <a:spcPts val="800"/>
              </a:spcAft>
              <a:buFont typeface="Arial"/>
              <a:buChar char="•"/>
            </a:pPr>
            <a:r>
              <a:rPr sz="1700" b="0" i="0">
                <a:solidFill>
                  <a:srgbClr val="262626"/>
                </a:solidFill>
                <a:latin typeface="Calibri"/>
              </a:rPr>
              <a:t>Offices in Ho Chi Minh City &amp; Hanoi</a:t>
            </a:r>
          </a:p>
          <a:p>
            <a:pPr marL="182880" indent="-182880" algn="l">
              <a:spcAft>
                <a:spcPts val="800"/>
              </a:spcAft>
              <a:buFont typeface="Arial"/>
              <a:buChar char="•"/>
            </a:pPr>
            <a:r>
              <a:rPr sz="1700" b="0" i="0">
                <a:solidFill>
                  <a:srgbClr val="262626"/>
                </a:solidFill>
                <a:latin typeface="Calibri"/>
              </a:rPr>
              <a:t>~90 customer accounts North – Central – South (2026 YTD)</a:t>
            </a:r>
          </a:p>
        </p:txBody>
      </p:sp>
      <p:sp>
        <p:nvSpPr>
          <p:cNvPr id="23" name="Rounded Rectangle 22"/>
          <p:cNvSpPr/>
          <p:nvPr/>
        </p:nvSpPr>
        <p:spPr>
          <a:xfrm>
            <a:off x="4288536" y="1188720"/>
            <a:ext cx="3611880" cy="36576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4517136"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truck_w.png"/>
          <p:cNvPicPr>
            <a:picLocks noChangeAspect="1"/>
          </p:cNvPicPr>
          <p:nvPr/>
        </p:nvPicPr>
        <p:blipFill>
          <a:blip r:embed="rId16"/>
          <a:stretch>
            <a:fillRect/>
          </a:stretch>
        </p:blipFill>
        <p:spPr>
          <a:xfrm>
            <a:off x="4681728" y="1536192"/>
            <a:ext cx="356616" cy="356616"/>
          </a:xfrm>
          <a:prstGeom prst="rect">
            <a:avLst/>
          </a:prstGeom>
        </p:spPr>
      </p:pic>
      <p:sp>
        <p:nvSpPr>
          <p:cNvPr id="26" name="TextBox 25"/>
          <p:cNvSpPr txBox="1"/>
          <p:nvPr/>
        </p:nvSpPr>
        <p:spPr>
          <a:xfrm>
            <a:off x="5340096" y="1463040"/>
            <a:ext cx="2468880" cy="502920"/>
          </a:xfrm>
          <a:prstGeom prst="rect">
            <a:avLst/>
          </a:prstGeom>
          <a:noFill/>
        </p:spPr>
        <p:txBody>
          <a:bodyPr wrap="square" lIns="45720" tIns="27432" rIns="45720" bIns="27432" anchor="ctr"/>
          <a:lstStyle/>
          <a:p>
            <a:pPr algn="l"/>
            <a:r>
              <a:rPr sz="2000" b="1" i="0">
                <a:solidFill>
                  <a:srgbClr val="284F3E"/>
                </a:solidFill>
                <a:latin typeface="Calibri"/>
              </a:rPr>
              <a:t>Route to market</a:t>
            </a:r>
          </a:p>
        </p:txBody>
      </p:sp>
      <p:sp>
        <p:nvSpPr>
          <p:cNvPr id="27" name="TextBox 26"/>
          <p:cNvSpPr txBox="1"/>
          <p:nvPr/>
        </p:nvSpPr>
        <p:spPr>
          <a:xfrm>
            <a:off x="4517136" y="2240280"/>
            <a:ext cx="3246120" cy="2560320"/>
          </a:xfrm>
          <a:prstGeom prst="rect">
            <a:avLst/>
          </a:prstGeom>
          <a:noFill/>
        </p:spPr>
        <p:txBody>
          <a:bodyPr wrap="square" lIns="45720" tIns="27432" rIns="45720" bIns="27432" anchor="t"/>
          <a:lstStyle/>
          <a:p>
            <a:pPr marL="182880" indent="-182880" algn="l">
              <a:spcAft>
                <a:spcPts val="800"/>
              </a:spcAft>
              <a:buFont typeface="Arial"/>
              <a:buChar char="•"/>
            </a:pPr>
            <a:r>
              <a:rPr sz="1700" b="0" i="0">
                <a:solidFill>
                  <a:srgbClr val="262626"/>
                </a:solidFill>
                <a:latin typeface="Calibri"/>
              </a:rPr>
              <a:t>Ex-stock: local warehouse, VND invoicing, door-to-door delivery</a:t>
            </a:r>
          </a:p>
          <a:p>
            <a:pPr marL="182880" indent="-182880" algn="l">
              <a:spcAft>
                <a:spcPts val="800"/>
              </a:spcAft>
              <a:buFont typeface="Arial"/>
              <a:buChar char="•"/>
            </a:pPr>
            <a:r>
              <a:rPr sz="1700" b="0" i="0">
                <a:solidFill>
                  <a:srgbClr val="262626"/>
                </a:solidFill>
                <a:latin typeface="Calibri"/>
              </a:rPr>
              <a:t>Indent: direct shipments CIF HCMC / Hai Phong</a:t>
            </a:r>
          </a:p>
          <a:p>
            <a:pPr marL="182880" indent="-182880" algn="l">
              <a:spcAft>
                <a:spcPts val="800"/>
              </a:spcAft>
              <a:buFont typeface="Arial"/>
              <a:buChar char="•"/>
            </a:pPr>
            <a:r>
              <a:rPr sz="1700" b="0" i="0">
                <a:solidFill>
                  <a:srgbClr val="262626"/>
                </a:solidFill>
                <a:latin typeface="Calibri"/>
              </a:rPr>
              <a:t>Import &amp; declaration dossiers handled in-house</a:t>
            </a:r>
          </a:p>
        </p:txBody>
      </p:sp>
      <p:sp>
        <p:nvSpPr>
          <p:cNvPr id="28" name="Rounded Rectangle 27"/>
          <p:cNvSpPr/>
          <p:nvPr/>
        </p:nvSpPr>
        <p:spPr>
          <a:xfrm>
            <a:off x="8119872" y="1188720"/>
            <a:ext cx="3611880" cy="36576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8348472"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user_w.png"/>
          <p:cNvPicPr>
            <a:picLocks noChangeAspect="1"/>
          </p:cNvPicPr>
          <p:nvPr/>
        </p:nvPicPr>
        <p:blipFill>
          <a:blip r:embed="rId17"/>
          <a:stretch>
            <a:fillRect/>
          </a:stretch>
        </p:blipFill>
        <p:spPr>
          <a:xfrm>
            <a:off x="8513064" y="1536192"/>
            <a:ext cx="356616" cy="356616"/>
          </a:xfrm>
          <a:prstGeom prst="rect">
            <a:avLst/>
          </a:prstGeom>
        </p:spPr>
      </p:pic>
      <p:sp>
        <p:nvSpPr>
          <p:cNvPr id="31" name="TextBox 30"/>
          <p:cNvSpPr txBox="1"/>
          <p:nvPr/>
        </p:nvSpPr>
        <p:spPr>
          <a:xfrm>
            <a:off x="9171432" y="1463040"/>
            <a:ext cx="2468880" cy="502920"/>
          </a:xfrm>
          <a:prstGeom prst="rect">
            <a:avLst/>
          </a:prstGeom>
          <a:noFill/>
        </p:spPr>
        <p:txBody>
          <a:bodyPr wrap="square" lIns="45720" tIns="27432" rIns="45720" bIns="27432" anchor="ctr"/>
          <a:lstStyle/>
          <a:p>
            <a:pPr algn="l"/>
            <a:r>
              <a:rPr sz="2000" b="1" i="0">
                <a:solidFill>
                  <a:srgbClr val="284F3E"/>
                </a:solidFill>
                <a:latin typeface="Calibri"/>
              </a:rPr>
              <a:t>Team &amp; leadership</a:t>
            </a:r>
          </a:p>
        </p:txBody>
      </p:sp>
      <p:sp>
        <p:nvSpPr>
          <p:cNvPr id="32" name="TextBox 31"/>
          <p:cNvSpPr txBox="1"/>
          <p:nvPr/>
        </p:nvSpPr>
        <p:spPr>
          <a:xfrm>
            <a:off x="8348472" y="2240280"/>
            <a:ext cx="3246120" cy="2560320"/>
          </a:xfrm>
          <a:prstGeom prst="rect">
            <a:avLst/>
          </a:prstGeom>
          <a:noFill/>
        </p:spPr>
        <p:txBody>
          <a:bodyPr wrap="square" lIns="45720" tIns="27432" rIns="45720" bIns="27432" anchor="t"/>
          <a:lstStyle/>
          <a:p>
            <a:pPr marL="182880" indent="-182880" algn="l">
              <a:spcAft>
                <a:spcPts val="800"/>
              </a:spcAft>
              <a:buFont typeface="Arial"/>
              <a:buChar char="•"/>
            </a:pPr>
            <a:r>
              <a:rPr sz="1700" b="0" i="0" dirty="0">
                <a:solidFill>
                  <a:srgbClr val="262626"/>
                </a:solidFill>
                <a:latin typeface="Calibri"/>
              </a:rPr>
              <a:t>5 account owners (Food, Cosmetic, Non-food) + NPD manager</a:t>
            </a:r>
          </a:p>
          <a:p>
            <a:pPr marL="182880" indent="-182880" algn="l">
              <a:spcAft>
                <a:spcPts val="800"/>
              </a:spcAft>
              <a:buFont typeface="Arial"/>
              <a:buChar char="•"/>
            </a:pPr>
            <a:r>
              <a:rPr sz="1700" b="0" i="0" dirty="0">
                <a:solidFill>
                  <a:srgbClr val="262626"/>
                </a:solidFill>
                <a:latin typeface="Calibri"/>
              </a:rPr>
              <a:t>Led by </a:t>
            </a:r>
            <a:r>
              <a:rPr sz="1700" b="0" i="0">
                <a:solidFill>
                  <a:srgbClr val="262626"/>
                </a:solidFill>
                <a:latin typeface="Calibri"/>
              </a:rPr>
              <a:t>Nguyen </a:t>
            </a:r>
            <a:r>
              <a:rPr lang="en-US" sz="1700" b="0" i="0">
                <a:solidFill>
                  <a:srgbClr val="262626"/>
                </a:solidFill>
                <a:latin typeface="Calibri"/>
              </a:rPr>
              <a:t>Duc </a:t>
            </a:r>
            <a:r>
              <a:rPr sz="1700" b="0" i="0">
                <a:solidFill>
                  <a:srgbClr val="262626"/>
                </a:solidFill>
                <a:latin typeface="Calibri"/>
              </a:rPr>
              <a:t>Duy </a:t>
            </a:r>
            <a:r>
              <a:rPr sz="1700" b="0" i="0" dirty="0">
                <a:solidFill>
                  <a:srgbClr val="262626"/>
                </a:solidFill>
                <a:latin typeface="Calibri"/>
              </a:rPr>
              <a:t>Anh – 21+ years in Vietnam's food &amp; chemical ingredients industry</a:t>
            </a:r>
          </a:p>
          <a:p>
            <a:pPr marL="182880" indent="-182880" algn="l">
              <a:spcAft>
                <a:spcPts val="800"/>
              </a:spcAft>
              <a:buFont typeface="Arial"/>
              <a:buChar char="•"/>
            </a:pPr>
            <a:r>
              <a:rPr sz="1700" b="0" i="0" dirty="0">
                <a:solidFill>
                  <a:srgbClr val="262626"/>
                </a:solidFill>
                <a:latin typeface="Calibri"/>
              </a:rPr>
              <a:t>Customer 360 account plans &amp; opportunity pipeline</a:t>
            </a:r>
          </a:p>
        </p:txBody>
      </p:sp>
      <p:sp>
        <p:nvSpPr>
          <p:cNvPr id="33" name="TextBox 32"/>
          <p:cNvSpPr txBox="1"/>
          <p:nvPr/>
        </p:nvSpPr>
        <p:spPr>
          <a:xfrm>
            <a:off x="457200" y="5029200"/>
            <a:ext cx="11274552" cy="411480"/>
          </a:xfrm>
          <a:prstGeom prst="rect">
            <a:avLst/>
          </a:prstGeom>
          <a:noFill/>
        </p:spPr>
        <p:txBody>
          <a:bodyPr wrap="square" lIns="45720" tIns="27432" rIns="45720" bIns="27432" anchor="t"/>
          <a:lstStyle/>
          <a:p>
            <a:pPr algn="l"/>
            <a:r>
              <a:rPr sz="1800" b="1" i="0">
                <a:solidFill>
                  <a:srgbClr val="284F3E"/>
                </a:solidFill>
                <a:latin typeface="Calibri"/>
              </a:rPr>
              <a:t>Principals &amp; categories we manage in Vietnam today</a:t>
            </a:r>
          </a:p>
        </p:txBody>
      </p:sp>
      <p:sp>
        <p:nvSpPr>
          <p:cNvPr id="34" name="Rounded Rectangle 33"/>
          <p:cNvSpPr/>
          <p:nvPr/>
        </p:nvSpPr>
        <p:spPr>
          <a:xfrm>
            <a:off x="457200" y="5532120"/>
            <a:ext cx="2167128" cy="137160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Preservatives</a:t>
            </a:r>
          </a:p>
          <a:p>
            <a:pPr algn="ctr"/>
            <a:r>
              <a:rPr sz="1300" b="0" i="0">
                <a:solidFill>
                  <a:srgbClr val="595959"/>
                </a:solidFill>
                <a:latin typeface="Calibri"/>
              </a:rPr>
              <a:t>LANXESS · Wuhan Youji (Sodium Benzoate)</a:t>
            </a:r>
          </a:p>
        </p:txBody>
      </p:sp>
      <p:sp>
        <p:nvSpPr>
          <p:cNvPr id="35" name="Rounded Rectangle 34"/>
          <p:cNvSpPr/>
          <p:nvPr/>
        </p:nvSpPr>
        <p:spPr>
          <a:xfrm>
            <a:off x="2734056" y="5532120"/>
            <a:ext cx="2167128" cy="137160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Yeast extracts</a:t>
            </a:r>
          </a:p>
          <a:p>
            <a:pPr algn="ctr"/>
            <a:r>
              <a:rPr sz="1300" b="0" i="0">
                <a:solidFill>
                  <a:srgbClr val="595959"/>
                </a:solidFill>
                <a:latin typeface="Calibri"/>
              </a:rPr>
              <a:t>Lallemand (previously Lesaffre &amp; DSM)</a:t>
            </a:r>
          </a:p>
        </p:txBody>
      </p:sp>
      <p:sp>
        <p:nvSpPr>
          <p:cNvPr id="36" name="Rounded Rectangle 35"/>
          <p:cNvSpPr/>
          <p:nvPr/>
        </p:nvSpPr>
        <p:spPr>
          <a:xfrm>
            <a:off x="5010912" y="5532120"/>
            <a:ext cx="2167128" cy="137160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Flavors</a:t>
            </a:r>
          </a:p>
          <a:p>
            <a:pPr algn="ctr"/>
            <a:r>
              <a:rPr sz="1300" b="0" i="0">
                <a:solidFill>
                  <a:srgbClr val="595959"/>
                </a:solidFill>
                <a:latin typeface="Calibri"/>
              </a:rPr>
              <a:t>dsm-firmenich</a:t>
            </a:r>
          </a:p>
        </p:txBody>
      </p:sp>
      <p:sp>
        <p:nvSpPr>
          <p:cNvPr id="37" name="Rounded Rectangle 36"/>
          <p:cNvSpPr/>
          <p:nvPr/>
        </p:nvSpPr>
        <p:spPr>
          <a:xfrm>
            <a:off x="7287768" y="5532120"/>
            <a:ext cx="2167128" cy="137160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Cosmetic actives</a:t>
            </a:r>
          </a:p>
          <a:p>
            <a:pPr algn="ctr"/>
            <a:r>
              <a:rPr sz="1300" b="0" i="0">
                <a:solidFill>
                  <a:srgbClr val="595959"/>
                </a:solidFill>
                <a:latin typeface="Calibri"/>
              </a:rPr>
              <a:t>Lipoid Kosmetik</a:t>
            </a:r>
          </a:p>
        </p:txBody>
      </p:sp>
      <p:sp>
        <p:nvSpPr>
          <p:cNvPr id="38" name="Rounded Rectangle 37"/>
          <p:cNvSpPr/>
          <p:nvPr/>
        </p:nvSpPr>
        <p:spPr>
          <a:xfrm>
            <a:off x="9564624" y="5532120"/>
            <a:ext cx="2167128" cy="137160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Rheology &amp; hydrocolloids</a:t>
            </a:r>
          </a:p>
          <a:p>
            <a:pPr algn="ctr"/>
            <a:r>
              <a:rPr sz="1300" b="0" i="0">
                <a:solidFill>
                  <a:srgbClr val="595959"/>
                </a:solidFill>
                <a:latin typeface="Calibri"/>
              </a:rPr>
              <a:t>Vanderbilt · HPMC · Guar gum</a:t>
            </a:r>
          </a:p>
        </p:txBody>
      </p:sp>
      <p:sp>
        <p:nvSpPr>
          <p:cNvPr id="39" name="TextBox 38"/>
          <p:cNvSpPr txBox="1"/>
          <p:nvPr/>
        </p:nvSpPr>
        <p:spPr>
          <a:xfrm>
            <a:off x="457200" y="722376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(Customer 360 workbook, Jan–Sep 2026).</a:t>
            </a:r>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4" name="object 4"/>
          <p:cNvPicPr/>
          <p:nvPr/>
        </p:nvPicPr>
        <p:blipFill>
          <a:blip r:embed="rId5" cstate="print"/>
          <a:stretch>
            <a:fillRect/>
          </a:stretch>
        </p:blipFill>
        <p:spPr>
          <a:xfrm>
            <a:off x="382757" y="1343845"/>
            <a:ext cx="1065006" cy="1484555"/>
          </a:xfrm>
          <a:prstGeom prst="rect">
            <a:avLst/>
          </a:prstGeom>
        </p:spPr>
      </p:pic>
      <p:pic>
        <p:nvPicPr>
          <p:cNvPr id="5" name="object 5"/>
          <p:cNvPicPr/>
          <p:nvPr/>
        </p:nvPicPr>
        <p:blipFill>
          <a:blip r:embed="rId6" cstate="print"/>
          <a:stretch>
            <a:fillRect/>
          </a:stretch>
        </p:blipFill>
        <p:spPr>
          <a:xfrm>
            <a:off x="4891286" y="1364284"/>
            <a:ext cx="1100507" cy="1484554"/>
          </a:xfrm>
          <a:prstGeom prst="rect">
            <a:avLst/>
          </a:prstGeom>
        </p:spPr>
      </p:pic>
      <p:pic>
        <p:nvPicPr>
          <p:cNvPr id="6" name="object 6"/>
          <p:cNvPicPr/>
          <p:nvPr/>
        </p:nvPicPr>
        <p:blipFill>
          <a:blip r:embed="rId7" cstate="print"/>
          <a:stretch>
            <a:fillRect/>
          </a:stretch>
        </p:blipFill>
        <p:spPr>
          <a:xfrm>
            <a:off x="6112279" y="1371814"/>
            <a:ext cx="1128476" cy="1453358"/>
          </a:xfrm>
          <a:prstGeom prst="rect">
            <a:avLst/>
          </a:prstGeom>
        </p:spPr>
      </p:pic>
      <p:pic>
        <p:nvPicPr>
          <p:cNvPr id="7" name="object 7"/>
          <p:cNvPicPr/>
          <p:nvPr/>
        </p:nvPicPr>
        <p:blipFill>
          <a:blip r:embed="rId8" cstate="print"/>
          <a:stretch>
            <a:fillRect/>
          </a:stretch>
        </p:blipFill>
        <p:spPr>
          <a:xfrm>
            <a:off x="1553188" y="1327708"/>
            <a:ext cx="1208373" cy="1515752"/>
          </a:xfrm>
          <a:prstGeom prst="rect">
            <a:avLst/>
          </a:prstGeom>
        </p:spPr>
      </p:pic>
      <p:pic>
        <p:nvPicPr>
          <p:cNvPr id="8" name="object 8"/>
          <p:cNvPicPr/>
          <p:nvPr/>
        </p:nvPicPr>
        <p:blipFill>
          <a:blip r:embed="rId9" cstate="print"/>
          <a:stretch>
            <a:fillRect/>
          </a:stretch>
        </p:blipFill>
        <p:spPr>
          <a:xfrm>
            <a:off x="2874227" y="1371814"/>
            <a:ext cx="1853542" cy="1453358"/>
          </a:xfrm>
          <a:prstGeom prst="rect">
            <a:avLst/>
          </a:prstGeom>
        </p:spPr>
      </p:pic>
      <p:pic>
        <p:nvPicPr>
          <p:cNvPr id="9" name="object 9"/>
          <p:cNvPicPr/>
          <p:nvPr/>
        </p:nvPicPr>
        <p:blipFill>
          <a:blip r:embed="rId10" cstate="print"/>
          <a:stretch>
            <a:fillRect/>
          </a:stretch>
        </p:blipFill>
        <p:spPr>
          <a:xfrm>
            <a:off x="396741" y="2952112"/>
            <a:ext cx="933763" cy="1301674"/>
          </a:xfrm>
          <a:prstGeom prst="rect">
            <a:avLst/>
          </a:prstGeom>
        </p:spPr>
      </p:pic>
      <p:pic>
        <p:nvPicPr>
          <p:cNvPr id="10" name="object 10"/>
          <p:cNvPicPr/>
          <p:nvPr/>
        </p:nvPicPr>
        <p:blipFill>
          <a:blip r:embed="rId11" cstate="print"/>
          <a:stretch>
            <a:fillRect/>
          </a:stretch>
        </p:blipFill>
        <p:spPr>
          <a:xfrm>
            <a:off x="1376763" y="2951037"/>
            <a:ext cx="1000461" cy="1308129"/>
          </a:xfrm>
          <a:prstGeom prst="rect">
            <a:avLst/>
          </a:prstGeom>
        </p:spPr>
      </p:pic>
      <p:pic>
        <p:nvPicPr>
          <p:cNvPr id="11" name="object 11"/>
          <p:cNvPicPr/>
          <p:nvPr/>
        </p:nvPicPr>
        <p:blipFill>
          <a:blip r:embed="rId12" cstate="print"/>
          <a:stretch>
            <a:fillRect/>
          </a:stretch>
        </p:blipFill>
        <p:spPr>
          <a:xfrm>
            <a:off x="2465437" y="2976713"/>
            <a:ext cx="1092476" cy="1325120"/>
          </a:xfrm>
          <a:prstGeom prst="rect">
            <a:avLst/>
          </a:prstGeom>
        </p:spPr>
      </p:pic>
      <p:pic>
        <p:nvPicPr>
          <p:cNvPr id="12" name="object 12"/>
          <p:cNvPicPr/>
          <p:nvPr/>
        </p:nvPicPr>
        <p:blipFill>
          <a:blip r:embed="rId13" cstate="print"/>
          <a:stretch>
            <a:fillRect/>
          </a:stretch>
        </p:blipFill>
        <p:spPr>
          <a:xfrm>
            <a:off x="3690378" y="3005901"/>
            <a:ext cx="1422515" cy="1240524"/>
          </a:xfrm>
          <a:prstGeom prst="rect">
            <a:avLst/>
          </a:prstGeom>
        </p:spPr>
      </p:pic>
      <p:pic>
        <p:nvPicPr>
          <p:cNvPr id="13" name="object 13"/>
          <p:cNvPicPr/>
          <p:nvPr/>
        </p:nvPicPr>
        <p:blipFill>
          <a:blip r:embed="rId14" cstate="print"/>
          <a:stretch>
            <a:fillRect/>
          </a:stretch>
        </p:blipFill>
        <p:spPr>
          <a:xfrm>
            <a:off x="5286092" y="3016659"/>
            <a:ext cx="818656" cy="1240356"/>
          </a:xfrm>
          <a:prstGeom prst="rect">
            <a:avLst/>
          </a:prstGeom>
        </p:spPr>
      </p:pic>
      <p:pic>
        <p:nvPicPr>
          <p:cNvPr id="14" name="object 14"/>
          <p:cNvPicPr/>
          <p:nvPr/>
        </p:nvPicPr>
        <p:blipFill>
          <a:blip r:embed="rId15" cstate="print"/>
          <a:stretch>
            <a:fillRect/>
          </a:stretch>
        </p:blipFill>
        <p:spPr>
          <a:xfrm>
            <a:off x="6220931" y="3068296"/>
            <a:ext cx="1005840" cy="1177961"/>
          </a:xfrm>
          <a:prstGeom prst="rect">
            <a:avLst/>
          </a:prstGeom>
        </p:spPr>
      </p:pic>
      <p:pic>
        <p:nvPicPr>
          <p:cNvPr id="15" name="object 15"/>
          <p:cNvPicPr/>
          <p:nvPr/>
        </p:nvPicPr>
        <p:blipFill>
          <a:blip r:embed="rId16" cstate="print"/>
          <a:stretch>
            <a:fillRect/>
          </a:stretch>
        </p:blipFill>
        <p:spPr>
          <a:xfrm>
            <a:off x="1316520" y="4471092"/>
            <a:ext cx="858460" cy="1082219"/>
          </a:xfrm>
          <a:prstGeom prst="rect">
            <a:avLst/>
          </a:prstGeom>
        </p:spPr>
      </p:pic>
      <p:pic>
        <p:nvPicPr>
          <p:cNvPr id="16" name="object 16"/>
          <p:cNvPicPr/>
          <p:nvPr/>
        </p:nvPicPr>
        <p:blipFill>
          <a:blip r:embed="rId17" cstate="print"/>
          <a:stretch>
            <a:fillRect/>
          </a:stretch>
        </p:blipFill>
        <p:spPr>
          <a:xfrm>
            <a:off x="396741" y="4471092"/>
            <a:ext cx="743352" cy="1082219"/>
          </a:xfrm>
          <a:prstGeom prst="rect">
            <a:avLst/>
          </a:prstGeom>
        </p:spPr>
      </p:pic>
      <p:pic>
        <p:nvPicPr>
          <p:cNvPr id="17" name="object 17"/>
          <p:cNvPicPr/>
          <p:nvPr/>
        </p:nvPicPr>
        <p:blipFill>
          <a:blip r:embed="rId18" cstate="print"/>
          <a:stretch>
            <a:fillRect/>
          </a:stretch>
        </p:blipFill>
        <p:spPr>
          <a:xfrm>
            <a:off x="2385934" y="4475396"/>
            <a:ext cx="841144" cy="1073311"/>
          </a:xfrm>
          <a:prstGeom prst="rect">
            <a:avLst/>
          </a:prstGeom>
        </p:spPr>
      </p:pic>
      <p:pic>
        <p:nvPicPr>
          <p:cNvPr id="18" name="object 18"/>
          <p:cNvPicPr/>
          <p:nvPr/>
        </p:nvPicPr>
        <p:blipFill>
          <a:blip r:embed="rId19" cstate="print"/>
          <a:stretch>
            <a:fillRect/>
          </a:stretch>
        </p:blipFill>
        <p:spPr>
          <a:xfrm>
            <a:off x="3518611" y="4564684"/>
            <a:ext cx="647609" cy="948823"/>
          </a:xfrm>
          <a:prstGeom prst="rect">
            <a:avLst/>
          </a:prstGeom>
        </p:spPr>
      </p:pic>
      <p:pic>
        <p:nvPicPr>
          <p:cNvPr id="19" name="object 19"/>
          <p:cNvPicPr/>
          <p:nvPr/>
        </p:nvPicPr>
        <p:blipFill>
          <a:blip r:embed="rId20" cstate="print"/>
          <a:stretch>
            <a:fillRect/>
          </a:stretch>
        </p:blipFill>
        <p:spPr>
          <a:xfrm>
            <a:off x="4433010" y="4564684"/>
            <a:ext cx="791763" cy="948823"/>
          </a:xfrm>
          <a:prstGeom prst="rect">
            <a:avLst/>
          </a:prstGeom>
        </p:spPr>
      </p:pic>
      <p:pic>
        <p:nvPicPr>
          <p:cNvPr id="20" name="object 20"/>
          <p:cNvPicPr/>
          <p:nvPr/>
        </p:nvPicPr>
        <p:blipFill>
          <a:blip r:embed="rId21" cstate="print"/>
          <a:stretch>
            <a:fillRect/>
          </a:stretch>
        </p:blipFill>
        <p:spPr>
          <a:xfrm>
            <a:off x="5378608" y="4548548"/>
            <a:ext cx="613185" cy="1004763"/>
          </a:xfrm>
          <a:prstGeom prst="rect">
            <a:avLst/>
          </a:prstGeom>
        </p:spPr>
      </p:pic>
      <p:pic>
        <p:nvPicPr>
          <p:cNvPr id="21" name="object 21"/>
          <p:cNvPicPr/>
          <p:nvPr/>
        </p:nvPicPr>
        <p:blipFill>
          <a:blip r:embed="rId22" cstate="print"/>
          <a:stretch>
            <a:fillRect/>
          </a:stretch>
        </p:blipFill>
        <p:spPr>
          <a:xfrm>
            <a:off x="6111204" y="4556079"/>
            <a:ext cx="817580" cy="1004763"/>
          </a:xfrm>
          <a:prstGeom prst="rect">
            <a:avLst/>
          </a:prstGeom>
        </p:spPr>
      </p:pic>
      <p:sp>
        <p:nvSpPr>
          <p:cNvPr id="22" name="object 22"/>
          <p:cNvSpPr txBox="1"/>
          <p:nvPr/>
        </p:nvSpPr>
        <p:spPr>
          <a:xfrm>
            <a:off x="384048" y="5596128"/>
            <a:ext cx="6858000" cy="232884"/>
          </a:xfrm>
          <a:prstGeom prst="rect">
            <a:avLst/>
          </a:prstGeom>
        </p:spPr>
        <p:txBody>
          <a:bodyPr vert="horz" wrap="square" lIns="0" tIns="0" rIns="0" bIns="0" rtlCol="0">
            <a:spAutoFit/>
          </a:bodyPr>
          <a:lstStyle/>
          <a:p>
            <a:pPr marL="14942">
              <a:lnSpc>
                <a:spcPts val="1824"/>
              </a:lnSpc>
            </a:pPr>
            <a:r>
              <a:rPr sz="1100" i="1" dirty="0">
                <a:solidFill>
                  <a:srgbClr val="595959"/>
                </a:solidFill>
                <a:latin typeface="Calibri"/>
                <a:cs typeface="Calibri"/>
              </a:rPr>
              <a:t>Products of selected BJCS customers. Source: BJC Vietnam</a:t>
            </a:r>
            <a:endParaRPr sz="1765">
              <a:latin typeface="Calibri"/>
              <a:cs typeface="Calibri"/>
            </a:endParaRPr>
          </a:p>
        </p:txBody>
      </p:sp>
      <p:sp>
        <p:nvSpPr>
          <p:cNvPr id="25" name="object 6">
            <a:extLst>
              <a:ext uri="{FF2B5EF4-FFF2-40B4-BE49-F238E27FC236}">
                <a16:creationId xmlns:a16="http://schemas.microsoft.com/office/drawing/2014/main" id="{3D137641-A504-CAFD-F3EE-1C69CEBE9BDA}"/>
              </a:ext>
            </a:extLst>
          </p:cNvPr>
          <p:cNvSpPr txBox="1">
            <a:spLocks/>
          </p:cNvSpPr>
          <p:nvPr/>
        </p:nvSpPr>
        <p:spPr>
          <a:xfrm>
            <a:off x="590880" y="-183052"/>
            <a:ext cx="11379242" cy="1281195"/>
          </a:xfrm>
          <a:prstGeom prst="rect">
            <a:avLst/>
          </a:prstGeom>
        </p:spPr>
        <p:txBody>
          <a:bodyPr vert="horz" wrap="square" lIns="0" tIns="228229" rIns="0" bIns="0" rtlCol="0" anchor="ctr">
            <a:spAutoFit/>
          </a:bodyPr>
          <a:lst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a:lstStyle>
          <a:p>
            <a:pPr marL="14942" algn="r">
              <a:lnSpc>
                <a:spcPct val="150000"/>
              </a:lnSpc>
              <a:spcBef>
                <a:spcPts val="153"/>
              </a:spcBef>
              <a:tabLst>
                <a:tab pos="454970" algn="l"/>
              </a:tabLst>
            </a:pPr>
            <a:r>
              <a:rPr lang="en-US" sz="2400" b="1" dirty="0">
                <a:solidFill>
                  <a:srgbClr val="0000CC"/>
                </a:solidFill>
              </a:rPr>
              <a:t>Trusted by Leading Manufacturers</a:t>
            </a:r>
            <a:br>
              <a:rPr lang="en-US" sz="2400" b="1" dirty="0">
                <a:solidFill>
                  <a:srgbClr val="0000CC"/>
                </a:solidFill>
              </a:rPr>
            </a:br>
            <a:endParaRPr lang="en-US" sz="2400" b="1" dirty="0">
              <a:solidFill>
                <a:srgbClr val="0000CC"/>
              </a:solidFill>
            </a:endParaRPr>
          </a:p>
        </p:txBody>
      </p:sp>
      <p:pic>
        <p:nvPicPr>
          <p:cNvPr id="26" name="Picture 25">
            <a:extLst>
              <a:ext uri="{FF2B5EF4-FFF2-40B4-BE49-F238E27FC236}">
                <a16:creationId xmlns:a16="http://schemas.microsoft.com/office/drawing/2014/main" id="{C9C94FFD-5B3B-EB47-877F-CA0F9A465D23}"/>
              </a:ext>
            </a:extLst>
          </p:cNvPr>
          <p:cNvPicPr/>
          <p:nvPr/>
        </p:nvPicPr>
        <p:blipFill>
          <a:blip r:embed="rId23"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27" name="Group 26">
            <a:extLst>
              <a:ext uri="{FF2B5EF4-FFF2-40B4-BE49-F238E27FC236}">
                <a16:creationId xmlns:a16="http://schemas.microsoft.com/office/drawing/2014/main" id="{DA7901A2-8E57-657D-3FD2-095EE5BDBB12}"/>
              </a:ext>
            </a:extLst>
          </p:cNvPr>
          <p:cNvGrpSpPr/>
          <p:nvPr/>
        </p:nvGrpSpPr>
        <p:grpSpPr>
          <a:xfrm>
            <a:off x="3310103" y="279484"/>
            <a:ext cx="3206924" cy="530891"/>
            <a:chOff x="4160710" y="152186"/>
            <a:chExt cx="7468340" cy="1236347"/>
          </a:xfrm>
        </p:grpSpPr>
        <p:pic>
          <p:nvPicPr>
            <p:cNvPr id="28" name="Picture 27">
              <a:extLst>
                <a:ext uri="{FF2B5EF4-FFF2-40B4-BE49-F238E27FC236}">
                  <a16:creationId xmlns:a16="http://schemas.microsoft.com/office/drawing/2014/main" id="{B8E86753-5B12-7AAC-149A-624BFF6E2D4A}"/>
                </a:ext>
              </a:extLst>
            </p:cNvPr>
            <p:cNvPicPr>
              <a:picLocks noChangeAspect="1"/>
            </p:cNvPicPr>
            <p:nvPr/>
          </p:nvPicPr>
          <p:blipFill rotWithShape="1">
            <a:blip r:embed="rId24"/>
            <a:srcRect l="24000" t="30128" r="23579" b="58286"/>
            <a:stretch/>
          </p:blipFill>
          <p:spPr>
            <a:xfrm>
              <a:off x="5125178" y="170201"/>
              <a:ext cx="6503872" cy="1078087"/>
            </a:xfrm>
            <a:prstGeom prst="rect">
              <a:avLst/>
            </a:prstGeom>
          </p:spPr>
        </p:pic>
        <p:pic>
          <p:nvPicPr>
            <p:cNvPr id="29" name="Picture 28">
              <a:extLst>
                <a:ext uri="{FF2B5EF4-FFF2-40B4-BE49-F238E27FC236}">
                  <a16:creationId xmlns:a16="http://schemas.microsoft.com/office/drawing/2014/main" id="{75A4F7C5-3DBB-9254-4B12-D55EA578C1B3}"/>
                </a:ext>
              </a:extLst>
            </p:cNvPr>
            <p:cNvPicPr>
              <a:picLocks noChangeAspect="1"/>
            </p:cNvPicPr>
            <p:nvPr/>
          </p:nvPicPr>
          <p:blipFill rotWithShape="1">
            <a:blip r:embed="rId24"/>
            <a:srcRect l="43239" t="10955" r="42914" b="68933"/>
            <a:stretch/>
          </p:blipFill>
          <p:spPr>
            <a:xfrm>
              <a:off x="4160710" y="152186"/>
              <a:ext cx="1134948" cy="1236347"/>
            </a:xfrm>
            <a:prstGeom prst="rect">
              <a:avLst/>
            </a:prstGeom>
          </p:spPr>
        </p:pic>
      </p:grpSp>
      <p:sp>
        <p:nvSpPr>
          <p:cNvPr id="30" name="Rounded Rectangle 29"/>
          <p:cNvSpPr/>
          <p:nvPr/>
        </p:nvSpPr>
        <p:spPr>
          <a:xfrm>
            <a:off x="7498079" y="1298448"/>
            <a:ext cx="4251960" cy="384048"/>
          </a:xfrm>
          <a:prstGeom prst="roundRect">
            <a:avLst>
              <a:gd name="adj" fmla="val 2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FFFFFF"/>
                </a:solidFill>
                <a:latin typeface="Calibri"/>
              </a:rPr>
              <a:t>Meat, seafood &amp; convenience food</a:t>
            </a:r>
          </a:p>
        </p:txBody>
      </p:sp>
      <p:sp>
        <p:nvSpPr>
          <p:cNvPr id="31" name="TextBox 30"/>
          <p:cNvSpPr txBox="1"/>
          <p:nvPr/>
        </p:nvSpPr>
        <p:spPr>
          <a:xfrm>
            <a:off x="7543800" y="1709928"/>
            <a:ext cx="4206240" cy="685800"/>
          </a:xfrm>
          <a:prstGeom prst="rect">
            <a:avLst/>
          </a:prstGeom>
          <a:noFill/>
        </p:spPr>
        <p:txBody>
          <a:bodyPr wrap="square" lIns="45720" tIns="27432" rIns="45720" bIns="27432" anchor="t"/>
          <a:lstStyle/>
          <a:p>
            <a:pPr algn="l"/>
            <a:r>
              <a:rPr sz="1450" b="0" i="0">
                <a:solidFill>
                  <a:srgbClr val="262626"/>
                </a:solidFill>
                <a:latin typeface="Calibri"/>
              </a:rPr>
              <a:t>Masan Group · CJ Cầu Tre · LC Foods · Seapimex · Navico</a:t>
            </a:r>
          </a:p>
        </p:txBody>
      </p:sp>
      <p:sp>
        <p:nvSpPr>
          <p:cNvPr id="32" name="Rounded Rectangle 31"/>
          <p:cNvSpPr/>
          <p:nvPr/>
        </p:nvSpPr>
        <p:spPr>
          <a:xfrm>
            <a:off x="7498079" y="2414015"/>
            <a:ext cx="4251960" cy="384048"/>
          </a:xfrm>
          <a:prstGeom prst="roundRect">
            <a:avLst>
              <a:gd name="adj" fmla="val 2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FFFFFF"/>
                </a:solidFill>
                <a:latin typeface="Calibri"/>
              </a:rPr>
              <a:t>Seasoning, savory &amp; flavors</a:t>
            </a:r>
          </a:p>
        </p:txBody>
      </p:sp>
      <p:sp>
        <p:nvSpPr>
          <p:cNvPr id="33" name="TextBox 32"/>
          <p:cNvSpPr txBox="1"/>
          <p:nvPr/>
        </p:nvSpPr>
        <p:spPr>
          <a:xfrm>
            <a:off x="7543800" y="2825496"/>
            <a:ext cx="4206240" cy="685800"/>
          </a:xfrm>
          <a:prstGeom prst="rect">
            <a:avLst/>
          </a:prstGeom>
          <a:noFill/>
        </p:spPr>
        <p:txBody>
          <a:bodyPr wrap="square" lIns="45720" tIns="27432" rIns="45720" bIns="27432" anchor="t"/>
          <a:lstStyle/>
          <a:p>
            <a:pPr algn="l"/>
            <a:r>
              <a:rPr sz="1450" b="0" i="0">
                <a:solidFill>
                  <a:srgbClr val="262626"/>
                </a:solidFill>
                <a:latin typeface="Calibri"/>
              </a:rPr>
              <a:t>Ajinomoto · Givaudan · Đại Vân · Hoàng Anh · Ban Mai Xanh · Hưng Việt · Nitto Fuji</a:t>
            </a:r>
          </a:p>
        </p:txBody>
      </p:sp>
      <p:sp>
        <p:nvSpPr>
          <p:cNvPr id="34" name="Rounded Rectangle 33"/>
          <p:cNvSpPr/>
          <p:nvPr/>
        </p:nvSpPr>
        <p:spPr>
          <a:xfrm>
            <a:off x="7498079" y="3529583"/>
            <a:ext cx="4251960" cy="384048"/>
          </a:xfrm>
          <a:prstGeom prst="roundRect">
            <a:avLst>
              <a:gd name="adj" fmla="val 2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FFFFFF"/>
                </a:solidFill>
                <a:latin typeface="Calibri"/>
              </a:rPr>
              <a:t>Beverages, snacks &amp; nutrition</a:t>
            </a:r>
          </a:p>
        </p:txBody>
      </p:sp>
      <p:sp>
        <p:nvSpPr>
          <p:cNvPr id="35" name="TextBox 34"/>
          <p:cNvSpPr txBox="1"/>
          <p:nvPr/>
        </p:nvSpPr>
        <p:spPr>
          <a:xfrm>
            <a:off x="7543800" y="3941063"/>
            <a:ext cx="4206240" cy="685800"/>
          </a:xfrm>
          <a:prstGeom prst="rect">
            <a:avLst/>
          </a:prstGeom>
          <a:noFill/>
        </p:spPr>
        <p:txBody>
          <a:bodyPr wrap="square" lIns="45720" tIns="27432" rIns="45720" bIns="27432" anchor="t"/>
          <a:lstStyle/>
          <a:p>
            <a:pPr algn="l"/>
            <a:r>
              <a:rPr sz="1450" b="0" i="0">
                <a:solidFill>
                  <a:srgbClr val="262626"/>
                </a:solidFill>
                <a:latin typeface="Calibri"/>
              </a:rPr>
              <a:t>Masan Consumer · Tribeco · Yến Việt · Liwayway (Oishi) · Thế Hệ Mới</a:t>
            </a:r>
          </a:p>
        </p:txBody>
      </p:sp>
      <p:sp>
        <p:nvSpPr>
          <p:cNvPr id="36" name="Rounded Rectangle 35"/>
          <p:cNvSpPr/>
          <p:nvPr/>
        </p:nvSpPr>
        <p:spPr>
          <a:xfrm>
            <a:off x="7498079" y="4645151"/>
            <a:ext cx="4251960" cy="384048"/>
          </a:xfrm>
          <a:prstGeom prst="roundRect">
            <a:avLst>
              <a:gd name="adj" fmla="val 2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FFFFFF"/>
                </a:solidFill>
                <a:latin typeface="Calibri"/>
              </a:rPr>
              <a:t>Pharma &amp; personal care</a:t>
            </a:r>
          </a:p>
        </p:txBody>
      </p:sp>
      <p:sp>
        <p:nvSpPr>
          <p:cNvPr id="37" name="TextBox 36"/>
          <p:cNvSpPr txBox="1"/>
          <p:nvPr/>
        </p:nvSpPr>
        <p:spPr>
          <a:xfrm>
            <a:off x="7543800" y="5056631"/>
            <a:ext cx="4206240" cy="685800"/>
          </a:xfrm>
          <a:prstGeom prst="rect">
            <a:avLst/>
          </a:prstGeom>
          <a:noFill/>
        </p:spPr>
        <p:txBody>
          <a:bodyPr wrap="square" lIns="45720" tIns="27432" rIns="45720" bIns="27432" anchor="t"/>
          <a:lstStyle/>
          <a:p>
            <a:pPr algn="l"/>
            <a:r>
              <a:rPr sz="1450" b="0" i="0">
                <a:solidFill>
                  <a:srgbClr val="262626"/>
                </a:solidFill>
                <a:latin typeface="Calibri"/>
              </a:rPr>
              <a:t>Unilever Vietnam · Hoa Linh · Merap Group · Dược–TBYT Đà Nẵng</a:t>
            </a:r>
          </a:p>
        </p:txBody>
      </p:sp>
      <p:sp>
        <p:nvSpPr>
          <p:cNvPr id="38" name="Rounded Rectangle 37"/>
          <p:cNvSpPr/>
          <p:nvPr/>
        </p:nvSpPr>
        <p:spPr>
          <a:xfrm>
            <a:off x="457200" y="5989320"/>
            <a:ext cx="11274552" cy="1097280"/>
          </a:xfrm>
          <a:prstGeom prst="roundRect">
            <a:avLst>
              <a:gd name="adj" fmla="val 8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85800" y="6035040"/>
            <a:ext cx="2468880" cy="1005840"/>
          </a:xfrm>
          <a:prstGeom prst="rect">
            <a:avLst/>
          </a:prstGeom>
          <a:noFill/>
        </p:spPr>
        <p:txBody>
          <a:bodyPr wrap="square" lIns="45720" tIns="27432" rIns="45720" bIns="27432" anchor="ctr"/>
          <a:lstStyle/>
          <a:p>
            <a:pPr algn="l"/>
            <a:r>
              <a:rPr sz="1600" b="1" i="0">
                <a:solidFill>
                  <a:srgbClr val="284F3E"/>
                </a:solidFill>
                <a:latin typeface="Calibri"/>
              </a:rPr>
              <a:t>What we supply today</a:t>
            </a:r>
          </a:p>
        </p:txBody>
      </p:sp>
      <p:sp>
        <p:nvSpPr>
          <p:cNvPr id="40" name="TextBox 39"/>
          <p:cNvSpPr txBox="1"/>
          <p:nvPr/>
        </p:nvSpPr>
        <p:spPr>
          <a:xfrm>
            <a:off x="3108960" y="6035040"/>
            <a:ext cx="8503920" cy="1005840"/>
          </a:xfrm>
          <a:prstGeom prst="rect">
            <a:avLst/>
          </a:prstGeom>
          <a:noFill/>
        </p:spPr>
        <p:txBody>
          <a:bodyPr wrap="square" lIns="45720" tIns="27432" rIns="45720" bIns="27432" anchor="ctr"/>
          <a:lstStyle/>
          <a:p>
            <a:pPr algn="l"/>
            <a:r>
              <a:rPr sz="1700" b="0" i="0">
                <a:solidFill>
                  <a:srgbClr val="262626"/>
                </a:solidFill>
                <a:latin typeface="Calibri"/>
              </a:rPr>
              <a:t>Preservatives · Yeast extracts · Flavors · Cosmetic actives · Rheology modifiers &amp; hydrocolloids</a:t>
            </a:r>
          </a:p>
        </p:txBody>
      </p:sp>
      <p:sp>
        <p:nvSpPr>
          <p:cNvPr id="41" name="Rounded Rectangle 40"/>
          <p:cNvSpPr/>
          <p:nvPr/>
        </p:nvSpPr>
        <p:spPr>
          <a:xfrm>
            <a:off x="457200" y="7223760"/>
            <a:ext cx="11274552" cy="1280160"/>
          </a:xfrm>
          <a:prstGeom prst="roundRect">
            <a:avLst>
              <a:gd name="adj" fmla="val 8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685800" y="7269480"/>
            <a:ext cx="2468880" cy="1188720"/>
          </a:xfrm>
          <a:prstGeom prst="rect">
            <a:avLst/>
          </a:prstGeom>
          <a:noFill/>
        </p:spPr>
        <p:txBody>
          <a:bodyPr wrap="square" lIns="45720" tIns="27432" rIns="45720" bIns="27432" anchor="ctr"/>
          <a:lstStyle/>
          <a:p>
            <a:pPr algn="l"/>
            <a:r>
              <a:rPr sz="1600" b="1" i="0">
                <a:solidFill>
                  <a:srgbClr val="BFE3CC"/>
                </a:solidFill>
                <a:latin typeface="Calibri"/>
              </a:rPr>
              <a:t>Relevance for CJ BIO</a:t>
            </a:r>
          </a:p>
        </p:txBody>
      </p:sp>
      <p:sp>
        <p:nvSpPr>
          <p:cNvPr id="43" name="TextBox 42"/>
          <p:cNvSpPr txBox="1"/>
          <p:nvPr/>
        </p:nvSpPr>
        <p:spPr>
          <a:xfrm>
            <a:off x="3108960" y="7269480"/>
            <a:ext cx="8503920" cy="1188720"/>
          </a:xfrm>
          <a:prstGeom prst="rect">
            <a:avLst/>
          </a:prstGeom>
          <a:noFill/>
        </p:spPr>
        <p:txBody>
          <a:bodyPr wrap="square" lIns="45720" tIns="27432" rIns="45720" bIns="27432" anchor="ctr"/>
          <a:lstStyle/>
          <a:p>
            <a:pPr algn="l"/>
            <a:r>
              <a:rPr sz="1700" b="0" i="0">
                <a:solidFill>
                  <a:srgbClr val="FFFFFF"/>
                </a:solidFill>
                <a:latin typeface="Calibri"/>
              </a:rPr>
              <a:t>We already work daily with R&amp;D, QA and purchasing teams at natural users of HYBIND &amp; FGAA — including CJ Foods Vietnam (Cầu Tre / bibigo).</a:t>
            </a: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D20FF2-D264-4755-075A-4433927B6699}"/>
              </a:ext>
            </a:extLst>
          </p:cNvPr>
          <p:cNvPicPr>
            <a:picLocks noChangeAspect="1"/>
          </p:cNvPicPr>
          <p:nvPr/>
        </p:nvPicPr>
        <p:blipFill>
          <a:blip r:embed="rId5"/>
          <a:stretch>
            <a:fillRect/>
          </a:stretch>
        </p:blipFill>
        <p:spPr>
          <a:xfrm>
            <a:off x="247228" y="1637453"/>
            <a:ext cx="3709481" cy="3709481"/>
          </a:xfrm>
          <a:prstGeom prst="rect">
            <a:avLst/>
          </a:prstGeom>
        </p:spPr>
      </p:pic>
      <p:sp>
        <p:nvSpPr>
          <p:cNvPr id="4" name="TextBox 3">
            <a:extLst>
              <a:ext uri="{FF2B5EF4-FFF2-40B4-BE49-F238E27FC236}">
                <a16:creationId xmlns:a16="http://schemas.microsoft.com/office/drawing/2014/main" id="{EA9A0EC8-F3AF-8673-2AEF-A3199705469D}"/>
              </a:ext>
            </a:extLst>
          </p:cNvPr>
          <p:cNvSpPr txBox="1"/>
          <p:nvPr/>
        </p:nvSpPr>
        <p:spPr>
          <a:xfrm>
            <a:off x="387590" y="1042598"/>
            <a:ext cx="9106606" cy="523220"/>
          </a:xfrm>
          <a:prstGeom prst="rect">
            <a:avLst/>
          </a:prstGeom>
          <a:noFill/>
        </p:spPr>
        <p:txBody>
          <a:bodyPr wrap="square" rtlCol="0">
            <a:spAutoFit/>
          </a:bodyPr>
          <a:lstStyle/>
          <a:p>
            <a:r>
              <a:rPr lang="en-US" sz="2800" b="1" dirty="0">
                <a:solidFill>
                  <a:srgbClr val="0000CC"/>
                </a:solidFill>
              </a:rPr>
              <a:t>Equipment for Savory &amp; Meat Application:</a:t>
            </a:r>
          </a:p>
        </p:txBody>
      </p:sp>
      <p:pic>
        <p:nvPicPr>
          <p:cNvPr id="7" name="Picture 6">
            <a:extLst>
              <a:ext uri="{FF2B5EF4-FFF2-40B4-BE49-F238E27FC236}">
                <a16:creationId xmlns:a16="http://schemas.microsoft.com/office/drawing/2014/main" id="{711CED08-590D-04A9-F991-6F0A4FCECEEF}"/>
              </a:ext>
            </a:extLst>
          </p:cNvPr>
          <p:cNvPicPr>
            <a:picLocks noChangeAspect="1"/>
          </p:cNvPicPr>
          <p:nvPr/>
        </p:nvPicPr>
        <p:blipFill rotWithShape="1">
          <a:blip r:embed="rId6"/>
          <a:srcRect l="4073" t="9354" r="4776" b="7289"/>
          <a:stretch/>
        </p:blipFill>
        <p:spPr>
          <a:xfrm>
            <a:off x="4319081" y="2398867"/>
            <a:ext cx="6439710" cy="5889024"/>
          </a:xfrm>
          <a:prstGeom prst="rect">
            <a:avLst/>
          </a:prstGeom>
        </p:spPr>
      </p:pic>
      <p:pic>
        <p:nvPicPr>
          <p:cNvPr id="8" name="Picture 7">
            <a:extLst>
              <a:ext uri="{FF2B5EF4-FFF2-40B4-BE49-F238E27FC236}">
                <a16:creationId xmlns:a16="http://schemas.microsoft.com/office/drawing/2014/main" id="{709FD9D7-115B-CF53-430E-063F109C4641}"/>
              </a:ext>
            </a:extLst>
          </p:cNvPr>
          <p:cNvPicPr>
            <a:picLocks noChangeAspect="1"/>
          </p:cNvPicPr>
          <p:nvPr/>
        </p:nvPicPr>
        <p:blipFill rotWithShape="1">
          <a:blip r:embed="rId7"/>
          <a:srcRect t="4271"/>
          <a:stretch/>
        </p:blipFill>
        <p:spPr>
          <a:xfrm>
            <a:off x="609600" y="6128351"/>
            <a:ext cx="2255887" cy="2159540"/>
          </a:xfrm>
          <a:prstGeom prst="rect">
            <a:avLst/>
          </a:prstGeom>
        </p:spPr>
      </p:pic>
      <p:pic>
        <p:nvPicPr>
          <p:cNvPr id="9" name="Picture 8">
            <a:extLst>
              <a:ext uri="{FF2B5EF4-FFF2-40B4-BE49-F238E27FC236}">
                <a16:creationId xmlns:a16="http://schemas.microsoft.com/office/drawing/2014/main" id="{D334C272-AF52-A5F6-0A82-4655C4779FDC}"/>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imgEffect>
                  </a14:imgLayer>
                </a14:imgProps>
              </a:ext>
            </a:extLst>
          </a:blip>
          <a:stretch>
            <a:fillRect/>
          </a:stretch>
        </p:blipFill>
        <p:spPr>
          <a:xfrm>
            <a:off x="6631009" y="6567609"/>
            <a:ext cx="2678191" cy="1908211"/>
          </a:xfrm>
          <a:prstGeom prst="rect">
            <a:avLst/>
          </a:prstGeom>
        </p:spPr>
      </p:pic>
      <p:sp>
        <p:nvSpPr>
          <p:cNvPr id="10" name="TextBox 9">
            <a:extLst>
              <a:ext uri="{FF2B5EF4-FFF2-40B4-BE49-F238E27FC236}">
                <a16:creationId xmlns:a16="http://schemas.microsoft.com/office/drawing/2014/main" id="{42503F55-5D96-57B5-40EE-3755D0C22CCB}"/>
              </a:ext>
            </a:extLst>
          </p:cNvPr>
          <p:cNvSpPr txBox="1"/>
          <p:nvPr/>
        </p:nvSpPr>
        <p:spPr>
          <a:xfrm>
            <a:off x="7402520" y="8346330"/>
            <a:ext cx="1067921" cy="430887"/>
          </a:xfrm>
          <a:prstGeom prst="rect">
            <a:avLst/>
          </a:prstGeom>
          <a:noFill/>
        </p:spPr>
        <p:txBody>
          <a:bodyPr wrap="none" rtlCol="0">
            <a:spAutoFit/>
          </a:bodyPr>
          <a:lstStyle/>
          <a:p>
            <a:r>
              <a:rPr lang="en-US" sz="2200" dirty="0">
                <a:latin typeface="Abadi" panose="020B0604020104020204" pitchFamily="34" charset="0"/>
              </a:rPr>
              <a:t>Nugget</a:t>
            </a:r>
          </a:p>
        </p:txBody>
      </p:sp>
      <p:sp>
        <p:nvSpPr>
          <p:cNvPr id="12" name="Rectangle 11">
            <a:extLst>
              <a:ext uri="{FF2B5EF4-FFF2-40B4-BE49-F238E27FC236}">
                <a16:creationId xmlns:a16="http://schemas.microsoft.com/office/drawing/2014/main" id="{2D3B0E1D-D688-78AE-3247-D1DA868673E2}"/>
              </a:ext>
            </a:extLst>
          </p:cNvPr>
          <p:cNvSpPr/>
          <p:nvPr/>
        </p:nvSpPr>
        <p:spPr>
          <a:xfrm>
            <a:off x="1536970" y="5812107"/>
            <a:ext cx="1524918" cy="150309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01E467EB-F4D8-D4A9-C237-C1C5EC381BF8}"/>
              </a:ext>
            </a:extLst>
          </p:cNvPr>
          <p:cNvSpPr txBox="1"/>
          <p:nvPr/>
        </p:nvSpPr>
        <p:spPr>
          <a:xfrm>
            <a:off x="2774661" y="6606866"/>
            <a:ext cx="1189749" cy="430887"/>
          </a:xfrm>
          <a:prstGeom prst="rect">
            <a:avLst/>
          </a:prstGeom>
          <a:noFill/>
        </p:spPr>
        <p:txBody>
          <a:bodyPr wrap="none" rtlCol="0">
            <a:spAutoFit/>
          </a:bodyPr>
          <a:lstStyle/>
          <a:p>
            <a:r>
              <a:rPr lang="en-US" sz="2200" dirty="0">
                <a:latin typeface="Abadi" panose="020B0604020104020204" pitchFamily="34" charset="0"/>
              </a:rPr>
              <a:t>Fish ball</a:t>
            </a:r>
          </a:p>
        </p:txBody>
      </p:sp>
      <p:sp>
        <p:nvSpPr>
          <p:cNvPr id="15" name="TextBox 14">
            <a:extLst>
              <a:ext uri="{FF2B5EF4-FFF2-40B4-BE49-F238E27FC236}">
                <a16:creationId xmlns:a16="http://schemas.microsoft.com/office/drawing/2014/main" id="{6E4D8B39-6711-BBF3-6689-46B9D76B5F9C}"/>
              </a:ext>
            </a:extLst>
          </p:cNvPr>
          <p:cNvSpPr txBox="1"/>
          <p:nvPr/>
        </p:nvSpPr>
        <p:spPr>
          <a:xfrm>
            <a:off x="10537380" y="5837425"/>
            <a:ext cx="1654620" cy="769441"/>
          </a:xfrm>
          <a:prstGeom prst="rect">
            <a:avLst/>
          </a:prstGeom>
          <a:noFill/>
        </p:spPr>
        <p:txBody>
          <a:bodyPr wrap="none" rtlCol="0">
            <a:spAutoFit/>
          </a:bodyPr>
          <a:lstStyle/>
          <a:p>
            <a:pPr algn="ctr"/>
            <a:r>
              <a:rPr lang="en-US" sz="2200" dirty="0">
                <a:latin typeface="Abadi" panose="020B0604020104020204" pitchFamily="34" charset="0"/>
              </a:rPr>
              <a:t>Vietnamese </a:t>
            </a:r>
          </a:p>
          <a:p>
            <a:pPr algn="ctr"/>
            <a:r>
              <a:rPr lang="en-US" sz="2200" dirty="0">
                <a:latin typeface="Abadi" panose="020B0604020104020204" pitchFamily="34" charset="0"/>
              </a:rPr>
              <a:t>Sausage</a:t>
            </a:r>
          </a:p>
        </p:txBody>
      </p:sp>
      <p:sp>
        <p:nvSpPr>
          <p:cNvPr id="16" name="TextBox 15">
            <a:extLst>
              <a:ext uri="{FF2B5EF4-FFF2-40B4-BE49-F238E27FC236}">
                <a16:creationId xmlns:a16="http://schemas.microsoft.com/office/drawing/2014/main" id="{20C2D778-F1B6-DD04-F719-63F6886A9441}"/>
              </a:ext>
            </a:extLst>
          </p:cNvPr>
          <p:cNvSpPr txBox="1"/>
          <p:nvPr/>
        </p:nvSpPr>
        <p:spPr>
          <a:xfrm>
            <a:off x="277732" y="8287891"/>
            <a:ext cx="1677062" cy="400110"/>
          </a:xfrm>
          <a:prstGeom prst="rect">
            <a:avLst/>
          </a:prstGeom>
          <a:noFill/>
        </p:spPr>
        <p:txBody>
          <a:bodyPr wrap="none" rtlCol="0">
            <a:spAutoFit/>
          </a:bodyPr>
          <a:lstStyle/>
          <a:p>
            <a:r>
              <a:rPr lang="en-US" sz="2000" b="1" dirty="0">
                <a:solidFill>
                  <a:srgbClr val="0000CC"/>
                </a:solidFill>
                <a:latin typeface="Abadi" panose="020B0604020104020204" pitchFamily="34" charset="0"/>
              </a:rPr>
              <a:t>Hand Stuffing</a:t>
            </a:r>
          </a:p>
        </p:txBody>
      </p:sp>
      <p:sp>
        <p:nvSpPr>
          <p:cNvPr id="17" name="TextBox 16">
            <a:extLst>
              <a:ext uri="{FF2B5EF4-FFF2-40B4-BE49-F238E27FC236}">
                <a16:creationId xmlns:a16="http://schemas.microsoft.com/office/drawing/2014/main" id="{21B7EE8F-EE05-FA54-7A82-9AA3BC8147D0}"/>
              </a:ext>
            </a:extLst>
          </p:cNvPr>
          <p:cNvSpPr txBox="1"/>
          <p:nvPr/>
        </p:nvSpPr>
        <p:spPr>
          <a:xfrm>
            <a:off x="247228" y="5053820"/>
            <a:ext cx="1364476" cy="400110"/>
          </a:xfrm>
          <a:prstGeom prst="rect">
            <a:avLst/>
          </a:prstGeom>
          <a:noFill/>
        </p:spPr>
        <p:txBody>
          <a:bodyPr wrap="none" rtlCol="0">
            <a:spAutoFit/>
          </a:bodyPr>
          <a:lstStyle/>
          <a:p>
            <a:r>
              <a:rPr lang="en-US" sz="2000" b="1" dirty="0">
                <a:solidFill>
                  <a:srgbClr val="0000CC"/>
                </a:solidFill>
                <a:latin typeface="Abadi" panose="020B0604020104020204" pitchFamily="34" charset="0"/>
              </a:rPr>
              <a:t>Thermomix</a:t>
            </a:r>
          </a:p>
        </p:txBody>
      </p:sp>
      <p:sp>
        <p:nvSpPr>
          <p:cNvPr id="18" name="TextBox 17">
            <a:extLst>
              <a:ext uri="{FF2B5EF4-FFF2-40B4-BE49-F238E27FC236}">
                <a16:creationId xmlns:a16="http://schemas.microsoft.com/office/drawing/2014/main" id="{E04BFE85-9497-FD45-78F1-46BB421DB04F}"/>
              </a:ext>
            </a:extLst>
          </p:cNvPr>
          <p:cNvSpPr txBox="1"/>
          <p:nvPr/>
        </p:nvSpPr>
        <p:spPr>
          <a:xfrm>
            <a:off x="6700405" y="3033958"/>
            <a:ext cx="1770036" cy="400110"/>
          </a:xfrm>
          <a:prstGeom prst="rect">
            <a:avLst/>
          </a:prstGeom>
          <a:noFill/>
        </p:spPr>
        <p:txBody>
          <a:bodyPr wrap="none" rtlCol="0">
            <a:spAutoFit/>
          </a:bodyPr>
          <a:lstStyle/>
          <a:p>
            <a:r>
              <a:rPr lang="en-US" sz="2000" b="1" dirty="0" err="1">
                <a:solidFill>
                  <a:srgbClr val="0000CC"/>
                </a:solidFill>
                <a:latin typeface="Abadi" panose="020B0604020104020204" pitchFamily="34" charset="0"/>
              </a:rPr>
              <a:t>Mincer&amp;Mixing</a:t>
            </a:r>
            <a:endParaRPr lang="en-US" sz="2000" b="1" dirty="0">
              <a:solidFill>
                <a:srgbClr val="0000CC"/>
              </a:solidFill>
              <a:latin typeface="Abadi" panose="020B0604020104020204" pitchFamily="34" charset="0"/>
            </a:endParaRPr>
          </a:p>
        </p:txBody>
      </p:sp>
      <p:pic>
        <p:nvPicPr>
          <p:cNvPr id="14" name="Picture 13">
            <a:extLst>
              <a:ext uri="{FF2B5EF4-FFF2-40B4-BE49-F238E27FC236}">
                <a16:creationId xmlns:a16="http://schemas.microsoft.com/office/drawing/2014/main" id="{2EB54039-E304-0EBF-673E-21D9AAC7D68D}"/>
              </a:ext>
            </a:extLst>
          </p:cNvPr>
          <p:cNvPicPr>
            <a:picLocks noChangeAspect="1"/>
          </p:cNvPicPr>
          <p:nvPr/>
        </p:nvPicPr>
        <p:blipFill rotWithShape="1">
          <a:blip r:embed="rId10"/>
          <a:srcRect l="22520" r="25735"/>
          <a:stretch/>
        </p:blipFill>
        <p:spPr>
          <a:xfrm>
            <a:off x="10537380" y="4283561"/>
            <a:ext cx="1478604" cy="1495425"/>
          </a:xfrm>
          <a:prstGeom prst="rect">
            <a:avLst/>
          </a:prstGeom>
        </p:spPr>
      </p:pic>
      <p:pic>
        <p:nvPicPr>
          <p:cNvPr id="11" name="Picture 10">
            <a:extLst>
              <a:ext uri="{FF2B5EF4-FFF2-40B4-BE49-F238E27FC236}">
                <a16:creationId xmlns:a16="http://schemas.microsoft.com/office/drawing/2014/main" id="{C52F8831-51F8-2A7B-D1CC-E458BFDFE7F2}"/>
              </a:ext>
            </a:extLst>
          </p:cNvPr>
          <p:cNvPicPr>
            <a:picLocks noChangeAspect="1"/>
          </p:cNvPicPr>
          <p:nvPr/>
        </p:nvPicPr>
        <p:blipFill rotWithShape="1">
          <a:blip r:embed="rId11"/>
          <a:srcRect t="12534" b="10181"/>
          <a:stretch/>
        </p:blipFill>
        <p:spPr>
          <a:xfrm>
            <a:off x="2412983" y="5072827"/>
            <a:ext cx="1913106" cy="1478559"/>
          </a:xfrm>
          <a:prstGeom prst="rect">
            <a:avLst/>
          </a:prstGeom>
        </p:spPr>
      </p:pic>
      <p:grpSp>
        <p:nvGrpSpPr>
          <p:cNvPr id="5" name="Group 4">
            <a:extLst>
              <a:ext uri="{FF2B5EF4-FFF2-40B4-BE49-F238E27FC236}">
                <a16:creationId xmlns:a16="http://schemas.microsoft.com/office/drawing/2014/main" id="{9E1C9D6A-8E4A-1A59-7E18-787DD0979714}"/>
              </a:ext>
            </a:extLst>
          </p:cNvPr>
          <p:cNvGrpSpPr/>
          <p:nvPr/>
        </p:nvGrpSpPr>
        <p:grpSpPr>
          <a:xfrm>
            <a:off x="3337431" y="278784"/>
            <a:ext cx="3206924" cy="530891"/>
            <a:chOff x="4160710" y="152186"/>
            <a:chExt cx="7468340" cy="1236347"/>
          </a:xfrm>
        </p:grpSpPr>
        <p:pic>
          <p:nvPicPr>
            <p:cNvPr id="6" name="Picture 5">
              <a:extLst>
                <a:ext uri="{FF2B5EF4-FFF2-40B4-BE49-F238E27FC236}">
                  <a16:creationId xmlns:a16="http://schemas.microsoft.com/office/drawing/2014/main" id="{5D95DDBC-EC5C-4096-546B-DE1CF8EC039D}"/>
                </a:ext>
              </a:extLst>
            </p:cNvPr>
            <p:cNvPicPr>
              <a:picLocks noChangeAspect="1"/>
            </p:cNvPicPr>
            <p:nvPr/>
          </p:nvPicPr>
          <p:blipFill rotWithShape="1">
            <a:blip r:embed="rId12"/>
            <a:srcRect l="24000" t="30128" r="23579" b="58286"/>
            <a:stretch/>
          </p:blipFill>
          <p:spPr>
            <a:xfrm>
              <a:off x="5125178" y="170201"/>
              <a:ext cx="6503872" cy="1078087"/>
            </a:xfrm>
            <a:prstGeom prst="rect">
              <a:avLst/>
            </a:prstGeom>
          </p:spPr>
        </p:pic>
        <p:pic>
          <p:nvPicPr>
            <p:cNvPr id="19" name="Picture 18">
              <a:extLst>
                <a:ext uri="{FF2B5EF4-FFF2-40B4-BE49-F238E27FC236}">
                  <a16:creationId xmlns:a16="http://schemas.microsoft.com/office/drawing/2014/main" id="{B072C8C7-017E-04FF-81FD-75ECFEE3A031}"/>
                </a:ext>
              </a:extLst>
            </p:cNvPr>
            <p:cNvPicPr>
              <a:picLocks noChangeAspect="1"/>
            </p:cNvPicPr>
            <p:nvPr/>
          </p:nvPicPr>
          <p:blipFill rotWithShape="1">
            <a:blip r:embed="rId12"/>
            <a:srcRect l="43239" t="10955" r="42914" b="68933"/>
            <a:stretch/>
          </p:blipFill>
          <p:spPr>
            <a:xfrm>
              <a:off x="4160710" y="152186"/>
              <a:ext cx="1134948" cy="1236347"/>
            </a:xfrm>
            <a:prstGeom prst="rect">
              <a:avLst/>
            </a:prstGeom>
          </p:spPr>
        </p:pic>
      </p:grpSp>
      <p:pic>
        <p:nvPicPr>
          <p:cNvPr id="20" name="Picture 19">
            <a:extLst>
              <a:ext uri="{FF2B5EF4-FFF2-40B4-BE49-F238E27FC236}">
                <a16:creationId xmlns:a16="http://schemas.microsoft.com/office/drawing/2014/main" id="{12484327-EDA3-2A21-30C2-41EFADB5DB62}"/>
              </a:ext>
            </a:extLst>
          </p:cNvPr>
          <p:cNvPicPr/>
          <p:nvPr/>
        </p:nvPicPr>
        <p:blipFill>
          <a:blip r:embed="rId13" cstate="email">
            <a:extLst>
              <a:ext uri="{28A0092B-C50C-407E-A947-70E740481C1C}">
                <a14:useLocalDpi xmlns:a14="http://schemas.microsoft.com/office/drawing/2010/main"/>
              </a:ext>
            </a:extLst>
          </a:blip>
          <a:stretch>
            <a:fillRect/>
          </a:stretch>
        </p:blipFill>
        <p:spPr>
          <a:xfrm>
            <a:off x="253446" y="105888"/>
            <a:ext cx="2894161" cy="868190"/>
          </a:xfrm>
          <a:prstGeom prst="rect">
            <a:avLst/>
          </a:prstGeom>
        </p:spPr>
      </p:pic>
      <p:sp>
        <p:nvSpPr>
          <p:cNvPr id="21" name="TextBox 20"/>
          <p:cNvSpPr txBox="1"/>
          <p:nvPr/>
        </p:nvSpPr>
        <p:spPr>
          <a:xfrm>
            <a:off x="5760720" y="256032"/>
            <a:ext cx="6263640" cy="548640"/>
          </a:xfrm>
          <a:prstGeom prst="rect">
            <a:avLst/>
          </a:prstGeom>
          <a:noFill/>
        </p:spPr>
        <p:txBody>
          <a:bodyPr wrap="square" lIns="0" tIns="27432" rIns="0" bIns="27432" anchor="ctr"/>
          <a:lstStyle/>
          <a:p>
            <a:pPr algn="r"/>
            <a:r>
              <a:rPr sz="2400" b="1" i="0">
                <a:solidFill>
                  <a:srgbClr val="0000CC"/>
                </a:solidFill>
                <a:latin typeface="Calibri"/>
              </a:rPr>
              <a:t>Application &amp; Technical Support</a:t>
            </a:r>
          </a:p>
        </p:txBody>
      </p:sp>
      <p:sp>
        <p:nvSpPr>
          <p:cNvPr id="22" name="Rounded Rectangle 21"/>
          <p:cNvSpPr/>
          <p:nvPr/>
        </p:nvSpPr>
        <p:spPr>
          <a:xfrm>
            <a:off x="4160520" y="1572768"/>
            <a:ext cx="7589520" cy="777240"/>
          </a:xfrm>
          <a:prstGeom prst="roundRect">
            <a:avLst>
              <a:gd name="adj" fmla="val 12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l"/>
            <a:r>
              <a:rPr sz="1400" b="1" i="0">
                <a:solidFill>
                  <a:srgbClr val="284F3E"/>
                </a:solidFill>
                <a:latin typeface="Calibri"/>
              </a:rPr>
              <a:t>BJCS Application Lab, Bangkok (~350 sqm): </a:t>
            </a:r>
            <a:r>
              <a:rPr sz="1400" b="0" i="0">
                <a:solidFill>
                  <a:srgbClr val="262626"/>
                </a:solidFill>
                <a:latin typeface="Calibri"/>
              </a:rPr>
              <a:t>Food (sweet &amp; savory) · Bakery · Cosmetic &amp; Fragrance · Testing — ready for HYBIND trials on Vietnamese meat products and joint demos with CJ BIO</a:t>
            </a:r>
          </a:p>
        </p:txBody>
      </p:sp>
      <p:sp>
        <p:nvSpPr>
          <p:cNvPr id="23" name="TextBox 22"/>
          <p:cNvSpPr txBox="1"/>
          <p:nvPr/>
        </p:nvSpPr>
        <p:spPr>
          <a:xfrm>
            <a:off x="8686800" y="8732520"/>
            <a:ext cx="3200400" cy="274320"/>
          </a:xfrm>
          <a:prstGeom prst="rect">
            <a:avLst/>
          </a:prstGeom>
          <a:noFill/>
        </p:spPr>
        <p:txBody>
          <a:bodyPr wrap="square" lIns="45720" tIns="27432" rIns="45720" bIns="27432" anchor="t"/>
          <a:lstStyle/>
          <a:p>
            <a:pPr algn="r"/>
            <a:r>
              <a:rPr sz="1000" b="0" i="1">
                <a:solidFill>
                  <a:srgbClr val="595959"/>
                </a:solidFill>
                <a:latin typeface="Calibri"/>
              </a:rPr>
              <a:t>Source: BJC Specialties</a:t>
            </a:r>
          </a:p>
        </p:txBody>
      </p:sp>
    </p:spTree>
    <p:extLst>
      <p:ext uri="{BB962C8B-B14F-4D97-AF65-F5344CB8AC3E}">
        <p14:creationId xmlns:p14="http://schemas.microsoft.com/office/powerpoint/2010/main" val="7641512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Vietnam Food Industry at a Glance</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2651760" cy="17373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US$88 bn</a:t>
            </a:r>
          </a:p>
        </p:txBody>
      </p:sp>
      <p:sp>
        <p:nvSpPr>
          <p:cNvPr id="10" name="TextBox 9"/>
          <p:cNvSpPr txBox="1"/>
          <p:nvPr/>
        </p:nvSpPr>
        <p:spPr>
          <a:xfrm>
            <a:off x="594360" y="2057400"/>
            <a:ext cx="2377440" cy="822959"/>
          </a:xfrm>
          <a:prstGeom prst="rect">
            <a:avLst/>
          </a:prstGeom>
          <a:noFill/>
        </p:spPr>
        <p:txBody>
          <a:bodyPr wrap="square" lIns="45720" tIns="27432" rIns="45720" bIns="27432" anchor="t"/>
          <a:lstStyle/>
          <a:p>
            <a:pPr algn="ctr"/>
            <a:r>
              <a:rPr sz="1450" b="0" i="0">
                <a:solidFill>
                  <a:srgbClr val="262626"/>
                </a:solidFill>
                <a:latin typeface="Calibri"/>
              </a:rPr>
              <a:t>food processing industry 2025 (+11%)</a:t>
            </a:r>
          </a:p>
        </p:txBody>
      </p:sp>
      <p:sp>
        <p:nvSpPr>
          <p:cNvPr id="11" name="Rounded Rectangle 10"/>
          <p:cNvSpPr/>
          <p:nvPr/>
        </p:nvSpPr>
        <p:spPr>
          <a:xfrm>
            <a:off x="3319272" y="1188720"/>
            <a:ext cx="2651760" cy="17373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456432"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US$9.5 bn</a:t>
            </a:r>
          </a:p>
        </p:txBody>
      </p:sp>
      <p:sp>
        <p:nvSpPr>
          <p:cNvPr id="13" name="TextBox 12"/>
          <p:cNvSpPr txBox="1"/>
          <p:nvPr/>
        </p:nvSpPr>
        <p:spPr>
          <a:xfrm>
            <a:off x="3456432" y="2057400"/>
            <a:ext cx="2377440" cy="822959"/>
          </a:xfrm>
          <a:prstGeom prst="rect">
            <a:avLst/>
          </a:prstGeom>
          <a:noFill/>
        </p:spPr>
        <p:txBody>
          <a:bodyPr wrap="square" lIns="45720" tIns="27432" rIns="45720" bIns="27432" anchor="t"/>
          <a:lstStyle/>
          <a:p>
            <a:pPr algn="ctr"/>
            <a:r>
              <a:rPr sz="1450" b="0" i="0">
                <a:solidFill>
                  <a:srgbClr val="262626"/>
                </a:solidFill>
                <a:latin typeface="Calibri"/>
              </a:rPr>
              <a:t>beverage manufacturing 2025</a:t>
            </a:r>
          </a:p>
        </p:txBody>
      </p:sp>
      <p:sp>
        <p:nvSpPr>
          <p:cNvPr id="14" name="Rounded Rectangle 13"/>
          <p:cNvSpPr/>
          <p:nvPr/>
        </p:nvSpPr>
        <p:spPr>
          <a:xfrm>
            <a:off x="6181344" y="1188720"/>
            <a:ext cx="2651760" cy="17373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18504"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101.9 M</a:t>
            </a:r>
          </a:p>
        </p:txBody>
      </p:sp>
      <p:sp>
        <p:nvSpPr>
          <p:cNvPr id="16" name="TextBox 15"/>
          <p:cNvSpPr txBox="1"/>
          <p:nvPr/>
        </p:nvSpPr>
        <p:spPr>
          <a:xfrm>
            <a:off x="6318504" y="2057400"/>
            <a:ext cx="2377440" cy="822959"/>
          </a:xfrm>
          <a:prstGeom prst="rect">
            <a:avLst/>
          </a:prstGeom>
          <a:noFill/>
        </p:spPr>
        <p:txBody>
          <a:bodyPr wrap="square" lIns="45720" tIns="27432" rIns="45720" bIns="27432" anchor="t"/>
          <a:lstStyle/>
          <a:p>
            <a:pPr algn="ctr"/>
            <a:r>
              <a:rPr sz="1450" b="0" i="0">
                <a:solidFill>
                  <a:srgbClr val="262626"/>
                </a:solidFill>
                <a:latin typeface="Calibri"/>
              </a:rPr>
              <a:t>consumers; GDP US$514 bn</a:t>
            </a:r>
          </a:p>
        </p:txBody>
      </p:sp>
      <p:sp>
        <p:nvSpPr>
          <p:cNvPr id="17" name="Rounded Rectangle 16"/>
          <p:cNvSpPr/>
          <p:nvPr/>
        </p:nvSpPr>
        <p:spPr>
          <a:xfrm>
            <a:off x="9043416" y="1188720"/>
            <a:ext cx="2651760" cy="17373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80576"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+8.0%</a:t>
            </a:r>
          </a:p>
        </p:txBody>
      </p:sp>
      <p:sp>
        <p:nvSpPr>
          <p:cNvPr id="19" name="TextBox 18"/>
          <p:cNvSpPr txBox="1"/>
          <p:nvPr/>
        </p:nvSpPr>
        <p:spPr>
          <a:xfrm>
            <a:off x="9180576" y="2057400"/>
            <a:ext cx="2377440" cy="822959"/>
          </a:xfrm>
          <a:prstGeom prst="rect">
            <a:avLst/>
          </a:prstGeom>
          <a:noFill/>
        </p:spPr>
        <p:txBody>
          <a:bodyPr wrap="square" lIns="45720" tIns="27432" rIns="45720" bIns="27432" anchor="t"/>
          <a:lstStyle/>
          <a:p>
            <a:pPr algn="ctr"/>
            <a:r>
              <a:rPr sz="1450" b="0" i="0">
                <a:solidFill>
                  <a:srgbClr val="262626"/>
                </a:solidFill>
                <a:latin typeface="Calibri"/>
              </a:rPr>
              <a:t>GDP growth 2025</a:t>
            </a:r>
          </a:p>
        </p:txBody>
      </p:sp>
      <p:sp>
        <p:nvSpPr>
          <p:cNvPr id="20" name="TextBox 19"/>
          <p:cNvSpPr txBox="1"/>
          <p:nvPr/>
        </p:nvSpPr>
        <p:spPr>
          <a:xfrm>
            <a:off x="457200" y="3154680"/>
            <a:ext cx="11274552" cy="457200"/>
          </a:xfrm>
          <a:prstGeom prst="rect">
            <a:avLst/>
          </a:prstGeom>
          <a:noFill/>
        </p:spPr>
        <p:txBody>
          <a:bodyPr wrap="square" lIns="45720" tIns="27432" rIns="45720" bIns="27432" anchor="t"/>
          <a:lstStyle/>
          <a:p>
            <a:pPr algn="l"/>
            <a:r>
              <a:rPr sz="2000" b="1" i="0">
                <a:solidFill>
                  <a:srgbClr val="284F3E"/>
                </a:solidFill>
                <a:latin typeface="Calibri"/>
              </a:rPr>
              <a:t>Key trends that matter for HYBIND &amp; FGAA</a:t>
            </a:r>
          </a:p>
        </p:txBody>
      </p:sp>
      <p:sp>
        <p:nvSpPr>
          <p:cNvPr id="21" name="Rounded Rectangle 20"/>
          <p:cNvSpPr/>
          <p:nvPr/>
        </p:nvSpPr>
        <p:spPr>
          <a:xfrm>
            <a:off x="457200" y="3703320"/>
            <a:ext cx="5486400" cy="2103120"/>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685800" y="3931920"/>
            <a:ext cx="731520" cy="73152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heck_w.png"/>
          <p:cNvPicPr>
            <a:picLocks noChangeAspect="1"/>
          </p:cNvPicPr>
          <p:nvPr/>
        </p:nvPicPr>
        <p:blipFill>
          <a:blip r:embed="rId7"/>
          <a:stretch>
            <a:fillRect/>
          </a:stretch>
        </p:blipFill>
        <p:spPr>
          <a:xfrm>
            <a:off x="861364" y="4107484"/>
            <a:ext cx="380390" cy="380390"/>
          </a:xfrm>
          <a:prstGeom prst="rect">
            <a:avLst/>
          </a:prstGeom>
        </p:spPr>
      </p:pic>
      <p:sp>
        <p:nvSpPr>
          <p:cNvPr id="24" name="TextBox 23"/>
          <p:cNvSpPr txBox="1"/>
          <p:nvPr/>
        </p:nvSpPr>
        <p:spPr>
          <a:xfrm>
            <a:off x="1600200" y="3886200"/>
            <a:ext cx="4206240" cy="502920"/>
          </a:xfrm>
          <a:prstGeom prst="rect">
            <a:avLst/>
          </a:prstGeom>
          <a:noFill/>
        </p:spPr>
        <p:txBody>
          <a:bodyPr wrap="square" lIns="45720" tIns="27432" rIns="45720" bIns="27432" anchor="ctr"/>
          <a:lstStyle/>
          <a:p>
            <a:pPr algn="l"/>
            <a:r>
              <a:rPr sz="1800" b="1" i="0">
                <a:solidFill>
                  <a:srgbClr val="284F3E"/>
                </a:solidFill>
                <a:latin typeface="Calibri"/>
              </a:rPr>
              <a:t>Food safety first</a:t>
            </a:r>
          </a:p>
        </p:txBody>
      </p:sp>
      <p:sp>
        <p:nvSpPr>
          <p:cNvPr id="25" name="TextBox 24"/>
          <p:cNvSpPr txBox="1"/>
          <p:nvPr/>
        </p:nvSpPr>
        <p:spPr>
          <a:xfrm>
            <a:off x="1600200" y="4434840"/>
            <a:ext cx="4206240" cy="1325880"/>
          </a:xfrm>
          <a:prstGeom prst="rect">
            <a:avLst/>
          </a:prstGeom>
          <a:noFill/>
        </p:spPr>
        <p:txBody>
          <a:bodyPr wrap="square" lIns="45720" tIns="27432" rIns="45720" bIns="27432" anchor="t"/>
          <a:lstStyle/>
          <a:p>
            <a:pPr algn="l"/>
            <a:r>
              <a:rPr sz="1500" b="0" i="0">
                <a:solidFill>
                  <a:srgbClr val="262626"/>
                </a:solidFill>
                <a:latin typeface="Calibri"/>
              </a:rPr>
              <a:t>Recent scandals in canned meat and nutritional beverages push manufacturers toward safe, high-quality, documented ingredients.</a:t>
            </a:r>
          </a:p>
        </p:txBody>
      </p:sp>
      <p:sp>
        <p:nvSpPr>
          <p:cNvPr id="26" name="Rounded Rectangle 25"/>
          <p:cNvSpPr/>
          <p:nvPr/>
        </p:nvSpPr>
        <p:spPr>
          <a:xfrm>
            <a:off x="6245352" y="3703320"/>
            <a:ext cx="5486400" cy="2103120"/>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6473952" y="3931920"/>
            <a:ext cx="731520" cy="73152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industry_w.png"/>
          <p:cNvPicPr>
            <a:picLocks noChangeAspect="1"/>
          </p:cNvPicPr>
          <p:nvPr/>
        </p:nvPicPr>
        <p:blipFill>
          <a:blip r:embed="rId8"/>
          <a:stretch>
            <a:fillRect/>
          </a:stretch>
        </p:blipFill>
        <p:spPr>
          <a:xfrm>
            <a:off x="6649516" y="4107484"/>
            <a:ext cx="380390" cy="380390"/>
          </a:xfrm>
          <a:prstGeom prst="rect">
            <a:avLst/>
          </a:prstGeom>
        </p:spPr>
      </p:pic>
      <p:sp>
        <p:nvSpPr>
          <p:cNvPr id="29" name="TextBox 28"/>
          <p:cNvSpPr txBox="1"/>
          <p:nvPr/>
        </p:nvSpPr>
        <p:spPr>
          <a:xfrm>
            <a:off x="7388352" y="3886200"/>
            <a:ext cx="4206240" cy="502920"/>
          </a:xfrm>
          <a:prstGeom prst="rect">
            <a:avLst/>
          </a:prstGeom>
          <a:noFill/>
        </p:spPr>
        <p:txBody>
          <a:bodyPr wrap="square" lIns="45720" tIns="27432" rIns="45720" bIns="27432" anchor="ctr"/>
          <a:lstStyle/>
          <a:p>
            <a:pPr algn="l"/>
            <a:r>
              <a:rPr sz="1800" b="1" i="0">
                <a:solidFill>
                  <a:srgbClr val="284F3E"/>
                </a:solidFill>
                <a:latin typeface="Calibri"/>
              </a:rPr>
              <a:t>Convenience &amp; branded meat</a:t>
            </a:r>
          </a:p>
        </p:txBody>
      </p:sp>
      <p:sp>
        <p:nvSpPr>
          <p:cNvPr id="30" name="TextBox 29"/>
          <p:cNvSpPr txBox="1"/>
          <p:nvPr/>
        </p:nvSpPr>
        <p:spPr>
          <a:xfrm>
            <a:off x="7388352" y="4434840"/>
            <a:ext cx="4206240" cy="1325880"/>
          </a:xfrm>
          <a:prstGeom prst="rect">
            <a:avLst/>
          </a:prstGeom>
          <a:noFill/>
        </p:spPr>
        <p:txBody>
          <a:bodyPr wrap="square" lIns="45720" tIns="27432" rIns="45720" bIns="27432" anchor="t"/>
          <a:lstStyle/>
          <a:p>
            <a:pPr algn="l"/>
            <a:r>
              <a:rPr sz="1500" b="0" i="0">
                <a:solidFill>
                  <a:srgbClr val="262626"/>
                </a:solidFill>
                <a:latin typeface="Calibri"/>
              </a:rPr>
              <a:t>Ready-to-cook and convenience foods grow with the middle class; MEATDeli, C.P. and Ba Huân run their own retail.</a:t>
            </a:r>
          </a:p>
        </p:txBody>
      </p:sp>
      <p:sp>
        <p:nvSpPr>
          <p:cNvPr id="31" name="Rounded Rectangle 30"/>
          <p:cNvSpPr/>
          <p:nvPr/>
        </p:nvSpPr>
        <p:spPr>
          <a:xfrm>
            <a:off x="457200" y="5989320"/>
            <a:ext cx="5486400" cy="2103120"/>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Oval 31"/>
          <p:cNvSpPr/>
          <p:nvPr/>
        </p:nvSpPr>
        <p:spPr>
          <a:xfrm>
            <a:off x="685800" y="6217920"/>
            <a:ext cx="731520" cy="73152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rocket_w.png"/>
          <p:cNvPicPr>
            <a:picLocks noChangeAspect="1"/>
          </p:cNvPicPr>
          <p:nvPr/>
        </p:nvPicPr>
        <p:blipFill>
          <a:blip r:embed="rId9"/>
          <a:stretch>
            <a:fillRect/>
          </a:stretch>
        </p:blipFill>
        <p:spPr>
          <a:xfrm>
            <a:off x="861364" y="6393484"/>
            <a:ext cx="380390" cy="380390"/>
          </a:xfrm>
          <a:prstGeom prst="rect">
            <a:avLst/>
          </a:prstGeom>
        </p:spPr>
      </p:pic>
      <p:sp>
        <p:nvSpPr>
          <p:cNvPr id="34" name="TextBox 33"/>
          <p:cNvSpPr txBox="1"/>
          <p:nvPr/>
        </p:nvSpPr>
        <p:spPr>
          <a:xfrm>
            <a:off x="1600200" y="6172200"/>
            <a:ext cx="4206240" cy="502920"/>
          </a:xfrm>
          <a:prstGeom prst="rect">
            <a:avLst/>
          </a:prstGeom>
          <a:noFill/>
        </p:spPr>
        <p:txBody>
          <a:bodyPr wrap="square" lIns="45720" tIns="27432" rIns="45720" bIns="27432" anchor="ctr"/>
          <a:lstStyle/>
          <a:p>
            <a:pPr algn="l"/>
            <a:r>
              <a:rPr sz="1800" b="1" i="0">
                <a:solidFill>
                  <a:srgbClr val="284F3E"/>
                </a:solidFill>
                <a:latin typeface="Calibri"/>
              </a:rPr>
              <a:t>Domestic brands rising</a:t>
            </a:r>
          </a:p>
        </p:txBody>
      </p:sp>
      <p:sp>
        <p:nvSpPr>
          <p:cNvPr id="35" name="TextBox 34"/>
          <p:cNvSpPr txBox="1"/>
          <p:nvPr/>
        </p:nvSpPr>
        <p:spPr>
          <a:xfrm>
            <a:off x="1600200" y="6720840"/>
            <a:ext cx="4206240" cy="1325880"/>
          </a:xfrm>
          <a:prstGeom prst="rect">
            <a:avLst/>
          </a:prstGeom>
          <a:noFill/>
        </p:spPr>
        <p:txBody>
          <a:bodyPr wrap="square" lIns="45720" tIns="27432" rIns="45720" bIns="27432" anchor="t"/>
          <a:lstStyle/>
          <a:p>
            <a:pPr algn="l"/>
            <a:r>
              <a:rPr sz="1500" b="0" i="0">
                <a:solidFill>
                  <a:srgbClr val="262626"/>
                </a:solidFill>
                <a:latin typeface="Calibri"/>
              </a:rPr>
              <a:t>Processors shift from export dependence to the home market and build their own brands — more formulation work.</a:t>
            </a:r>
          </a:p>
        </p:txBody>
      </p:sp>
      <p:sp>
        <p:nvSpPr>
          <p:cNvPr id="36" name="Rounded Rectangle 35"/>
          <p:cNvSpPr/>
          <p:nvPr/>
        </p:nvSpPr>
        <p:spPr>
          <a:xfrm>
            <a:off x="6245352" y="5989320"/>
            <a:ext cx="5486400" cy="2103120"/>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Oval 36"/>
          <p:cNvSpPr/>
          <p:nvPr/>
        </p:nvSpPr>
        <p:spPr>
          <a:xfrm>
            <a:off x="6473952" y="6217920"/>
            <a:ext cx="731520" cy="73152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leaf_w.png"/>
          <p:cNvPicPr>
            <a:picLocks noChangeAspect="1"/>
          </p:cNvPicPr>
          <p:nvPr/>
        </p:nvPicPr>
        <p:blipFill>
          <a:blip r:embed="rId10"/>
          <a:stretch>
            <a:fillRect/>
          </a:stretch>
        </p:blipFill>
        <p:spPr>
          <a:xfrm>
            <a:off x="6649516" y="6393484"/>
            <a:ext cx="380390" cy="380390"/>
          </a:xfrm>
          <a:prstGeom prst="rect">
            <a:avLst/>
          </a:prstGeom>
        </p:spPr>
      </p:pic>
      <p:sp>
        <p:nvSpPr>
          <p:cNvPr id="39" name="TextBox 38"/>
          <p:cNvSpPr txBox="1"/>
          <p:nvPr/>
        </p:nvSpPr>
        <p:spPr>
          <a:xfrm>
            <a:off x="7388352" y="6172200"/>
            <a:ext cx="4206240" cy="502920"/>
          </a:xfrm>
          <a:prstGeom prst="rect">
            <a:avLst/>
          </a:prstGeom>
          <a:noFill/>
        </p:spPr>
        <p:txBody>
          <a:bodyPr wrap="square" lIns="45720" tIns="27432" rIns="45720" bIns="27432" anchor="ctr"/>
          <a:lstStyle/>
          <a:p>
            <a:pPr algn="l"/>
            <a:r>
              <a:rPr sz="1800" b="1" i="0">
                <a:solidFill>
                  <a:srgbClr val="284F3E"/>
                </a:solidFill>
                <a:latin typeface="Calibri"/>
              </a:rPr>
              <a:t>Health &amp; functional</a:t>
            </a:r>
          </a:p>
        </p:txBody>
      </p:sp>
      <p:sp>
        <p:nvSpPr>
          <p:cNvPr id="40" name="TextBox 39"/>
          <p:cNvSpPr txBox="1"/>
          <p:nvPr/>
        </p:nvSpPr>
        <p:spPr>
          <a:xfrm>
            <a:off x="7388352" y="6720840"/>
            <a:ext cx="4206240" cy="1325880"/>
          </a:xfrm>
          <a:prstGeom prst="rect">
            <a:avLst/>
          </a:prstGeom>
          <a:noFill/>
        </p:spPr>
        <p:txBody>
          <a:bodyPr wrap="square" lIns="45720" tIns="27432" rIns="45720" bIns="27432" anchor="t"/>
          <a:lstStyle/>
          <a:p>
            <a:pPr algn="l"/>
            <a:r>
              <a:rPr sz="1500" b="0" i="0">
                <a:solidFill>
                  <a:srgbClr val="262626"/>
                </a:solidFill>
                <a:latin typeface="Calibri"/>
              </a:rPr>
              <a:t>Rising demand for functional and health-oriented beverages, low-sugar and nutrition products.</a:t>
            </a:r>
          </a:p>
        </p:txBody>
      </p:sp>
      <p:sp>
        <p:nvSpPr>
          <p:cNvPr id="41" name="TextBox 40"/>
          <p:cNvSpPr txBox="1"/>
          <p:nvPr/>
        </p:nvSpPr>
        <p:spPr>
          <a:xfrm>
            <a:off x="457200" y="836676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USDA FAS GAIN 'Food Processing Ingredients Annual – Vietnam' VM2026-0004 (Apr 2026); World Food 'Vietnam Country Profile' 2025.</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Market Size &amp; Drivers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~39 kg</a:t>
            </a:r>
          </a:p>
        </p:txBody>
      </p:sp>
      <p:sp>
        <p:nvSpPr>
          <p:cNvPr id="10" name="TextBox 9"/>
          <p:cNvSpPr txBox="1"/>
          <p:nvPr/>
        </p:nvSpPr>
        <p:spPr>
          <a:xfrm>
            <a:off x="594360"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pork per capita 2025 (≈30 kg in 2021); pork &gt;63% of livestock-product consumption</a:t>
            </a:r>
          </a:p>
        </p:txBody>
      </p:sp>
      <p:sp>
        <p:nvSpPr>
          <p:cNvPr id="11" name="Rounded Rectangle 10"/>
          <p:cNvSpPr/>
          <p:nvPr/>
        </p:nvSpPr>
        <p:spPr>
          <a:xfrm>
            <a:off x="3319272"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456432"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5.4 Mt</a:t>
            </a:r>
          </a:p>
        </p:txBody>
      </p:sp>
      <p:sp>
        <p:nvSpPr>
          <p:cNvPr id="13" name="TextBox 12"/>
          <p:cNvSpPr txBox="1"/>
          <p:nvPr/>
        </p:nvSpPr>
        <p:spPr>
          <a:xfrm>
            <a:off x="3456432"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pork produced 2025 — Vietnam is #4 globally in pork consumption</a:t>
            </a:r>
          </a:p>
        </p:txBody>
      </p:sp>
      <p:sp>
        <p:nvSpPr>
          <p:cNvPr id="14" name="Rounded Rectangle 13"/>
          <p:cNvSpPr/>
          <p:nvPr/>
        </p:nvSpPr>
        <p:spPr>
          <a:xfrm>
            <a:off x="6181344"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18504"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7.4 Mt</a:t>
            </a:r>
          </a:p>
        </p:txBody>
      </p:sp>
      <p:sp>
        <p:nvSpPr>
          <p:cNvPr id="16" name="TextBox 15"/>
          <p:cNvSpPr txBox="1"/>
          <p:nvPr/>
        </p:nvSpPr>
        <p:spPr>
          <a:xfrm>
            <a:off x="6318504"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frozen aquatic products 2025 (3.0 Mt in 2021)</a:t>
            </a:r>
          </a:p>
        </p:txBody>
      </p:sp>
      <p:sp>
        <p:nvSpPr>
          <p:cNvPr id="17" name="Rounded Rectangle 16"/>
          <p:cNvSpPr/>
          <p:nvPr/>
        </p:nvSpPr>
        <p:spPr>
          <a:xfrm>
            <a:off x="9043416"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80576"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US$11.3 bn</a:t>
            </a:r>
          </a:p>
        </p:txBody>
      </p:sp>
      <p:sp>
        <p:nvSpPr>
          <p:cNvPr id="19" name="TextBox 18"/>
          <p:cNvSpPr txBox="1"/>
          <p:nvPr/>
        </p:nvSpPr>
        <p:spPr>
          <a:xfrm>
            <a:off x="9180576"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seafood exports 2025 (+12.4%): shrimp US$4.6 bn, pangasius US$2.2 bn</a:t>
            </a:r>
          </a:p>
        </p:txBody>
      </p:sp>
      <p:sp>
        <p:nvSpPr>
          <p:cNvPr id="20" name="Rounded Rectangle 19"/>
          <p:cNvSpPr/>
          <p:nvPr/>
        </p:nvSpPr>
        <p:spPr>
          <a:xfrm>
            <a:off x="457200" y="3657600"/>
            <a:ext cx="5486400" cy="4160520"/>
          </a:xfrm>
          <a:prstGeom prst="roundRect">
            <a:avLst>
              <a:gd name="adj" fmla="val 4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640080" y="379476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meat_w.png"/>
          <p:cNvPicPr>
            <a:picLocks noChangeAspect="1"/>
          </p:cNvPicPr>
          <p:nvPr/>
        </p:nvPicPr>
        <p:blipFill>
          <a:blip r:embed="rId7"/>
          <a:stretch>
            <a:fillRect/>
          </a:stretch>
        </p:blipFill>
        <p:spPr>
          <a:xfrm>
            <a:off x="782726" y="3937406"/>
            <a:ext cx="309067" cy="309067"/>
          </a:xfrm>
          <a:prstGeom prst="rect">
            <a:avLst/>
          </a:prstGeom>
        </p:spPr>
      </p:pic>
      <p:sp>
        <p:nvSpPr>
          <p:cNvPr id="23" name="TextBox 22"/>
          <p:cNvSpPr txBox="1"/>
          <p:nvPr/>
        </p:nvSpPr>
        <p:spPr>
          <a:xfrm>
            <a:off x="1371600" y="3822191"/>
            <a:ext cx="4480560" cy="548640"/>
          </a:xfrm>
          <a:prstGeom prst="rect">
            <a:avLst/>
          </a:prstGeom>
          <a:noFill/>
        </p:spPr>
        <p:txBody>
          <a:bodyPr wrap="square" lIns="45720" tIns="27432" rIns="45720" bIns="27432" anchor="ctr"/>
          <a:lstStyle/>
          <a:p>
            <a:pPr algn="l"/>
            <a:r>
              <a:rPr sz="1900" b="1" i="0">
                <a:solidFill>
                  <a:srgbClr val="284F3E"/>
                </a:solidFill>
                <a:latin typeface="Calibri"/>
              </a:rPr>
              <a:t>Where HYBIND plays</a:t>
            </a:r>
          </a:p>
        </p:txBody>
      </p:sp>
      <p:sp>
        <p:nvSpPr>
          <p:cNvPr id="24" name="TextBox 23"/>
          <p:cNvSpPr txBox="1"/>
          <p:nvPr/>
        </p:nvSpPr>
        <p:spPr>
          <a:xfrm>
            <a:off x="685800" y="4526280"/>
            <a:ext cx="5120640" cy="3200400"/>
          </a:xfrm>
          <a:prstGeom prst="rect">
            <a:avLst/>
          </a:prstGeom>
          <a:noFill/>
        </p:spPr>
        <p:txBody>
          <a:bodyPr wrap="square" lIns="45720" tIns="27432" rIns="45720" bIns="27432" anchor="t"/>
          <a:lstStyle/>
          <a:p>
            <a:pPr marL="182880" indent="-182880" algn="l">
              <a:spcAft>
                <a:spcPts val="800"/>
              </a:spcAft>
              <a:buFont typeface="Arial"/>
              <a:buChar char="•"/>
            </a:pPr>
            <a:r>
              <a:rPr sz="1500" b="1" i="0">
                <a:solidFill>
                  <a:srgbClr val="284F3E"/>
                </a:solidFill>
                <a:latin typeface="Calibri"/>
              </a:rPr>
              <a:t>Processed meat: </a:t>
            </a:r>
            <a:r>
              <a:rPr sz="1500" b="0" i="0">
                <a:solidFill>
                  <a:srgbClr val="262626"/>
                </a:solidFill>
                <a:latin typeface="Calibri"/>
              </a:rPr>
              <a:t>sausage, ham, giò lụa / chả, meatballs, canned meat</a:t>
            </a:r>
          </a:p>
          <a:p>
            <a:pPr marL="182880" indent="-182880" algn="l">
              <a:spcAft>
                <a:spcPts val="800"/>
              </a:spcAft>
              <a:buFont typeface="Arial"/>
              <a:buChar char="•"/>
            </a:pPr>
            <a:r>
              <a:rPr sz="1500" b="1" i="0">
                <a:solidFill>
                  <a:srgbClr val="284F3E"/>
                </a:solidFill>
                <a:latin typeface="Calibri"/>
              </a:rPr>
              <a:t>Poultry: </a:t>
            </a:r>
            <a:r>
              <a:rPr sz="1500" b="0" i="0">
                <a:solidFill>
                  <a:srgbClr val="262626"/>
                </a:solidFill>
                <a:latin typeface="Calibri"/>
              </a:rPr>
              <a:t>marinated / injected, coated &amp; fried chicken</a:t>
            </a:r>
          </a:p>
          <a:p>
            <a:pPr marL="182880" indent="-182880" algn="l">
              <a:spcAft>
                <a:spcPts val="800"/>
              </a:spcAft>
              <a:buFont typeface="Arial"/>
              <a:buChar char="•"/>
            </a:pPr>
            <a:r>
              <a:rPr sz="1500" b="1" i="0">
                <a:solidFill>
                  <a:srgbClr val="284F3E"/>
                </a:solidFill>
                <a:latin typeface="Calibri"/>
              </a:rPr>
              <a:t>Frozen convenience food: </a:t>
            </a:r>
            <a:r>
              <a:rPr sz="1500" b="0" i="0">
                <a:solidFill>
                  <a:srgbClr val="262626"/>
                </a:solidFill>
                <a:latin typeface="Calibri"/>
              </a:rPr>
              <a:t>dumplings, spring rolls, ready meals</a:t>
            </a:r>
          </a:p>
          <a:p>
            <a:pPr marL="182880" indent="-182880" algn="l">
              <a:buFont typeface="Arial"/>
              <a:buChar char="•"/>
            </a:pPr>
            <a:r>
              <a:rPr sz="1500" b="1" i="0">
                <a:solidFill>
                  <a:srgbClr val="284F3E"/>
                </a:solidFill>
                <a:latin typeface="Calibri"/>
              </a:rPr>
              <a:t>Seafood*: </a:t>
            </a:r>
            <a:r>
              <a:rPr sz="1500" b="0" i="0">
                <a:solidFill>
                  <a:srgbClr val="262626"/>
                </a:solidFill>
                <a:latin typeface="Calibri"/>
              </a:rPr>
              <a:t>shrimp, pangasius, squid — phosphate-based water-retention agents widely used</a:t>
            </a:r>
          </a:p>
        </p:txBody>
      </p:sp>
      <p:sp>
        <p:nvSpPr>
          <p:cNvPr id="25" name="Rounded Rectangle 24"/>
          <p:cNvSpPr/>
          <p:nvPr/>
        </p:nvSpPr>
        <p:spPr>
          <a:xfrm>
            <a:off x="6245352" y="3657600"/>
            <a:ext cx="5486400" cy="4160520"/>
          </a:xfrm>
          <a:prstGeom prst="roundRect">
            <a:avLst>
              <a:gd name="adj" fmla="val 4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6428232" y="379476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hart_w.png"/>
          <p:cNvPicPr>
            <a:picLocks noChangeAspect="1"/>
          </p:cNvPicPr>
          <p:nvPr/>
        </p:nvPicPr>
        <p:blipFill>
          <a:blip r:embed="rId8"/>
          <a:stretch>
            <a:fillRect/>
          </a:stretch>
        </p:blipFill>
        <p:spPr>
          <a:xfrm>
            <a:off x="6570878" y="3937406"/>
            <a:ext cx="309067" cy="309067"/>
          </a:xfrm>
          <a:prstGeom prst="rect">
            <a:avLst/>
          </a:prstGeom>
        </p:spPr>
      </p:pic>
      <p:sp>
        <p:nvSpPr>
          <p:cNvPr id="28" name="TextBox 27"/>
          <p:cNvSpPr txBox="1"/>
          <p:nvPr/>
        </p:nvSpPr>
        <p:spPr>
          <a:xfrm>
            <a:off x="7159752" y="3822191"/>
            <a:ext cx="4480560" cy="548640"/>
          </a:xfrm>
          <a:prstGeom prst="rect">
            <a:avLst/>
          </a:prstGeom>
          <a:noFill/>
        </p:spPr>
        <p:txBody>
          <a:bodyPr wrap="square" lIns="45720" tIns="27432" rIns="45720" bIns="27432" anchor="ctr"/>
          <a:lstStyle/>
          <a:p>
            <a:pPr algn="l"/>
            <a:r>
              <a:rPr sz="1900" b="1" i="0">
                <a:solidFill>
                  <a:srgbClr val="284F3E"/>
                </a:solidFill>
                <a:latin typeface="Calibri"/>
              </a:rPr>
              <a:t>Growth drivers</a:t>
            </a:r>
          </a:p>
        </p:txBody>
      </p:sp>
      <p:sp>
        <p:nvSpPr>
          <p:cNvPr id="29" name="TextBox 28"/>
          <p:cNvSpPr txBox="1"/>
          <p:nvPr/>
        </p:nvSpPr>
        <p:spPr>
          <a:xfrm>
            <a:off x="6473952" y="4526280"/>
            <a:ext cx="5120640" cy="320040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Industrial, branded meat is scaling up — e.g., MEATDeli Long An planned 15,000 t/yr processed products (phase 1)</a:t>
            </a:r>
          </a:p>
          <a:p>
            <a:pPr marL="182880" indent="-182880" algn="l">
              <a:spcAft>
                <a:spcPts val="800"/>
              </a:spcAft>
              <a:buFont typeface="Arial"/>
              <a:buChar char="•"/>
            </a:pPr>
            <a:r>
              <a:rPr sz="1500" b="0" i="0">
                <a:solidFill>
                  <a:srgbClr val="262626"/>
                </a:solidFill>
                <a:latin typeface="Calibri"/>
              </a:rPr>
              <a:t>Meat &amp; meat-product imports US$1.78 bn in 2024 (+18%) — room for local processing</a:t>
            </a:r>
          </a:p>
          <a:p>
            <a:pPr marL="182880" indent="-182880" algn="l">
              <a:spcAft>
                <a:spcPts val="800"/>
              </a:spcAft>
              <a:buFont typeface="Arial"/>
              <a:buChar char="•"/>
            </a:pPr>
            <a:r>
              <a:rPr sz="1500" b="0" i="0">
                <a:solidFill>
                  <a:srgbClr val="262626"/>
                </a:solidFill>
                <a:latin typeface="Calibri"/>
              </a:rPr>
              <a:t>Clean-label pressure from modern retail and export buyers (Japan, EU, Korea, US)</a:t>
            </a:r>
          </a:p>
          <a:p>
            <a:pPr marL="182880" indent="-182880" algn="l">
              <a:spcAft>
                <a:spcPts val="800"/>
              </a:spcAft>
              <a:buFont typeface="Arial"/>
              <a:buChar char="•"/>
            </a:pPr>
            <a:r>
              <a:rPr sz="1500" b="0" i="0">
                <a:solidFill>
                  <a:srgbClr val="262626"/>
                </a:solidFill>
                <a:latin typeface="Calibri"/>
              </a:rPr>
              <a:t>Yield = margin under raw-material cost pressure</a:t>
            </a:r>
          </a:p>
        </p:txBody>
      </p:sp>
      <p:sp>
        <p:nvSpPr>
          <p:cNvPr id="30" name="Rounded Rectangle 29"/>
          <p:cNvSpPr/>
          <p:nvPr/>
        </p:nvSpPr>
        <p:spPr>
          <a:xfrm>
            <a:off x="457200" y="7955279"/>
            <a:ext cx="11274552" cy="502920"/>
          </a:xfrm>
          <a:prstGeom prst="roundRect">
            <a:avLst>
              <a:gd name="adj" fmla="val 2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40080" y="7973568"/>
            <a:ext cx="10972800" cy="457200"/>
          </a:xfrm>
          <a:prstGeom prst="rect">
            <a:avLst/>
          </a:prstGeom>
          <a:noFill/>
        </p:spPr>
        <p:txBody>
          <a:bodyPr wrap="square" lIns="45720" tIns="27432" rIns="45720" bIns="27432" anchor="ctr"/>
          <a:lstStyle/>
          <a:p>
            <a:pPr algn="l"/>
            <a:r>
              <a:rPr sz="1300" b="1" i="0">
                <a:solidFill>
                  <a:srgbClr val="284F3E"/>
                </a:solidFill>
                <a:latin typeface="Calibri"/>
              </a:rPr>
              <a:t>Sizing next step: </a:t>
            </a:r>
            <a:r>
              <a:rPr sz="1300" b="0" i="0">
                <a:solidFill>
                  <a:srgbClr val="262626"/>
                </a:solidFill>
                <a:latin typeface="Calibri"/>
              </a:rPr>
              <a:t>phosphate-replacement volume to be sized jointly with CJ BIO from phosphate import data and plant audits at priority accounts</a:t>
            </a:r>
          </a:p>
        </p:txBody>
      </p:sp>
      <p:sp>
        <p:nvSpPr>
          <p:cNvPr id="32" name="TextBox 31"/>
          <p:cNvSpPr txBox="1"/>
          <p:nvPr/>
        </p:nvSpPr>
        <p:spPr>
          <a:xfrm>
            <a:off x="457200" y="854964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MOIT Domestic Market Dept. (via VNA, Feb 2026); GSO via USDA GAIN VM2026-0004; VASEP 2025; World Food Vietnam Profile 2025; VnBusiness (Oct 2020). *Seafood subject to CJ validation.</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FGAA – Market Size &amp; Drivers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94360"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US$888 M</a:t>
            </a:r>
          </a:p>
        </p:txBody>
      </p:sp>
      <p:sp>
        <p:nvSpPr>
          <p:cNvPr id="10" name="TextBox 9"/>
          <p:cNvSpPr txBox="1"/>
          <p:nvPr/>
        </p:nvSpPr>
        <p:spPr>
          <a:xfrm>
            <a:off x="594360"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dietary supplements 2024 → US$1.95 bn by 2033 (CAGR 8.2%)</a:t>
            </a:r>
          </a:p>
        </p:txBody>
      </p:sp>
      <p:sp>
        <p:nvSpPr>
          <p:cNvPr id="11" name="Rounded Rectangle 10"/>
          <p:cNvSpPr/>
          <p:nvPr/>
        </p:nvSpPr>
        <p:spPr>
          <a:xfrm>
            <a:off x="3319272"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456432"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US$1.3 bn</a:t>
            </a:r>
          </a:p>
        </p:txBody>
      </p:sp>
      <p:sp>
        <p:nvSpPr>
          <p:cNvPr id="13" name="TextBox 12"/>
          <p:cNvSpPr txBox="1"/>
          <p:nvPr/>
        </p:nvSpPr>
        <p:spPr>
          <a:xfrm>
            <a:off x="3456432"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energy drinks 2025 → US$1.88 bn by 2030 (CAGR 7.8%)</a:t>
            </a:r>
          </a:p>
        </p:txBody>
      </p:sp>
      <p:sp>
        <p:nvSpPr>
          <p:cNvPr id="14" name="Rounded Rectangle 13"/>
          <p:cNvSpPr/>
          <p:nvPr/>
        </p:nvSpPr>
        <p:spPr>
          <a:xfrm>
            <a:off x="6181344"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18504"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&gt;12%</a:t>
            </a:r>
          </a:p>
        </p:txBody>
      </p:sp>
      <p:sp>
        <p:nvSpPr>
          <p:cNvPr id="16" name="TextBox 15"/>
          <p:cNvSpPr txBox="1"/>
          <p:nvPr/>
        </p:nvSpPr>
        <p:spPr>
          <a:xfrm>
            <a:off x="6318504"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CAGR of the functional / fitness-oriented drink segment</a:t>
            </a:r>
          </a:p>
        </p:txBody>
      </p:sp>
      <p:sp>
        <p:nvSpPr>
          <p:cNvPr id="17" name="Rounded Rectangle 16"/>
          <p:cNvSpPr/>
          <p:nvPr/>
        </p:nvSpPr>
        <p:spPr>
          <a:xfrm>
            <a:off x="9043416" y="1188720"/>
            <a:ext cx="2651760" cy="224028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180576" y="1261872"/>
            <a:ext cx="2377440" cy="777240"/>
          </a:xfrm>
          <a:prstGeom prst="rect">
            <a:avLst/>
          </a:prstGeom>
          <a:noFill/>
        </p:spPr>
        <p:txBody>
          <a:bodyPr wrap="square" lIns="45720" tIns="27432" rIns="45720" bIns="27432" anchor="ctr"/>
          <a:lstStyle/>
          <a:p>
            <a:pPr algn="ctr"/>
            <a:r>
              <a:rPr sz="3200" b="1" i="0">
                <a:solidFill>
                  <a:srgbClr val="1E9E57"/>
                </a:solidFill>
                <a:latin typeface="Calibri"/>
              </a:rPr>
              <a:t>~10%</a:t>
            </a:r>
          </a:p>
        </p:txBody>
      </p:sp>
      <p:sp>
        <p:nvSpPr>
          <p:cNvPr id="19" name="TextBox 18"/>
          <p:cNvSpPr txBox="1"/>
          <p:nvPr/>
        </p:nvSpPr>
        <p:spPr>
          <a:xfrm>
            <a:off x="9180576" y="2057400"/>
            <a:ext cx="2377440" cy="1325880"/>
          </a:xfrm>
          <a:prstGeom prst="rect">
            <a:avLst/>
          </a:prstGeom>
          <a:noFill/>
        </p:spPr>
        <p:txBody>
          <a:bodyPr wrap="square" lIns="45720" tIns="27432" rIns="45720" bIns="27432" anchor="t"/>
          <a:lstStyle/>
          <a:p>
            <a:pPr algn="ctr"/>
            <a:r>
              <a:rPr sz="1350" b="0" i="0">
                <a:solidFill>
                  <a:srgbClr val="262626"/>
                </a:solidFill>
                <a:latin typeface="Calibri"/>
              </a:rPr>
              <a:t>share of Wake-up 247 (Masan Consumer – BJCS customer) in energy drinks, 2024</a:t>
            </a:r>
          </a:p>
        </p:txBody>
      </p:sp>
      <p:sp>
        <p:nvSpPr>
          <p:cNvPr id="20" name="Rounded Rectangle 19"/>
          <p:cNvSpPr/>
          <p:nvPr/>
        </p:nvSpPr>
        <p:spPr>
          <a:xfrm>
            <a:off x="457200" y="3657600"/>
            <a:ext cx="5486400" cy="4160520"/>
          </a:xfrm>
          <a:prstGeom prst="roundRect">
            <a:avLst>
              <a:gd name="adj" fmla="val 4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640080" y="379476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pills_w.png"/>
          <p:cNvPicPr>
            <a:picLocks noChangeAspect="1"/>
          </p:cNvPicPr>
          <p:nvPr/>
        </p:nvPicPr>
        <p:blipFill>
          <a:blip r:embed="rId7"/>
          <a:stretch>
            <a:fillRect/>
          </a:stretch>
        </p:blipFill>
        <p:spPr>
          <a:xfrm>
            <a:off x="782726" y="3937406"/>
            <a:ext cx="309067" cy="309067"/>
          </a:xfrm>
          <a:prstGeom prst="rect">
            <a:avLst/>
          </a:prstGeom>
        </p:spPr>
      </p:pic>
      <p:sp>
        <p:nvSpPr>
          <p:cNvPr id="23" name="TextBox 22"/>
          <p:cNvSpPr txBox="1"/>
          <p:nvPr/>
        </p:nvSpPr>
        <p:spPr>
          <a:xfrm>
            <a:off x="1371600" y="3822191"/>
            <a:ext cx="4480560" cy="548640"/>
          </a:xfrm>
          <a:prstGeom prst="rect">
            <a:avLst/>
          </a:prstGeom>
          <a:noFill/>
        </p:spPr>
        <p:txBody>
          <a:bodyPr wrap="square" lIns="45720" tIns="27432" rIns="45720" bIns="27432" anchor="ctr"/>
          <a:lstStyle/>
          <a:p>
            <a:pPr algn="l"/>
            <a:r>
              <a:rPr sz="1900" b="1" i="0">
                <a:solidFill>
                  <a:srgbClr val="284F3E"/>
                </a:solidFill>
                <a:latin typeface="Calibri"/>
              </a:rPr>
              <a:t>Where FGAA plays</a:t>
            </a:r>
          </a:p>
        </p:txBody>
      </p:sp>
      <p:sp>
        <p:nvSpPr>
          <p:cNvPr id="24" name="TextBox 23"/>
          <p:cNvSpPr txBox="1"/>
          <p:nvPr/>
        </p:nvSpPr>
        <p:spPr>
          <a:xfrm>
            <a:off x="685800" y="4526280"/>
            <a:ext cx="5120640" cy="3200400"/>
          </a:xfrm>
          <a:prstGeom prst="rect">
            <a:avLst/>
          </a:prstGeom>
          <a:noFill/>
        </p:spPr>
        <p:txBody>
          <a:bodyPr wrap="square" lIns="45720" tIns="27432" rIns="45720" bIns="27432" anchor="t"/>
          <a:lstStyle/>
          <a:p>
            <a:pPr marL="182880" indent="-182880" algn="l">
              <a:spcAft>
                <a:spcPts val="800"/>
              </a:spcAft>
              <a:buFont typeface="Arial"/>
              <a:buChar char="•"/>
            </a:pPr>
            <a:r>
              <a:rPr sz="1500" b="1" i="0">
                <a:solidFill>
                  <a:srgbClr val="284F3E"/>
                </a:solidFill>
                <a:latin typeface="Calibri"/>
              </a:rPr>
              <a:t>Health supplements (TPBVSK): </a:t>
            </a:r>
            <a:r>
              <a:rPr sz="1500" b="0" i="0">
                <a:solidFill>
                  <a:srgbClr val="262626"/>
                </a:solidFill>
                <a:latin typeface="Calibri"/>
              </a:rPr>
              <a:t>vitality, liver support, men's health, recovery</a:t>
            </a:r>
          </a:p>
          <a:p>
            <a:pPr marL="182880" indent="-182880" algn="l">
              <a:spcAft>
                <a:spcPts val="800"/>
              </a:spcAft>
              <a:buFont typeface="Arial"/>
              <a:buChar char="•"/>
            </a:pPr>
            <a:r>
              <a:rPr sz="1500" b="1" i="0">
                <a:solidFill>
                  <a:srgbClr val="284F3E"/>
                </a:solidFill>
                <a:latin typeface="Calibri"/>
              </a:rPr>
              <a:t>Energy &amp; functional drinks: </a:t>
            </a:r>
            <a:r>
              <a:rPr sz="1500" b="0" i="0">
                <a:solidFill>
                  <a:srgbClr val="262626"/>
                </a:solidFill>
                <a:latin typeface="Calibri"/>
              </a:rPr>
              <a:t>energy, endurance, bird's-nest drinks</a:t>
            </a:r>
          </a:p>
          <a:p>
            <a:pPr marL="182880" indent="-182880" algn="l">
              <a:spcAft>
                <a:spcPts val="800"/>
              </a:spcAft>
              <a:buFont typeface="Arial"/>
              <a:buChar char="•"/>
            </a:pPr>
            <a:r>
              <a:rPr sz="1500" b="1" i="0">
                <a:solidFill>
                  <a:srgbClr val="284F3E"/>
                </a:solidFill>
                <a:latin typeface="Calibri"/>
              </a:rPr>
              <a:t>Sports, adult &amp; medical nutrition: </a:t>
            </a:r>
            <a:r>
              <a:rPr sz="1500" b="0" i="0">
                <a:solidFill>
                  <a:srgbClr val="262626"/>
                </a:solidFill>
                <a:latin typeface="Calibri"/>
              </a:rPr>
              <a:t>powders, RTD, clinical formulas</a:t>
            </a:r>
          </a:p>
          <a:p>
            <a:pPr marL="182880" indent="-182880" algn="l">
              <a:buFont typeface="Arial"/>
              <a:buChar char="•"/>
            </a:pPr>
            <a:r>
              <a:rPr sz="1500" b="1" i="0">
                <a:solidFill>
                  <a:srgbClr val="284F3E"/>
                </a:solidFill>
                <a:latin typeface="Calibri"/>
              </a:rPr>
              <a:t>Personal &amp; oral care: </a:t>
            </a:r>
            <a:r>
              <a:rPr sz="1500" b="0" i="0">
                <a:solidFill>
                  <a:srgbClr val="262626"/>
                </a:solidFill>
                <a:latin typeface="Calibri"/>
              </a:rPr>
              <a:t>pH adjuster, conditioning, sensitive-teeth care</a:t>
            </a:r>
          </a:p>
        </p:txBody>
      </p:sp>
      <p:sp>
        <p:nvSpPr>
          <p:cNvPr id="25" name="Rounded Rectangle 24"/>
          <p:cNvSpPr/>
          <p:nvPr/>
        </p:nvSpPr>
        <p:spPr>
          <a:xfrm>
            <a:off x="6245352" y="3657600"/>
            <a:ext cx="5486400" cy="4160520"/>
          </a:xfrm>
          <a:prstGeom prst="roundRect">
            <a:avLst>
              <a:gd name="adj" fmla="val 4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6428232" y="379476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hart_w.png"/>
          <p:cNvPicPr>
            <a:picLocks noChangeAspect="1"/>
          </p:cNvPicPr>
          <p:nvPr/>
        </p:nvPicPr>
        <p:blipFill>
          <a:blip r:embed="rId8"/>
          <a:stretch>
            <a:fillRect/>
          </a:stretch>
        </p:blipFill>
        <p:spPr>
          <a:xfrm>
            <a:off x="6570878" y="3937406"/>
            <a:ext cx="309067" cy="309067"/>
          </a:xfrm>
          <a:prstGeom prst="rect">
            <a:avLst/>
          </a:prstGeom>
        </p:spPr>
      </p:pic>
      <p:sp>
        <p:nvSpPr>
          <p:cNvPr id="28" name="TextBox 27"/>
          <p:cNvSpPr txBox="1"/>
          <p:nvPr/>
        </p:nvSpPr>
        <p:spPr>
          <a:xfrm>
            <a:off x="7159752" y="3822191"/>
            <a:ext cx="4480560" cy="548640"/>
          </a:xfrm>
          <a:prstGeom prst="rect">
            <a:avLst/>
          </a:prstGeom>
          <a:noFill/>
        </p:spPr>
        <p:txBody>
          <a:bodyPr wrap="square" lIns="45720" tIns="27432" rIns="45720" bIns="27432" anchor="ctr"/>
          <a:lstStyle/>
          <a:p>
            <a:pPr algn="l"/>
            <a:r>
              <a:rPr sz="1900" b="1" i="0">
                <a:solidFill>
                  <a:srgbClr val="284F3E"/>
                </a:solidFill>
                <a:latin typeface="Calibri"/>
              </a:rPr>
              <a:t>Growth drivers</a:t>
            </a:r>
          </a:p>
        </p:txBody>
      </p:sp>
      <p:sp>
        <p:nvSpPr>
          <p:cNvPr id="29" name="TextBox 28"/>
          <p:cNvSpPr txBox="1"/>
          <p:nvPr/>
        </p:nvSpPr>
        <p:spPr>
          <a:xfrm>
            <a:off x="6473952" y="4526280"/>
            <a:ext cx="5120640" cy="320040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Health consciousness and active lifestyles among young urban consumers</a:t>
            </a:r>
          </a:p>
          <a:p>
            <a:pPr marL="182880" indent="-182880" algn="l">
              <a:spcAft>
                <a:spcPts val="800"/>
              </a:spcAft>
              <a:buFont typeface="Arial"/>
              <a:buChar char="•"/>
            </a:pPr>
            <a:r>
              <a:rPr sz="1500" b="0" i="0">
                <a:solidFill>
                  <a:srgbClr val="262626"/>
                </a:solidFill>
                <a:latin typeface="Calibri"/>
              </a:rPr>
              <a:t>GMP-certified supplement manufacturing and a large OEM / ODM base</a:t>
            </a:r>
          </a:p>
          <a:p>
            <a:pPr marL="182880" indent="-182880" algn="l">
              <a:spcAft>
                <a:spcPts val="800"/>
              </a:spcAft>
              <a:buFont typeface="Arial"/>
              <a:buChar char="•"/>
            </a:pPr>
            <a:r>
              <a:rPr sz="1500" b="0" i="0">
                <a:solidFill>
                  <a:srgbClr val="262626"/>
                </a:solidFill>
                <a:latin typeface="Calibri"/>
              </a:rPr>
              <a:t>Premiumization: vegan, fermentation-derived, clean-label actives</a:t>
            </a:r>
          </a:p>
          <a:p>
            <a:pPr marL="182880" indent="-182880" algn="l">
              <a:spcAft>
                <a:spcPts val="800"/>
              </a:spcAft>
              <a:buFont typeface="Arial"/>
              <a:buChar char="•"/>
            </a:pPr>
            <a:r>
              <a:rPr sz="1500" b="0" i="0">
                <a:solidFill>
                  <a:srgbClr val="262626"/>
                </a:solidFill>
                <a:latin typeface="Calibri"/>
              </a:rPr>
              <a:t>Brand owners tightening supplier audits after food-safety incidents</a:t>
            </a:r>
          </a:p>
        </p:txBody>
      </p:sp>
      <p:sp>
        <p:nvSpPr>
          <p:cNvPr id="30" name="Rounded Rectangle 29"/>
          <p:cNvSpPr/>
          <p:nvPr/>
        </p:nvSpPr>
        <p:spPr>
          <a:xfrm>
            <a:off x="457200" y="7955279"/>
            <a:ext cx="11274552" cy="502920"/>
          </a:xfrm>
          <a:prstGeom prst="roundRect">
            <a:avLst>
              <a:gd name="adj" fmla="val 20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40080" y="7973568"/>
            <a:ext cx="10972800" cy="457200"/>
          </a:xfrm>
          <a:prstGeom prst="rect">
            <a:avLst/>
          </a:prstGeom>
          <a:noFill/>
        </p:spPr>
        <p:txBody>
          <a:bodyPr wrap="square" lIns="45720" tIns="27432" rIns="45720" bIns="27432" anchor="ctr"/>
          <a:lstStyle/>
          <a:p>
            <a:pPr algn="l"/>
            <a:r>
              <a:rPr sz="1300" b="1" i="0">
                <a:solidFill>
                  <a:srgbClr val="284F3E"/>
                </a:solidFill>
                <a:latin typeface="Calibri"/>
              </a:rPr>
              <a:t>Sizing next step: </a:t>
            </a:r>
            <a:r>
              <a:rPr sz="1300" b="0" i="0">
                <a:solidFill>
                  <a:srgbClr val="262626"/>
                </a:solidFill>
                <a:latin typeface="Calibri"/>
              </a:rPr>
              <a:t>amino-acid volumes are not published — to be built bottom-up from customer formulations and import data with CJ BIO</a:t>
            </a:r>
          </a:p>
        </p:txBody>
      </p:sp>
      <p:sp>
        <p:nvSpPr>
          <p:cNvPr id="32" name="TextBox 31"/>
          <p:cNvSpPr txBox="1"/>
          <p:nvPr/>
        </p:nvSpPr>
        <p:spPr>
          <a:xfrm>
            <a:off x="457200" y="854964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IMARC Vietnam Dietary Supplements Market (2025); Mordor Intelligence, The Report Cube &amp; Frost &amp; Sullivan (via Masan Consumer AR 2024), compiled by B-Company (2025).</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Regulatory Status Today</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ectangle 7"/>
          <p:cNvSpPr/>
          <p:nvPr/>
        </p:nvSpPr>
        <p:spPr>
          <a:xfrm>
            <a:off x="914400" y="1847088"/>
            <a:ext cx="10424160" cy="54864"/>
          </a:xfrm>
          <a:prstGeom prst="rect">
            <a:avLst/>
          </a:prstGeom>
          <a:solidFill>
            <a:srgbClr val="BFE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399032" y="1737360"/>
            <a:ext cx="274320" cy="274320"/>
          </a:xfrm>
          <a:prstGeom prst="ellipse">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188720"/>
            <a:ext cx="2167128" cy="457200"/>
          </a:xfrm>
          <a:prstGeom prst="rect">
            <a:avLst/>
          </a:prstGeom>
          <a:noFill/>
        </p:spPr>
        <p:txBody>
          <a:bodyPr wrap="square" lIns="45720" tIns="27432" rIns="45720" bIns="27432" anchor="t"/>
          <a:lstStyle/>
          <a:p>
            <a:pPr algn="ctr"/>
            <a:r>
              <a:rPr sz="1500" b="1" i="0">
                <a:solidFill>
                  <a:srgbClr val="1E9E57"/>
                </a:solidFill>
                <a:latin typeface="Calibri"/>
              </a:rPr>
              <a:t>02/2018</a:t>
            </a:r>
          </a:p>
        </p:txBody>
      </p:sp>
      <p:sp>
        <p:nvSpPr>
          <p:cNvPr id="11" name="TextBox 10"/>
          <p:cNvSpPr txBox="1"/>
          <p:nvPr/>
        </p:nvSpPr>
        <p:spPr>
          <a:xfrm>
            <a:off x="457200" y="2103120"/>
            <a:ext cx="2167128" cy="457200"/>
          </a:xfrm>
          <a:prstGeom prst="rect">
            <a:avLst/>
          </a:prstGeom>
          <a:noFill/>
        </p:spPr>
        <p:txBody>
          <a:bodyPr wrap="square" lIns="45720" tIns="27432" rIns="45720" bIns="27432" anchor="t"/>
          <a:lstStyle/>
          <a:p>
            <a:pPr algn="ctr"/>
            <a:r>
              <a:rPr sz="1350" b="1" i="0">
                <a:solidFill>
                  <a:srgbClr val="284F3E"/>
                </a:solidFill>
                <a:latin typeface="Calibri"/>
              </a:rPr>
              <a:t>Decree 15/2018/ND-CP</a:t>
            </a:r>
          </a:p>
        </p:txBody>
      </p:sp>
      <p:sp>
        <p:nvSpPr>
          <p:cNvPr id="12" name="TextBox 11"/>
          <p:cNvSpPr txBox="1"/>
          <p:nvPr/>
        </p:nvSpPr>
        <p:spPr>
          <a:xfrm>
            <a:off x="457200" y="2560320"/>
            <a:ext cx="2167128" cy="914400"/>
          </a:xfrm>
          <a:prstGeom prst="rect">
            <a:avLst/>
          </a:prstGeom>
          <a:noFill/>
        </p:spPr>
        <p:txBody>
          <a:bodyPr wrap="square" lIns="45720" tIns="27432" rIns="45720" bIns="27432" anchor="t"/>
          <a:lstStyle/>
          <a:p>
            <a:pPr algn="ctr"/>
            <a:r>
              <a:rPr sz="1250" b="0" i="0">
                <a:solidFill>
                  <a:srgbClr val="262626"/>
                </a:solidFill>
                <a:latin typeface="Calibri"/>
              </a:rPr>
              <a:t>Current basis for food safety rules</a:t>
            </a:r>
          </a:p>
        </p:txBody>
      </p:sp>
      <p:sp>
        <p:nvSpPr>
          <p:cNvPr id="13" name="Oval 12"/>
          <p:cNvSpPr/>
          <p:nvPr/>
        </p:nvSpPr>
        <p:spPr>
          <a:xfrm>
            <a:off x="3675888" y="1737360"/>
            <a:ext cx="274320" cy="274320"/>
          </a:xfrm>
          <a:prstGeom prst="ellipse">
            <a:avLst/>
          </a:prstGeom>
          <a:solidFill>
            <a:srgbClr val="284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34056" y="1188720"/>
            <a:ext cx="2167128" cy="457200"/>
          </a:xfrm>
          <a:prstGeom prst="rect">
            <a:avLst/>
          </a:prstGeom>
          <a:noFill/>
        </p:spPr>
        <p:txBody>
          <a:bodyPr wrap="square" lIns="45720" tIns="27432" rIns="45720" bIns="27432" anchor="t"/>
          <a:lstStyle/>
          <a:p>
            <a:pPr algn="ctr"/>
            <a:r>
              <a:rPr sz="1500" b="1" i="0">
                <a:solidFill>
                  <a:srgbClr val="284F3E"/>
                </a:solidFill>
                <a:latin typeface="Calibri"/>
              </a:rPr>
              <a:t>26/01/2026</a:t>
            </a:r>
          </a:p>
        </p:txBody>
      </p:sp>
      <p:sp>
        <p:nvSpPr>
          <p:cNvPr id="15" name="TextBox 14"/>
          <p:cNvSpPr txBox="1"/>
          <p:nvPr/>
        </p:nvSpPr>
        <p:spPr>
          <a:xfrm>
            <a:off x="2734056" y="2103120"/>
            <a:ext cx="2167128" cy="457200"/>
          </a:xfrm>
          <a:prstGeom prst="rect">
            <a:avLst/>
          </a:prstGeom>
          <a:noFill/>
        </p:spPr>
        <p:txBody>
          <a:bodyPr wrap="square" lIns="45720" tIns="27432" rIns="45720" bIns="27432" anchor="t"/>
          <a:lstStyle/>
          <a:p>
            <a:pPr algn="ctr"/>
            <a:r>
              <a:rPr sz="1350" b="1" i="0">
                <a:solidFill>
                  <a:srgbClr val="284F3E"/>
                </a:solidFill>
                <a:latin typeface="Calibri"/>
              </a:rPr>
              <a:t>Decree 46/2026/ND-CP</a:t>
            </a:r>
          </a:p>
        </p:txBody>
      </p:sp>
      <p:sp>
        <p:nvSpPr>
          <p:cNvPr id="16" name="TextBox 15"/>
          <p:cNvSpPr txBox="1"/>
          <p:nvPr/>
        </p:nvSpPr>
        <p:spPr>
          <a:xfrm>
            <a:off x="2734056" y="2560320"/>
            <a:ext cx="2167128" cy="914400"/>
          </a:xfrm>
          <a:prstGeom prst="rect">
            <a:avLst/>
          </a:prstGeom>
          <a:noFill/>
        </p:spPr>
        <p:txBody>
          <a:bodyPr wrap="square" lIns="45720" tIns="27432" rIns="45720" bIns="27432" anchor="t"/>
          <a:lstStyle/>
          <a:p>
            <a:pPr algn="ctr"/>
            <a:r>
              <a:rPr sz="1250" b="0" i="0">
                <a:solidFill>
                  <a:srgbClr val="262626"/>
                </a:solidFill>
                <a:latin typeface="Calibri"/>
              </a:rPr>
              <a:t>+ Resolution 66.13/2026: stricter declaration &amp; import inspection</a:t>
            </a:r>
          </a:p>
        </p:txBody>
      </p:sp>
      <p:sp>
        <p:nvSpPr>
          <p:cNvPr id="17" name="Oval 16"/>
          <p:cNvSpPr/>
          <p:nvPr/>
        </p:nvSpPr>
        <p:spPr>
          <a:xfrm>
            <a:off x="5952744" y="1737360"/>
            <a:ext cx="274320" cy="274320"/>
          </a:xfrm>
          <a:prstGeom prst="ellipse">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10912" y="1188720"/>
            <a:ext cx="2167128" cy="457200"/>
          </a:xfrm>
          <a:prstGeom prst="rect">
            <a:avLst/>
          </a:prstGeom>
          <a:noFill/>
        </p:spPr>
        <p:txBody>
          <a:bodyPr wrap="square" lIns="45720" tIns="27432" rIns="45720" bIns="27432" anchor="t"/>
          <a:lstStyle/>
          <a:p>
            <a:pPr algn="ctr"/>
            <a:r>
              <a:rPr sz="1500" b="1" i="0">
                <a:solidFill>
                  <a:srgbClr val="C55A11"/>
                </a:solidFill>
                <a:latin typeface="Calibri"/>
              </a:rPr>
              <a:t>04/02/2026</a:t>
            </a:r>
          </a:p>
        </p:txBody>
      </p:sp>
      <p:sp>
        <p:nvSpPr>
          <p:cNvPr id="19" name="TextBox 18"/>
          <p:cNvSpPr txBox="1"/>
          <p:nvPr/>
        </p:nvSpPr>
        <p:spPr>
          <a:xfrm>
            <a:off x="5010912" y="2103120"/>
            <a:ext cx="2167128" cy="457200"/>
          </a:xfrm>
          <a:prstGeom prst="rect">
            <a:avLst/>
          </a:prstGeom>
          <a:noFill/>
        </p:spPr>
        <p:txBody>
          <a:bodyPr wrap="square" lIns="45720" tIns="27432" rIns="45720" bIns="27432" anchor="t"/>
          <a:lstStyle/>
          <a:p>
            <a:pPr algn="ctr"/>
            <a:r>
              <a:rPr sz="1350" b="1" i="0">
                <a:solidFill>
                  <a:srgbClr val="284F3E"/>
                </a:solidFill>
                <a:latin typeface="Calibri"/>
              </a:rPr>
              <a:t>Resolution 09/2026/NQ-CP</a:t>
            </a:r>
          </a:p>
        </p:txBody>
      </p:sp>
      <p:sp>
        <p:nvSpPr>
          <p:cNvPr id="20" name="TextBox 19"/>
          <p:cNvSpPr txBox="1"/>
          <p:nvPr/>
        </p:nvSpPr>
        <p:spPr>
          <a:xfrm>
            <a:off x="5010912" y="2560320"/>
            <a:ext cx="2167128" cy="914400"/>
          </a:xfrm>
          <a:prstGeom prst="rect">
            <a:avLst/>
          </a:prstGeom>
          <a:noFill/>
        </p:spPr>
        <p:txBody>
          <a:bodyPr wrap="square" lIns="45720" tIns="27432" rIns="45720" bIns="27432" anchor="t"/>
          <a:lstStyle/>
          <a:p>
            <a:pPr algn="ctr"/>
            <a:r>
              <a:rPr sz="1250" b="0" i="0">
                <a:solidFill>
                  <a:srgbClr val="262626"/>
                </a:solidFill>
                <a:latin typeface="Calibri"/>
              </a:rPr>
              <a:t>Decree 46 suspended</a:t>
            </a:r>
          </a:p>
        </p:txBody>
      </p:sp>
      <p:sp>
        <p:nvSpPr>
          <p:cNvPr id="21" name="Oval 20"/>
          <p:cNvSpPr/>
          <p:nvPr/>
        </p:nvSpPr>
        <p:spPr>
          <a:xfrm>
            <a:off x="8229600" y="1737360"/>
            <a:ext cx="274320" cy="274320"/>
          </a:xfrm>
          <a:prstGeom prst="ellipse">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87768" y="1188720"/>
            <a:ext cx="2167128" cy="457200"/>
          </a:xfrm>
          <a:prstGeom prst="rect">
            <a:avLst/>
          </a:prstGeom>
          <a:noFill/>
        </p:spPr>
        <p:txBody>
          <a:bodyPr wrap="square" lIns="45720" tIns="27432" rIns="45720" bIns="27432" anchor="t"/>
          <a:lstStyle/>
          <a:p>
            <a:pPr algn="ctr"/>
            <a:r>
              <a:rPr sz="1500" b="1" i="0">
                <a:solidFill>
                  <a:srgbClr val="C55A11"/>
                </a:solidFill>
                <a:latin typeface="Calibri"/>
              </a:rPr>
              <a:t>06/04/2026</a:t>
            </a:r>
          </a:p>
        </p:txBody>
      </p:sp>
      <p:sp>
        <p:nvSpPr>
          <p:cNvPr id="23" name="TextBox 22"/>
          <p:cNvSpPr txBox="1"/>
          <p:nvPr/>
        </p:nvSpPr>
        <p:spPr>
          <a:xfrm>
            <a:off x="7287768" y="2103120"/>
            <a:ext cx="2167128" cy="457200"/>
          </a:xfrm>
          <a:prstGeom prst="rect">
            <a:avLst/>
          </a:prstGeom>
          <a:noFill/>
        </p:spPr>
        <p:txBody>
          <a:bodyPr wrap="square" lIns="45720" tIns="27432" rIns="45720" bIns="27432" anchor="t"/>
          <a:lstStyle/>
          <a:p>
            <a:pPr algn="ctr"/>
            <a:r>
              <a:rPr sz="1350" b="1" i="0">
                <a:solidFill>
                  <a:srgbClr val="284F3E"/>
                </a:solidFill>
                <a:latin typeface="Calibri"/>
              </a:rPr>
              <a:t>Resolution 15/2026/NQ-CP</a:t>
            </a:r>
          </a:p>
        </p:txBody>
      </p:sp>
      <p:sp>
        <p:nvSpPr>
          <p:cNvPr id="24" name="TextBox 23"/>
          <p:cNvSpPr txBox="1"/>
          <p:nvPr/>
        </p:nvSpPr>
        <p:spPr>
          <a:xfrm>
            <a:off x="7287768" y="2560320"/>
            <a:ext cx="2167128" cy="914400"/>
          </a:xfrm>
          <a:prstGeom prst="rect">
            <a:avLst/>
          </a:prstGeom>
          <a:noFill/>
        </p:spPr>
        <p:txBody>
          <a:bodyPr wrap="square" lIns="45720" tIns="27432" rIns="45720" bIns="27432" anchor="t"/>
          <a:lstStyle/>
          <a:p>
            <a:pPr algn="ctr"/>
            <a:r>
              <a:rPr sz="1250" b="0" i="0">
                <a:solidFill>
                  <a:srgbClr val="262626"/>
                </a:solidFill>
                <a:latin typeface="Calibri"/>
              </a:rPr>
              <a:t>Suspension extended until amended Food Safety Law takes effect</a:t>
            </a:r>
          </a:p>
        </p:txBody>
      </p:sp>
      <p:sp>
        <p:nvSpPr>
          <p:cNvPr id="25" name="Oval 24"/>
          <p:cNvSpPr/>
          <p:nvPr/>
        </p:nvSpPr>
        <p:spPr>
          <a:xfrm>
            <a:off x="10506456" y="1737360"/>
            <a:ext cx="274320" cy="274320"/>
          </a:xfrm>
          <a:prstGeom prst="ellipse">
            <a:avLst/>
          </a:prstGeom>
          <a:solidFill>
            <a:srgbClr val="284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64624" y="1188720"/>
            <a:ext cx="2167128" cy="457200"/>
          </a:xfrm>
          <a:prstGeom prst="rect">
            <a:avLst/>
          </a:prstGeom>
          <a:noFill/>
        </p:spPr>
        <p:txBody>
          <a:bodyPr wrap="square" lIns="45720" tIns="27432" rIns="45720" bIns="27432" anchor="t"/>
          <a:lstStyle/>
          <a:p>
            <a:pPr algn="ctr"/>
            <a:r>
              <a:rPr sz="1500" b="1" i="0">
                <a:solidFill>
                  <a:srgbClr val="284F3E"/>
                </a:solidFill>
                <a:latin typeface="Calibri"/>
              </a:rPr>
              <a:t>Oct 2026 →</a:t>
            </a:r>
          </a:p>
        </p:txBody>
      </p:sp>
      <p:sp>
        <p:nvSpPr>
          <p:cNvPr id="27" name="TextBox 26"/>
          <p:cNvSpPr txBox="1"/>
          <p:nvPr/>
        </p:nvSpPr>
        <p:spPr>
          <a:xfrm>
            <a:off x="9564624" y="2103120"/>
            <a:ext cx="2167128" cy="457200"/>
          </a:xfrm>
          <a:prstGeom prst="rect">
            <a:avLst/>
          </a:prstGeom>
          <a:noFill/>
        </p:spPr>
        <p:txBody>
          <a:bodyPr wrap="square" lIns="45720" tIns="27432" rIns="45720" bIns="27432" anchor="t"/>
          <a:lstStyle/>
          <a:p>
            <a:pPr algn="ctr"/>
            <a:r>
              <a:rPr sz="1350" b="1" i="0">
                <a:solidFill>
                  <a:srgbClr val="284F3E"/>
                </a:solidFill>
                <a:latin typeface="Calibri"/>
              </a:rPr>
              <a:t>Amended Food Safety Law</a:t>
            </a:r>
          </a:p>
        </p:txBody>
      </p:sp>
      <p:sp>
        <p:nvSpPr>
          <p:cNvPr id="28" name="TextBox 27"/>
          <p:cNvSpPr txBox="1"/>
          <p:nvPr/>
        </p:nvSpPr>
        <p:spPr>
          <a:xfrm>
            <a:off x="9564624" y="2560320"/>
            <a:ext cx="2167128" cy="914400"/>
          </a:xfrm>
          <a:prstGeom prst="rect">
            <a:avLst/>
          </a:prstGeom>
          <a:noFill/>
        </p:spPr>
        <p:txBody>
          <a:bodyPr wrap="square" lIns="45720" tIns="27432" rIns="45720" bIns="27432" anchor="t"/>
          <a:lstStyle/>
          <a:p>
            <a:pPr algn="ctr"/>
            <a:r>
              <a:rPr sz="1250" b="0" i="0">
                <a:solidFill>
                  <a:srgbClr val="262626"/>
                </a:solidFill>
                <a:latin typeface="Calibri"/>
              </a:rPr>
              <a:t>1st reading Oct 2026; adoption targeted May 2027</a:t>
            </a:r>
          </a:p>
        </p:txBody>
      </p:sp>
      <p:sp>
        <p:nvSpPr>
          <p:cNvPr id="29" name="Rounded Rectangle 28"/>
          <p:cNvSpPr/>
          <p:nvPr/>
        </p:nvSpPr>
        <p:spPr>
          <a:xfrm>
            <a:off x="457200" y="3657600"/>
            <a:ext cx="5486400" cy="4023360"/>
          </a:xfrm>
          <a:prstGeom prst="roundRect">
            <a:avLst>
              <a:gd name="adj" fmla="val 4000"/>
            </a:avLst>
          </a:prstGeom>
          <a:solidFill>
            <a:srgbClr val="EAF5EE"/>
          </a:solidFill>
          <a:ln w="1905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640080" y="379476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check_w.png"/>
          <p:cNvPicPr>
            <a:picLocks noChangeAspect="1"/>
          </p:cNvPicPr>
          <p:nvPr/>
        </p:nvPicPr>
        <p:blipFill>
          <a:blip r:embed="rId7"/>
          <a:stretch>
            <a:fillRect/>
          </a:stretch>
        </p:blipFill>
        <p:spPr>
          <a:xfrm>
            <a:off x="782726" y="3937406"/>
            <a:ext cx="309067" cy="309067"/>
          </a:xfrm>
          <a:prstGeom prst="rect">
            <a:avLst/>
          </a:prstGeom>
        </p:spPr>
      </p:pic>
      <p:sp>
        <p:nvSpPr>
          <p:cNvPr id="32" name="TextBox 31"/>
          <p:cNvSpPr txBox="1"/>
          <p:nvPr/>
        </p:nvSpPr>
        <p:spPr>
          <a:xfrm>
            <a:off x="1371600" y="3822191"/>
            <a:ext cx="4389120" cy="548640"/>
          </a:xfrm>
          <a:prstGeom prst="rect">
            <a:avLst/>
          </a:prstGeom>
          <a:noFill/>
        </p:spPr>
        <p:txBody>
          <a:bodyPr wrap="square" lIns="45720" tIns="27432" rIns="45720" bIns="27432" anchor="ctr"/>
          <a:lstStyle/>
          <a:p>
            <a:pPr algn="l"/>
            <a:r>
              <a:rPr sz="1900" b="1" i="0">
                <a:solidFill>
                  <a:srgbClr val="284F3E"/>
                </a:solidFill>
                <a:latin typeface="Calibri"/>
              </a:rPr>
              <a:t>What applies today</a:t>
            </a:r>
          </a:p>
        </p:txBody>
      </p:sp>
      <p:sp>
        <p:nvSpPr>
          <p:cNvPr id="33" name="TextBox 32"/>
          <p:cNvSpPr txBox="1"/>
          <p:nvPr/>
        </p:nvSpPr>
        <p:spPr>
          <a:xfrm>
            <a:off x="685800" y="4526280"/>
            <a:ext cx="5074920" cy="3108960"/>
          </a:xfrm>
          <a:prstGeom prst="rect">
            <a:avLst/>
          </a:prstGeom>
          <a:noFill/>
        </p:spPr>
        <p:txBody>
          <a:bodyPr wrap="square" lIns="45720" tIns="27432" rIns="45720" bIns="27432" anchor="t"/>
          <a:lstStyle/>
          <a:p>
            <a:pPr marL="182880" indent="-182880" algn="l">
              <a:spcAft>
                <a:spcPts val="900"/>
              </a:spcAft>
              <a:buFont typeface="Arial"/>
              <a:buChar char="•"/>
            </a:pPr>
            <a:r>
              <a:rPr sz="1550" b="0" i="0">
                <a:solidFill>
                  <a:srgbClr val="262626"/>
                </a:solidFill>
                <a:latin typeface="Calibri"/>
              </a:rPr>
              <a:t>Decree 15/2018: self-declaration for packaged food, additives &amp; processing aids; registration for health supplements, medical / special-diet foods and new-use mixed additives</a:t>
            </a:r>
          </a:p>
          <a:p>
            <a:pPr marL="182880" indent="-182880" algn="l">
              <a:spcAft>
                <a:spcPts val="900"/>
              </a:spcAft>
              <a:buFont typeface="Arial"/>
              <a:buChar char="•"/>
            </a:pPr>
            <a:r>
              <a:rPr sz="1550" b="0" i="0">
                <a:solidFill>
                  <a:srgbClr val="262626"/>
                </a:solidFill>
                <a:latin typeface="Calibri"/>
              </a:rPr>
              <a:t>Circular 24/2019/TT-BYT (amended by Circular 17/2023/TT-BYT): permitted additives, uses &amp; maximum levels</a:t>
            </a:r>
          </a:p>
          <a:p>
            <a:pPr marL="182880" indent="-182880" algn="l">
              <a:spcAft>
                <a:spcPts val="900"/>
              </a:spcAft>
              <a:buFont typeface="Arial"/>
              <a:buChar char="•"/>
            </a:pPr>
            <a:r>
              <a:rPr sz="1550" b="0" i="0">
                <a:solidFill>
                  <a:srgbClr val="262626"/>
                </a:solidFill>
                <a:latin typeface="Calibri"/>
              </a:rPr>
              <a:t>Circular 18/2019/TT-BYT: GMP mandatory for health-supplement manufacturing</a:t>
            </a:r>
          </a:p>
        </p:txBody>
      </p:sp>
      <p:sp>
        <p:nvSpPr>
          <p:cNvPr id="34" name="Rounded Rectangle 33"/>
          <p:cNvSpPr/>
          <p:nvPr/>
        </p:nvSpPr>
        <p:spPr>
          <a:xfrm>
            <a:off x="6245352" y="3657600"/>
            <a:ext cx="5486400" cy="4023360"/>
          </a:xfrm>
          <a:prstGeom prst="roundRect">
            <a:avLst>
              <a:gd name="adj" fmla="val 4000"/>
            </a:avLst>
          </a:prstGeom>
          <a:solidFill>
            <a:srgbClr val="FFFFFF"/>
          </a:solidFill>
          <a:ln w="19050">
            <a:solidFill>
              <a:srgbClr val="C55A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6428232" y="3794760"/>
            <a:ext cx="594360" cy="594360"/>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calendar_w.png"/>
          <p:cNvPicPr>
            <a:picLocks noChangeAspect="1"/>
          </p:cNvPicPr>
          <p:nvPr/>
        </p:nvPicPr>
        <p:blipFill>
          <a:blip r:embed="rId8"/>
          <a:stretch>
            <a:fillRect/>
          </a:stretch>
        </p:blipFill>
        <p:spPr>
          <a:xfrm>
            <a:off x="6570878" y="3937406"/>
            <a:ext cx="309067" cy="309067"/>
          </a:xfrm>
          <a:prstGeom prst="rect">
            <a:avLst/>
          </a:prstGeom>
        </p:spPr>
      </p:pic>
      <p:sp>
        <p:nvSpPr>
          <p:cNvPr id="37" name="TextBox 36"/>
          <p:cNvSpPr txBox="1"/>
          <p:nvPr/>
        </p:nvSpPr>
        <p:spPr>
          <a:xfrm>
            <a:off x="7159752" y="3822191"/>
            <a:ext cx="4389120" cy="548640"/>
          </a:xfrm>
          <a:prstGeom prst="rect">
            <a:avLst/>
          </a:prstGeom>
          <a:noFill/>
        </p:spPr>
        <p:txBody>
          <a:bodyPr wrap="square" lIns="45720" tIns="27432" rIns="45720" bIns="27432" anchor="ctr"/>
          <a:lstStyle/>
          <a:p>
            <a:pPr algn="l"/>
            <a:r>
              <a:rPr sz="1900" b="1" i="0">
                <a:solidFill>
                  <a:srgbClr val="284F3E"/>
                </a:solidFill>
                <a:latin typeface="Calibri"/>
              </a:rPr>
              <a:t>What is coming</a:t>
            </a:r>
          </a:p>
        </p:txBody>
      </p:sp>
      <p:sp>
        <p:nvSpPr>
          <p:cNvPr id="38" name="TextBox 37"/>
          <p:cNvSpPr txBox="1"/>
          <p:nvPr/>
        </p:nvSpPr>
        <p:spPr>
          <a:xfrm>
            <a:off x="6473952" y="4526280"/>
            <a:ext cx="5074920" cy="3108960"/>
          </a:xfrm>
          <a:prstGeom prst="rect">
            <a:avLst/>
          </a:prstGeom>
          <a:noFill/>
        </p:spPr>
        <p:txBody>
          <a:bodyPr wrap="square" lIns="45720" tIns="27432" rIns="45720" bIns="27432" anchor="t"/>
          <a:lstStyle/>
          <a:p>
            <a:pPr marL="182880" indent="-182880" algn="l">
              <a:spcAft>
                <a:spcPts val="900"/>
              </a:spcAft>
              <a:buFont typeface="Arial"/>
              <a:buChar char="•"/>
            </a:pPr>
            <a:r>
              <a:rPr sz="1550" b="0" i="0">
                <a:solidFill>
                  <a:srgbClr val="262626"/>
                </a:solidFill>
                <a:latin typeface="Calibri"/>
              </a:rPr>
              <a:t>Decree 46 direction: registration instead of self-declaration; tighter sampling &amp; testing of imported food</a:t>
            </a:r>
          </a:p>
          <a:p>
            <a:pPr marL="182880" indent="-182880" algn="l">
              <a:spcAft>
                <a:spcPts val="900"/>
              </a:spcAft>
              <a:buFont typeface="Arial"/>
              <a:buChar char="•"/>
            </a:pPr>
            <a:r>
              <a:rPr sz="1550" b="0" i="0">
                <a:solidFill>
                  <a:srgbClr val="262626"/>
                </a:solidFill>
                <a:latin typeface="Calibri"/>
              </a:rPr>
              <a:t>Draft amended Law: clearer validity periods, re-registration only for core changes, digital data system</a:t>
            </a:r>
          </a:p>
          <a:p>
            <a:pPr marL="182880" indent="-182880" algn="l">
              <a:spcAft>
                <a:spcPts val="900"/>
              </a:spcAft>
              <a:buFont typeface="Arial"/>
              <a:buChar char="•"/>
            </a:pPr>
            <a:r>
              <a:rPr sz="1550" b="0" i="0">
                <a:solidFill>
                  <a:srgbClr val="262626"/>
                </a:solidFill>
                <a:latin typeface="Calibri"/>
              </a:rPr>
              <a:t>Transition rules still open — watch the 2027 effective date</a:t>
            </a:r>
          </a:p>
        </p:txBody>
      </p:sp>
      <p:sp>
        <p:nvSpPr>
          <p:cNvPr id="39" name="Rounded Rectangle 38"/>
          <p:cNvSpPr/>
          <p:nvPr/>
        </p:nvSpPr>
        <p:spPr>
          <a:xfrm>
            <a:off x="457200" y="7818120"/>
            <a:ext cx="11274552" cy="685800"/>
          </a:xfrm>
          <a:prstGeom prst="roundRect">
            <a:avLst>
              <a:gd name="adj" fmla="val 12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BFE3CC"/>
                </a:solidFill>
                <a:latin typeface="Calibri"/>
              </a:rPr>
              <a:t>BJCS approach: </a:t>
            </a:r>
            <a:r>
              <a:rPr sz="1500" b="0" i="0">
                <a:solidFill>
                  <a:srgbClr val="FFFFFF"/>
                </a:solidFill>
                <a:latin typeface="Calibri"/>
              </a:rPr>
              <a:t>file under the regime in force, but build every dossier to the stricter standard from day one</a:t>
            </a:r>
          </a:p>
        </p:txBody>
      </p:sp>
      <p:sp>
        <p:nvSpPr>
          <p:cNvPr id="40" name="TextBox 39"/>
          <p:cNvSpPr txBox="1"/>
          <p:nvPr/>
        </p:nvSpPr>
        <p:spPr>
          <a:xfrm>
            <a:off x="457200" y="8613648"/>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Decree 15/2018/ND-CP; Decree 46/2026/ND-CP; Resolutions 09/2026 &amp; 15/2026/NQ-CP; MOH Submission 238/TTr-BYT; NA Standing Committee (Báo Quốc tế, 25 Sep 2026).</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Regulatory Pathway &amp; Checklist</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graphicFrame>
        <p:nvGraphicFramePr>
          <p:cNvPr id="8" name="Table 7"/>
          <p:cNvGraphicFramePr>
            <a:graphicFrameLocks noGrp="1"/>
          </p:cNvGraphicFramePr>
          <p:nvPr/>
        </p:nvGraphicFramePr>
        <p:xfrm>
          <a:off x="457200" y="1188720"/>
          <a:ext cx="11274552" cy="7132320"/>
        </p:xfrm>
        <a:graphic>
          <a:graphicData uri="http://schemas.openxmlformats.org/drawingml/2006/table">
            <a:tbl>
              <a:tblPr firstRow="1">
                <a:tableStyleId>{5C22544A-7EE6-4342-B048-85BDC9FD1C3A}</a:tableStyleId>
              </a:tblPr>
              <a:tblGrid>
                <a:gridCol w="22860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411480">
                <a:tc>
                  <a:txBody>
                    <a:bodyPr/>
                    <a:lstStyle/>
                    <a:p>
                      <a:r>
                        <a:rPr sz="1450" b="1" i="0">
                          <a:solidFill>
                            <a:srgbClr val="FFFFFF"/>
                          </a:solidFill>
                          <a:latin typeface="Calibri"/>
                        </a:rPr>
                        <a:t>Topic</a:t>
                      </a:r>
                    </a:p>
                  </a:txBody>
                  <a:tcPr marL="64008" marR="64008" marT="36576" marB="36576" anchor="ctr">
                    <a:solidFill>
                      <a:srgbClr val="284F3E"/>
                    </a:solidFill>
                  </a:tcPr>
                </a:tc>
                <a:tc>
                  <a:txBody>
                    <a:bodyPr/>
                    <a:lstStyle/>
                    <a:p>
                      <a:r>
                        <a:rPr sz="1450" b="1" i="0">
                          <a:solidFill>
                            <a:srgbClr val="FFFFFF"/>
                          </a:solidFill>
                          <a:latin typeface="Calibri"/>
                        </a:rPr>
                        <a:t>Requirement today (Decree 15/2018 regime)</a:t>
                      </a:r>
                    </a:p>
                  </a:txBody>
                  <a:tcPr marL="64008" marR="64008" marT="36576" marB="36576" anchor="ctr">
                    <a:solidFill>
                      <a:srgbClr val="284F3E"/>
                    </a:solidFill>
                  </a:tcPr>
                </a:tc>
                <a:tc>
                  <a:txBody>
                    <a:bodyPr/>
                    <a:lstStyle/>
                    <a:p>
                      <a:r>
                        <a:rPr sz="1450" b="1" i="0">
                          <a:solidFill>
                            <a:srgbClr val="FFFFFF"/>
                          </a:solidFill>
                          <a:latin typeface="Calibri"/>
                        </a:rPr>
                        <a:t>Owner</a:t>
                      </a:r>
                    </a:p>
                  </a:txBody>
                  <a:tcPr marL="64008" marR="64008" marT="36576" marB="36576" anchor="ctr">
                    <a:solidFill>
                      <a:srgbClr val="284F3E"/>
                    </a:solidFill>
                  </a:tcPr>
                </a:tc>
                <a:tc>
                  <a:txBody>
                    <a:bodyPr/>
                    <a:lstStyle/>
                    <a:p>
                      <a:r>
                        <a:rPr sz="1450" b="1" i="0">
                          <a:solidFill>
                            <a:srgbClr val="FFFFFF"/>
                          </a:solidFill>
                          <a:latin typeface="Calibri"/>
                        </a:rPr>
                        <a:t>Watch-out</a:t>
                      </a:r>
                    </a:p>
                  </a:txBody>
                  <a:tcPr marL="64008" marR="64008" marT="36576" marB="36576" anchor="ctr">
                    <a:solidFill>
                      <a:srgbClr val="284F3E"/>
                    </a:solidFill>
                  </a:tcPr>
                </a:tc>
                <a:extLst>
                  <a:ext uri="{0D108BD9-81ED-4DB2-BD59-A6C34878D82A}">
                    <a16:rowId xmlns:a16="http://schemas.microsoft.com/office/drawing/2014/main" val="10000"/>
                  </a:ext>
                </a:extLst>
              </a:tr>
              <a:tr h="960120">
                <a:tc>
                  <a:txBody>
                    <a:bodyPr/>
                    <a:lstStyle/>
                    <a:p>
                      <a:r>
                        <a:rPr sz="1400" b="1" i="0">
                          <a:solidFill>
                            <a:srgbClr val="284F3E"/>
                          </a:solidFill>
                          <a:latin typeface="Calibri"/>
                        </a:rPr>
                        <a:t>HYBIND classification</a:t>
                      </a:r>
                    </a:p>
                    <a:p>
                      <a:r>
                        <a:rPr sz="1300" b="0" i="0">
                          <a:solidFill>
                            <a:srgbClr val="595959"/>
                          </a:solidFill>
                          <a:latin typeface="Calibri"/>
                        </a:rPr>
                        <a:t>First decision</a:t>
                      </a:r>
                    </a:p>
                  </a:txBody>
                  <a:tcPr marL="64008" marR="64008" marT="36576" marB="36576" anchor="ctr">
                    <a:solidFill>
                      <a:srgbClr val="FFFFFF"/>
                    </a:solidFill>
                  </a:tcPr>
                </a:tc>
                <a:tc>
                  <a:txBody>
                    <a:bodyPr/>
                    <a:lstStyle/>
                    <a:p>
                      <a:r>
                        <a:rPr sz="1350" b="0" i="0">
                          <a:solidFill>
                            <a:srgbClr val="262626"/>
                          </a:solidFill>
                          <a:latin typeface="Calibri"/>
                        </a:rPr>
                        <a:t>Confirm VN status: food ingredient vs. food additive (INS) under Circular 24/2019 &amp; 17/2023</a:t>
                      </a:r>
                    </a:p>
                  </a:txBody>
                  <a:tcPr marL="64008" marR="64008" marT="36576" marB="36576" anchor="ctr">
                    <a:solidFill>
                      <a:srgbClr val="FFFFFF"/>
                    </a:solidFill>
                  </a:tcPr>
                </a:tc>
                <a:tc>
                  <a:txBody>
                    <a:bodyPr/>
                    <a:lstStyle/>
                    <a:p>
                      <a:r>
                        <a:rPr sz="1350" b="0" i="0">
                          <a:solidFill>
                            <a:srgbClr val="262626"/>
                          </a:solidFill>
                          <a:latin typeface="Calibri"/>
                        </a:rPr>
                        <a:t>CJ BIO + BJCS</a:t>
                      </a:r>
                    </a:p>
                  </a:txBody>
                  <a:tcPr marL="64008" marR="64008" marT="36576" marB="36576" anchor="ctr">
                    <a:solidFill>
                      <a:srgbClr val="FFFFFF"/>
                    </a:solidFill>
                  </a:tcPr>
                </a:tc>
                <a:tc>
                  <a:txBody>
                    <a:bodyPr/>
                    <a:lstStyle/>
                    <a:p>
                      <a:r>
                        <a:rPr sz="1350" b="0" i="0">
                          <a:solidFill>
                            <a:srgbClr val="262626"/>
                          </a:solidFill>
                          <a:latin typeface="Calibri"/>
                        </a:rPr>
                        <a:t>If a mixed additive with new use → MOH registration; drives ingredient name on customer labels</a:t>
                      </a:r>
                    </a:p>
                  </a:txBody>
                  <a:tcPr marL="64008" marR="64008" marT="36576" marB="36576" anchor="ctr">
                    <a:solidFill>
                      <a:srgbClr val="FFFFFF"/>
                    </a:solidFill>
                  </a:tcPr>
                </a:tc>
                <a:extLst>
                  <a:ext uri="{0D108BD9-81ED-4DB2-BD59-A6C34878D82A}">
                    <a16:rowId xmlns:a16="http://schemas.microsoft.com/office/drawing/2014/main" val="10001"/>
                  </a:ext>
                </a:extLst>
              </a:tr>
              <a:tr h="960120">
                <a:tc>
                  <a:txBody>
                    <a:bodyPr/>
                    <a:lstStyle/>
                    <a:p>
                      <a:r>
                        <a:rPr sz="1400" b="1" i="0">
                          <a:solidFill>
                            <a:srgbClr val="284F3E"/>
                          </a:solidFill>
                          <a:latin typeface="Calibri"/>
                        </a:rPr>
                        <a:t>Ingredient import</a:t>
                      </a:r>
                    </a:p>
                    <a:p>
                      <a:r>
                        <a:rPr sz="1300" b="0" i="0">
                          <a:solidFill>
                            <a:srgbClr val="595959"/>
                          </a:solidFill>
                          <a:latin typeface="Calibri"/>
                        </a:rPr>
                        <a:t>HYBIND &amp; FGAA</a:t>
                      </a:r>
                    </a:p>
                  </a:txBody>
                  <a:tcPr marL="64008" marR="64008" marT="36576" marB="36576" anchor="ctr">
                    <a:solidFill>
                      <a:srgbClr val="F3F3F3"/>
                    </a:solidFill>
                  </a:tcPr>
                </a:tc>
                <a:tc>
                  <a:txBody>
                    <a:bodyPr/>
                    <a:lstStyle/>
                    <a:p>
                      <a:r>
                        <a:rPr sz="1350" b="0" i="0">
                          <a:solidFill>
                            <a:srgbClr val="262626"/>
                          </a:solidFill>
                          <a:latin typeface="Calibri"/>
                        </a:rPr>
                        <a:t>Self-declaration by importer; test report ≤12 months (designated / ISO 17025 lab); Vietnamese sub-label (Decree 43/2017, 111/2021)</a:t>
                      </a:r>
                    </a:p>
                  </a:txBody>
                  <a:tcPr marL="64008" marR="64008" marT="36576" marB="36576" anchor="ctr">
                    <a:solidFill>
                      <a:srgbClr val="F3F3F3"/>
                    </a:solidFill>
                  </a:tcPr>
                </a:tc>
                <a:tc>
                  <a:txBody>
                    <a:bodyPr/>
                    <a:lstStyle/>
                    <a:p>
                      <a:r>
                        <a:rPr sz="1350" b="0" i="0">
                          <a:solidFill>
                            <a:srgbClr val="262626"/>
                          </a:solidFill>
                          <a:latin typeface="Calibri"/>
                        </a:rPr>
                        <a:t>BJCS</a:t>
                      </a:r>
                    </a:p>
                  </a:txBody>
                  <a:tcPr marL="64008" marR="64008" marT="36576" marB="36576" anchor="ctr">
                    <a:solidFill>
                      <a:srgbClr val="F3F3F3"/>
                    </a:solidFill>
                  </a:tcPr>
                </a:tc>
                <a:tc>
                  <a:txBody>
                    <a:bodyPr/>
                    <a:lstStyle/>
                    <a:p>
                      <a:r>
                        <a:rPr sz="1350" b="0" i="0">
                          <a:solidFill>
                            <a:srgbClr val="262626"/>
                          </a:solidFill>
                          <a:latin typeface="Calibri"/>
                        </a:rPr>
                        <a:t>Manufacturers importing for own production are exempt from self-declaration</a:t>
                      </a:r>
                    </a:p>
                  </a:txBody>
                  <a:tcPr marL="64008" marR="64008" marT="36576" marB="36576" anchor="ctr">
                    <a:solidFill>
                      <a:srgbClr val="F3F3F3"/>
                    </a:solidFill>
                  </a:tcPr>
                </a:tc>
                <a:extLst>
                  <a:ext uri="{0D108BD9-81ED-4DB2-BD59-A6C34878D82A}">
                    <a16:rowId xmlns:a16="http://schemas.microsoft.com/office/drawing/2014/main" val="10002"/>
                  </a:ext>
                </a:extLst>
              </a:tr>
              <a:tr h="960120">
                <a:tc>
                  <a:txBody>
                    <a:bodyPr/>
                    <a:lstStyle/>
                    <a:p>
                      <a:r>
                        <a:rPr sz="1400" b="1" i="0">
                          <a:solidFill>
                            <a:srgbClr val="284F3E"/>
                          </a:solidFill>
                          <a:latin typeface="Calibri"/>
                        </a:rPr>
                        <a:t>Import inspection</a:t>
                      </a:r>
                    </a:p>
                    <a:p>
                      <a:r>
                        <a:rPr sz="1300" b="0" i="0">
                          <a:solidFill>
                            <a:srgbClr val="595959"/>
                          </a:solidFill>
                          <a:latin typeface="Calibri"/>
                        </a:rPr>
                        <a:t>Each shipment</a:t>
                      </a:r>
                    </a:p>
                  </a:txBody>
                  <a:tcPr marL="64008" marR="64008" marT="36576" marB="36576" anchor="ctr">
                    <a:solidFill>
                      <a:srgbClr val="FFFFFF"/>
                    </a:solidFill>
                  </a:tcPr>
                </a:tc>
                <a:tc>
                  <a:txBody>
                    <a:bodyPr/>
                    <a:lstStyle/>
                    <a:p>
                      <a:r>
                        <a:rPr sz="1350" b="0" i="0">
                          <a:solidFill>
                            <a:srgbClr val="262626"/>
                          </a:solidFill>
                          <a:latin typeface="Calibri"/>
                        </a:rPr>
                        <a:t>Reduced / ordinary / strict methods (Decree 15/2018); reduced inspection for GMP, HACCP, ISO 22000, FSSC 22000 plants</a:t>
                      </a:r>
                    </a:p>
                  </a:txBody>
                  <a:tcPr marL="64008" marR="64008" marT="36576" marB="36576" anchor="ctr">
                    <a:solidFill>
                      <a:srgbClr val="FFFFFF"/>
                    </a:solidFill>
                  </a:tcPr>
                </a:tc>
                <a:tc>
                  <a:txBody>
                    <a:bodyPr/>
                    <a:lstStyle/>
                    <a:p>
                      <a:r>
                        <a:rPr sz="1350" b="0" i="0">
                          <a:solidFill>
                            <a:srgbClr val="262626"/>
                          </a:solidFill>
                          <a:latin typeface="Calibri"/>
                        </a:rPr>
                        <a:t>BJCS (CJ certificates)</a:t>
                      </a:r>
                    </a:p>
                  </a:txBody>
                  <a:tcPr marL="64008" marR="64008" marT="36576" marB="36576" anchor="ctr">
                    <a:solidFill>
                      <a:srgbClr val="FFFFFF"/>
                    </a:solidFill>
                  </a:tcPr>
                </a:tc>
                <a:tc>
                  <a:txBody>
                    <a:bodyPr/>
                    <a:lstStyle/>
                    <a:p>
                      <a:r>
                        <a:rPr sz="1350" b="0" i="0">
                          <a:solidFill>
                            <a:srgbClr val="262626"/>
                          </a:solidFill>
                          <a:latin typeface="Calibri"/>
                        </a:rPr>
                        <a:t>Plant certificates from CJ BIO shorten clearance</a:t>
                      </a:r>
                    </a:p>
                  </a:txBody>
                  <a:tcPr marL="64008" marR="64008" marT="36576" marB="36576" anchor="ctr">
                    <a:solidFill>
                      <a:srgbClr val="FFFFFF"/>
                    </a:solidFill>
                  </a:tcPr>
                </a:tc>
                <a:extLst>
                  <a:ext uri="{0D108BD9-81ED-4DB2-BD59-A6C34878D82A}">
                    <a16:rowId xmlns:a16="http://schemas.microsoft.com/office/drawing/2014/main" val="10003"/>
                  </a:ext>
                </a:extLst>
              </a:tr>
              <a:tr h="960120">
                <a:tc>
                  <a:txBody>
                    <a:bodyPr/>
                    <a:lstStyle/>
                    <a:p>
                      <a:r>
                        <a:rPr sz="1400" b="1" i="0">
                          <a:solidFill>
                            <a:srgbClr val="284F3E"/>
                          </a:solidFill>
                          <a:latin typeface="Calibri"/>
                        </a:rPr>
                        <a:t>FGAA in health supplements</a:t>
                      </a:r>
                    </a:p>
                    <a:p>
                      <a:r>
                        <a:rPr sz="1300" b="0" i="0">
                          <a:solidFill>
                            <a:srgbClr val="595959"/>
                          </a:solidFill>
                          <a:latin typeface="Calibri"/>
                        </a:rPr>
                        <a:t>TPBVSK</a:t>
                      </a:r>
                    </a:p>
                  </a:txBody>
                  <a:tcPr marL="64008" marR="64008" marT="36576" marB="36576" anchor="ctr">
                    <a:solidFill>
                      <a:srgbClr val="F3F3F3"/>
                    </a:solidFill>
                  </a:tcPr>
                </a:tc>
                <a:tc>
                  <a:txBody>
                    <a:bodyPr/>
                    <a:lstStyle/>
                    <a:p>
                      <a:r>
                        <a:rPr sz="1350" b="0" i="0">
                          <a:solidFill>
                            <a:srgbClr val="262626"/>
                          </a:solidFill>
                          <a:latin typeface="Calibri"/>
                        </a:rPr>
                        <a:t>Product registration with VFA (MOH); GMP-certified manufacturing; advertising content pre-approval</a:t>
                      </a:r>
                    </a:p>
                  </a:txBody>
                  <a:tcPr marL="64008" marR="64008" marT="36576" marB="36576" anchor="ctr">
                    <a:solidFill>
                      <a:srgbClr val="F3F3F3"/>
                    </a:solidFill>
                  </a:tcPr>
                </a:tc>
                <a:tc>
                  <a:txBody>
                    <a:bodyPr/>
                    <a:lstStyle/>
                    <a:p>
                      <a:r>
                        <a:rPr sz="1350" b="0" i="0">
                          <a:solidFill>
                            <a:srgbClr val="262626"/>
                          </a:solidFill>
                          <a:latin typeface="Calibri"/>
                        </a:rPr>
                        <a:t>Brand owner (BJCS supports)</a:t>
                      </a:r>
                    </a:p>
                  </a:txBody>
                  <a:tcPr marL="64008" marR="64008" marT="36576" marB="36576" anchor="ctr">
                    <a:solidFill>
                      <a:srgbClr val="F3F3F3"/>
                    </a:solidFill>
                  </a:tcPr>
                </a:tc>
                <a:tc>
                  <a:txBody>
                    <a:bodyPr/>
                    <a:lstStyle/>
                    <a:p>
                      <a:r>
                        <a:rPr sz="1350" b="0" i="0">
                          <a:solidFill>
                            <a:srgbClr val="262626"/>
                          </a:solidFill>
                          <a:latin typeface="Calibri"/>
                        </a:rPr>
                        <a:t>Evidence for claims &amp; dosage; ingredient specs must match dossier</a:t>
                      </a:r>
                    </a:p>
                  </a:txBody>
                  <a:tcPr marL="64008" marR="64008" marT="36576" marB="36576" anchor="ctr">
                    <a:solidFill>
                      <a:srgbClr val="F3F3F3"/>
                    </a:solidFill>
                  </a:tcPr>
                </a:tc>
                <a:extLst>
                  <a:ext uri="{0D108BD9-81ED-4DB2-BD59-A6C34878D82A}">
                    <a16:rowId xmlns:a16="http://schemas.microsoft.com/office/drawing/2014/main" val="10004"/>
                  </a:ext>
                </a:extLst>
              </a:tr>
              <a:tr h="960120">
                <a:tc>
                  <a:txBody>
                    <a:bodyPr/>
                    <a:lstStyle/>
                    <a:p>
                      <a:r>
                        <a:rPr sz="1400" b="1" i="0">
                          <a:solidFill>
                            <a:srgbClr val="284F3E"/>
                          </a:solidFill>
                          <a:latin typeface="Calibri"/>
                        </a:rPr>
                        <a:t>FGAA in drinks &amp; foods</a:t>
                      </a:r>
                    </a:p>
                    <a:p>
                      <a:r>
                        <a:rPr sz="1300" b="0" i="0">
                          <a:solidFill>
                            <a:srgbClr val="595959"/>
                          </a:solidFill>
                          <a:latin typeface="Calibri"/>
                        </a:rPr>
                        <a:t>Conventional food</a:t>
                      </a:r>
                    </a:p>
                  </a:txBody>
                  <a:tcPr marL="64008" marR="64008" marT="36576" marB="36576" anchor="ctr">
                    <a:solidFill>
                      <a:srgbClr val="FFFFFF"/>
                    </a:solidFill>
                  </a:tcPr>
                </a:tc>
                <a:tc>
                  <a:txBody>
                    <a:bodyPr/>
                    <a:lstStyle/>
                    <a:p>
                      <a:r>
                        <a:rPr sz="1350" b="0" i="0">
                          <a:solidFill>
                            <a:srgbClr val="262626"/>
                          </a:solidFill>
                          <a:latin typeface="Calibri"/>
                        </a:rPr>
                        <a:t>Finished-product self-declaration; labeling &amp; claims compliance</a:t>
                      </a:r>
                    </a:p>
                  </a:txBody>
                  <a:tcPr marL="64008" marR="64008" marT="36576" marB="36576" anchor="ctr">
                    <a:solidFill>
                      <a:srgbClr val="FFFFFF"/>
                    </a:solidFill>
                  </a:tcPr>
                </a:tc>
                <a:tc>
                  <a:txBody>
                    <a:bodyPr/>
                    <a:lstStyle/>
                    <a:p>
                      <a:r>
                        <a:rPr sz="1350" b="0" i="0">
                          <a:solidFill>
                            <a:srgbClr val="262626"/>
                          </a:solidFill>
                          <a:latin typeface="Calibri"/>
                        </a:rPr>
                        <a:t>Brand owner</a:t>
                      </a:r>
                    </a:p>
                  </a:txBody>
                  <a:tcPr marL="64008" marR="64008" marT="36576" marB="36576" anchor="ctr">
                    <a:solidFill>
                      <a:srgbClr val="FFFFFF"/>
                    </a:solidFill>
                  </a:tcPr>
                </a:tc>
                <a:tc>
                  <a:txBody>
                    <a:bodyPr/>
                    <a:lstStyle/>
                    <a:p>
                      <a:r>
                        <a:rPr sz="1350" b="0" i="0">
                          <a:solidFill>
                            <a:srgbClr val="262626"/>
                          </a:solidFill>
                          <a:latin typeface="Calibri"/>
                        </a:rPr>
                        <a:t>Functional claims must not imply disease treatment</a:t>
                      </a:r>
                    </a:p>
                  </a:txBody>
                  <a:tcPr marL="64008" marR="64008" marT="36576" marB="36576" anchor="ctr">
                    <a:solidFill>
                      <a:srgbClr val="FFFFFF"/>
                    </a:solidFill>
                  </a:tcPr>
                </a:tc>
                <a:extLst>
                  <a:ext uri="{0D108BD9-81ED-4DB2-BD59-A6C34878D82A}">
                    <a16:rowId xmlns:a16="http://schemas.microsoft.com/office/drawing/2014/main" val="10005"/>
                  </a:ext>
                </a:extLst>
              </a:tr>
              <a:tr h="960120">
                <a:tc>
                  <a:txBody>
                    <a:bodyPr/>
                    <a:lstStyle/>
                    <a:p>
                      <a:r>
                        <a:rPr sz="1400" b="1" i="0">
                          <a:solidFill>
                            <a:srgbClr val="284F3E"/>
                          </a:solidFill>
                          <a:latin typeface="Calibri"/>
                        </a:rPr>
                        <a:t>Personal &amp; oral care</a:t>
                      </a:r>
                    </a:p>
                    <a:p>
                      <a:r>
                        <a:rPr sz="1300" b="0" i="0">
                          <a:solidFill>
                            <a:srgbClr val="595959"/>
                          </a:solidFill>
                          <a:latin typeface="Calibri"/>
                        </a:rPr>
                        <a:t>Arginine</a:t>
                      </a:r>
                    </a:p>
                  </a:txBody>
                  <a:tcPr marL="64008" marR="64008" marT="36576" marB="36576" anchor="ctr">
                    <a:solidFill>
                      <a:srgbClr val="F3F3F3"/>
                    </a:solidFill>
                  </a:tcPr>
                </a:tc>
                <a:tc>
                  <a:txBody>
                    <a:bodyPr/>
                    <a:lstStyle/>
                    <a:p>
                      <a:r>
                        <a:rPr sz="1350" b="0" i="0">
                          <a:solidFill>
                            <a:srgbClr val="262626"/>
                          </a:solidFill>
                          <a:latin typeface="Calibri"/>
                        </a:rPr>
                        <a:t>Cosmetic product notification by brand owner (Circular 06/2011/TT-BYT; ASEAN Cosmetic Directive)</a:t>
                      </a:r>
                    </a:p>
                  </a:txBody>
                  <a:tcPr marL="64008" marR="64008" marT="36576" marB="36576" anchor="ctr">
                    <a:solidFill>
                      <a:srgbClr val="F3F3F3"/>
                    </a:solidFill>
                  </a:tcPr>
                </a:tc>
                <a:tc>
                  <a:txBody>
                    <a:bodyPr/>
                    <a:lstStyle/>
                    <a:p>
                      <a:r>
                        <a:rPr sz="1350" b="0" i="0">
                          <a:solidFill>
                            <a:srgbClr val="262626"/>
                          </a:solidFill>
                          <a:latin typeface="Calibri"/>
                        </a:rPr>
                        <a:t>Brand owner</a:t>
                      </a:r>
                    </a:p>
                  </a:txBody>
                  <a:tcPr marL="64008" marR="64008" marT="36576" marB="36576" anchor="ctr">
                    <a:solidFill>
                      <a:srgbClr val="F3F3F3"/>
                    </a:solidFill>
                  </a:tcPr>
                </a:tc>
                <a:tc>
                  <a:txBody>
                    <a:bodyPr/>
                    <a:lstStyle/>
                    <a:p>
                      <a:r>
                        <a:rPr sz="1350" b="0" i="0">
                          <a:solidFill>
                            <a:srgbClr val="262626"/>
                          </a:solidFill>
                          <a:latin typeface="Calibri"/>
                        </a:rPr>
                        <a:t>Cosmetic-grade documents (INCI, safety data) needed</a:t>
                      </a:r>
                    </a:p>
                  </a:txBody>
                  <a:tcPr marL="64008" marR="64008" marT="36576" marB="36576" anchor="ctr">
                    <a:solidFill>
                      <a:srgbClr val="F3F3F3"/>
                    </a:solidFill>
                  </a:tcPr>
                </a:tc>
                <a:extLst>
                  <a:ext uri="{0D108BD9-81ED-4DB2-BD59-A6C34878D82A}">
                    <a16:rowId xmlns:a16="http://schemas.microsoft.com/office/drawing/2014/main" val="10006"/>
                  </a:ext>
                </a:extLst>
              </a:tr>
              <a:tr h="960120">
                <a:tc>
                  <a:txBody>
                    <a:bodyPr/>
                    <a:lstStyle/>
                    <a:p>
                      <a:r>
                        <a:rPr sz="1400" b="1" i="0">
                          <a:solidFill>
                            <a:srgbClr val="284F3E"/>
                          </a:solidFill>
                          <a:latin typeface="Calibri"/>
                        </a:rPr>
                        <a:t>Halal / Kosher / Vegan</a:t>
                      </a:r>
                    </a:p>
                    <a:p>
                      <a:r>
                        <a:rPr sz="1300" b="0" i="0">
                          <a:solidFill>
                            <a:srgbClr val="595959"/>
                          </a:solidFill>
                          <a:latin typeface="Calibri"/>
                        </a:rPr>
                        <a:t>Voluntary</a:t>
                      </a:r>
                    </a:p>
                  </a:txBody>
                  <a:tcPr marL="64008" marR="64008" marT="36576" marB="36576" anchor="ctr">
                    <a:solidFill>
                      <a:srgbClr val="FFFFFF"/>
                    </a:solidFill>
                  </a:tcPr>
                </a:tc>
                <a:tc>
                  <a:txBody>
                    <a:bodyPr/>
                    <a:lstStyle/>
                    <a:p>
                      <a:r>
                        <a:rPr sz="1350" b="0" i="0">
                          <a:solidFill>
                            <a:srgbClr val="262626"/>
                          </a:solidFill>
                          <a:latin typeface="Calibri"/>
                        </a:rPr>
                        <a:t>Required by export &amp; multinational customers</a:t>
                      </a:r>
                    </a:p>
                  </a:txBody>
                  <a:tcPr marL="64008" marR="64008" marT="36576" marB="36576" anchor="ctr">
                    <a:solidFill>
                      <a:srgbClr val="FFFFFF"/>
                    </a:solidFill>
                  </a:tcPr>
                </a:tc>
                <a:tc>
                  <a:txBody>
                    <a:bodyPr/>
                    <a:lstStyle/>
                    <a:p>
                      <a:r>
                        <a:rPr sz="1350" b="0" i="0">
                          <a:solidFill>
                            <a:srgbClr val="262626"/>
                          </a:solidFill>
                          <a:latin typeface="Calibri"/>
                        </a:rPr>
                        <a:t>CJ BIO</a:t>
                      </a:r>
                    </a:p>
                  </a:txBody>
                  <a:tcPr marL="64008" marR="64008" marT="36576" marB="36576" anchor="ctr">
                    <a:solidFill>
                      <a:srgbClr val="FFFFFF"/>
                    </a:solidFill>
                  </a:tcPr>
                </a:tc>
                <a:tc>
                  <a:txBody>
                    <a:bodyPr/>
                    <a:lstStyle/>
                    <a:p>
                      <a:r>
                        <a:rPr sz="1350" b="0" i="0">
                          <a:solidFill>
                            <a:srgbClr val="262626"/>
                          </a:solidFill>
                          <a:latin typeface="Calibri"/>
                        </a:rPr>
                        <a:t>Confirm certificate scope per SKU and plant</a:t>
                      </a:r>
                    </a:p>
                  </a:txBody>
                  <a:tcPr marL="64008" marR="64008"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9" name="TextBox 8"/>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Decree 15/2018/ND-CP; Circulars 24/2019, 17/2023, 18/2019, 06/2011/TT-BYT; Decrees 43/2017 &amp; 111/2021/ND-CP; BJC Vietnam experience. Planning summary, not legal advice.</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CJ BIO Portfolio – Applications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graphicFrame>
        <p:nvGraphicFramePr>
          <p:cNvPr id="8" name="Table 7"/>
          <p:cNvGraphicFramePr>
            <a:graphicFrameLocks noGrp="1"/>
          </p:cNvGraphicFramePr>
          <p:nvPr/>
        </p:nvGraphicFramePr>
        <p:xfrm>
          <a:off x="457200" y="1234440"/>
          <a:ext cx="11274552" cy="6446520"/>
        </p:xfrm>
        <a:graphic>
          <a:graphicData uri="http://schemas.openxmlformats.org/drawingml/2006/table">
            <a:tbl>
              <a:tblPr firstRow="1">
                <a:tableStyleId>{5C22544A-7EE6-4342-B048-85BDC9FD1C3A}</a:tableStyleId>
              </a:tblPr>
              <a:tblGrid>
                <a:gridCol w="23317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182112">
                  <a:extLst>
                    <a:ext uri="{9D8B030D-6E8A-4147-A177-3AD203B41FA5}">
                      <a16:colId xmlns:a16="http://schemas.microsoft.com/office/drawing/2014/main" val="20003"/>
                    </a:ext>
                  </a:extLst>
                </a:gridCol>
              </a:tblGrid>
              <a:tr h="411480">
                <a:tc>
                  <a:txBody>
                    <a:bodyPr/>
                    <a:lstStyle/>
                    <a:p>
                      <a:r>
                        <a:rPr sz="1600" b="1" i="0">
                          <a:solidFill>
                            <a:srgbClr val="FFFFFF"/>
                          </a:solidFill>
                          <a:latin typeface="Calibri"/>
                        </a:rPr>
                        <a:t>CJ BIO product</a:t>
                      </a:r>
                    </a:p>
                  </a:txBody>
                  <a:tcPr marL="64008" marR="64008" marT="36576" marB="36576" anchor="ctr">
                    <a:solidFill>
                      <a:srgbClr val="284F3E"/>
                    </a:solidFill>
                  </a:tcPr>
                </a:tc>
                <a:tc>
                  <a:txBody>
                    <a:bodyPr/>
                    <a:lstStyle/>
                    <a:p>
                      <a:r>
                        <a:rPr sz="1600" b="1" i="0">
                          <a:solidFill>
                            <a:srgbClr val="FFFFFF"/>
                          </a:solidFill>
                          <a:latin typeface="Calibri"/>
                        </a:rPr>
                        <a:t>Key functions</a:t>
                      </a:r>
                    </a:p>
                  </a:txBody>
                  <a:tcPr marL="64008" marR="64008" marT="36576" marB="36576" anchor="ctr">
                    <a:solidFill>
                      <a:srgbClr val="284F3E"/>
                    </a:solidFill>
                  </a:tcPr>
                </a:tc>
                <a:tc>
                  <a:txBody>
                    <a:bodyPr/>
                    <a:lstStyle/>
                    <a:p>
                      <a:r>
                        <a:rPr sz="1600" b="1" i="0">
                          <a:solidFill>
                            <a:srgbClr val="FFFFFF"/>
                          </a:solidFill>
                          <a:latin typeface="Calibri"/>
                        </a:rPr>
                        <a:t>Target segments in Vietnam</a:t>
                      </a:r>
                    </a:p>
                  </a:txBody>
                  <a:tcPr marL="64008" marR="64008" marT="36576" marB="36576" anchor="ctr">
                    <a:solidFill>
                      <a:srgbClr val="284F3E"/>
                    </a:solidFill>
                  </a:tcPr>
                </a:tc>
                <a:tc>
                  <a:txBody>
                    <a:bodyPr/>
                    <a:lstStyle/>
                    <a:p>
                      <a:r>
                        <a:rPr sz="1600" b="1" i="0">
                          <a:solidFill>
                            <a:srgbClr val="FFFFFF"/>
                          </a:solidFill>
                          <a:latin typeface="Calibri"/>
                        </a:rPr>
                        <a:t>Typical end products</a:t>
                      </a:r>
                    </a:p>
                  </a:txBody>
                  <a:tcPr marL="64008" marR="64008" marT="36576" marB="36576" anchor="ctr">
                    <a:solidFill>
                      <a:srgbClr val="284F3E"/>
                    </a:solidFill>
                  </a:tcPr>
                </a:tc>
                <a:extLst>
                  <a:ext uri="{0D108BD9-81ED-4DB2-BD59-A6C34878D82A}">
                    <a16:rowId xmlns:a16="http://schemas.microsoft.com/office/drawing/2014/main" val="10000"/>
                  </a:ext>
                </a:extLst>
              </a:tr>
              <a:tr h="1508760">
                <a:tc>
                  <a:txBody>
                    <a:bodyPr/>
                    <a:lstStyle/>
                    <a:p>
                      <a:r>
                        <a:rPr sz="1550" b="1" i="0">
                          <a:solidFill>
                            <a:srgbClr val="284F3E"/>
                          </a:solidFill>
                          <a:latin typeface="Calibri"/>
                        </a:rPr>
                        <a:t>TasteNrich® HYBIND</a:t>
                      </a:r>
                    </a:p>
                    <a:p>
                      <a:r>
                        <a:rPr sz="1450" b="0" i="0">
                          <a:solidFill>
                            <a:srgbClr val="595959"/>
                          </a:solidFill>
                          <a:latin typeface="Calibri"/>
                        </a:rPr>
                        <a:t>Natural phosphate alternative</a:t>
                      </a:r>
                    </a:p>
                  </a:txBody>
                  <a:tcPr marL="64008" marR="64008" marT="36576" marB="36576" anchor="ctr">
                    <a:solidFill>
                      <a:srgbClr val="FFFFFF"/>
                    </a:solidFill>
                  </a:tcPr>
                </a:tc>
                <a:tc>
                  <a:txBody>
                    <a:bodyPr/>
                    <a:lstStyle/>
                    <a:p>
                      <a:r>
                        <a:rPr sz="1500" b="0" i="0">
                          <a:solidFill>
                            <a:srgbClr val="262626"/>
                          </a:solidFill>
                          <a:latin typeface="Calibri"/>
                        </a:rPr>
                        <a:t>Cooking yield &amp; moisture retention · Less purge loss · Texture &amp; taste · Clean label, E-number free</a:t>
                      </a:r>
                    </a:p>
                  </a:txBody>
                  <a:tcPr marL="64008" marR="64008" marT="36576" marB="36576" anchor="ctr">
                    <a:solidFill>
                      <a:srgbClr val="FFFFFF"/>
                    </a:solidFill>
                  </a:tcPr>
                </a:tc>
                <a:tc>
                  <a:txBody>
                    <a:bodyPr/>
                    <a:lstStyle/>
                    <a:p>
                      <a:r>
                        <a:rPr sz="1500" b="0" i="0">
                          <a:solidFill>
                            <a:srgbClr val="262626"/>
                          </a:solidFill>
                          <a:latin typeface="Calibri"/>
                        </a:rPr>
                        <a:t>Processed meat · Poultry · Frozen &amp; convenience food · Seafood*</a:t>
                      </a:r>
                    </a:p>
                  </a:txBody>
                  <a:tcPr marL="64008" marR="64008" marT="36576" marB="36576" anchor="ctr">
                    <a:solidFill>
                      <a:srgbClr val="FFFFFF"/>
                    </a:solidFill>
                  </a:tcPr>
                </a:tc>
                <a:tc>
                  <a:txBody>
                    <a:bodyPr/>
                    <a:lstStyle/>
                    <a:p>
                      <a:r>
                        <a:rPr sz="1500" b="0" i="0">
                          <a:solidFill>
                            <a:srgbClr val="262626"/>
                          </a:solidFill>
                          <a:latin typeface="Calibri"/>
                        </a:rPr>
                        <a:t>Whole muscle, emulsion &amp; coarse products: ham, sausage, giò lụa / chả, meatballs, cold cuts, frozen fillings; seafood*</a:t>
                      </a:r>
                    </a:p>
                  </a:txBody>
                  <a:tcPr marL="64008" marR="64008" marT="36576" marB="36576" anchor="ctr">
                    <a:solidFill>
                      <a:srgbClr val="FFFFFF"/>
                    </a:solidFill>
                  </a:tcPr>
                </a:tc>
                <a:extLst>
                  <a:ext uri="{0D108BD9-81ED-4DB2-BD59-A6C34878D82A}">
                    <a16:rowId xmlns:a16="http://schemas.microsoft.com/office/drawing/2014/main" val="10001"/>
                  </a:ext>
                </a:extLst>
              </a:tr>
              <a:tr h="1508760">
                <a:tc>
                  <a:txBody>
                    <a:bodyPr/>
                    <a:lstStyle/>
                    <a:p>
                      <a:r>
                        <a:rPr sz="1550" b="1" i="0">
                          <a:solidFill>
                            <a:srgbClr val="284F3E"/>
                          </a:solidFill>
                          <a:latin typeface="Calibri"/>
                        </a:rPr>
                        <a:t>L-Arginine</a:t>
                      </a:r>
                    </a:p>
                    <a:p>
                      <a:r>
                        <a:rPr sz="1450" b="0" i="0">
                          <a:solidFill>
                            <a:srgbClr val="595959"/>
                          </a:solidFill>
                          <a:latin typeface="Calibri"/>
                        </a:rPr>
                        <a:t>FGAA – AMINATURE®</a:t>
                      </a:r>
                    </a:p>
                  </a:txBody>
                  <a:tcPr marL="64008" marR="64008" marT="36576" marB="36576" anchor="ctr">
                    <a:solidFill>
                      <a:srgbClr val="F3F3F3"/>
                    </a:solidFill>
                  </a:tcPr>
                </a:tc>
                <a:tc>
                  <a:txBody>
                    <a:bodyPr/>
                    <a:lstStyle/>
                    <a:p>
                      <a:r>
                        <a:rPr sz="1500" b="0" i="0">
                          <a:solidFill>
                            <a:srgbClr val="262626"/>
                          </a:solidFill>
                          <a:latin typeface="Calibri"/>
                        </a:rPr>
                        <a:t>Protein building &amp; nitric-oxide release: blood flow, performance, recovery · Skin &amp; hair moisture (personal care)</a:t>
                      </a:r>
                    </a:p>
                  </a:txBody>
                  <a:tcPr marL="64008" marR="64008" marT="36576" marB="36576" anchor="ctr">
                    <a:solidFill>
                      <a:srgbClr val="F3F3F3"/>
                    </a:solidFill>
                  </a:tcPr>
                </a:tc>
                <a:tc>
                  <a:txBody>
                    <a:bodyPr/>
                    <a:lstStyle/>
                    <a:p>
                      <a:r>
                        <a:rPr sz="1500" b="0" i="0">
                          <a:solidFill>
                            <a:srgbClr val="262626"/>
                          </a:solidFill>
                          <a:latin typeface="Calibri"/>
                        </a:rPr>
                        <a:t>Health supplements &amp; pharma · Energy &amp; sports drinks · Medical / adult nutrition · Oral &amp; skin care</a:t>
                      </a:r>
                    </a:p>
                  </a:txBody>
                  <a:tcPr marL="64008" marR="64008" marT="36576" marB="36576" anchor="ctr">
                    <a:solidFill>
                      <a:srgbClr val="F3F3F3"/>
                    </a:solidFill>
                  </a:tcPr>
                </a:tc>
                <a:tc>
                  <a:txBody>
                    <a:bodyPr/>
                    <a:lstStyle/>
                    <a:p>
                      <a:r>
                        <a:rPr sz="1500" b="0" i="0">
                          <a:solidFill>
                            <a:srgbClr val="262626"/>
                          </a:solidFill>
                          <a:latin typeface="Calibri"/>
                        </a:rPr>
                        <a:t>Vitality &amp; liver-support supplements, pre-workout, energy drinks, sensitive-teeth toothpaste, creams</a:t>
                      </a:r>
                    </a:p>
                  </a:txBody>
                  <a:tcPr marL="64008" marR="64008" marT="36576" marB="36576" anchor="ctr">
                    <a:solidFill>
                      <a:srgbClr val="F3F3F3"/>
                    </a:solidFill>
                  </a:tcPr>
                </a:tc>
                <a:extLst>
                  <a:ext uri="{0D108BD9-81ED-4DB2-BD59-A6C34878D82A}">
                    <a16:rowId xmlns:a16="http://schemas.microsoft.com/office/drawing/2014/main" val="10002"/>
                  </a:ext>
                </a:extLst>
              </a:tr>
              <a:tr h="1508760">
                <a:tc>
                  <a:txBody>
                    <a:bodyPr/>
                    <a:lstStyle/>
                    <a:p>
                      <a:r>
                        <a:rPr sz="1550" b="1" i="0">
                          <a:solidFill>
                            <a:srgbClr val="284F3E"/>
                          </a:solidFill>
                          <a:latin typeface="Calibri"/>
                        </a:rPr>
                        <a:t>L-Citrulline</a:t>
                      </a:r>
                    </a:p>
                    <a:p>
                      <a:r>
                        <a:rPr sz="1450" b="0" i="0">
                          <a:solidFill>
                            <a:srgbClr val="595959"/>
                          </a:solidFill>
                          <a:latin typeface="Calibri"/>
                        </a:rPr>
                        <a:t>FGAA – AMINATURE®</a:t>
                      </a:r>
                    </a:p>
                  </a:txBody>
                  <a:tcPr marL="64008" marR="64008" marT="36576" marB="36576" anchor="ctr">
                    <a:solidFill>
                      <a:srgbClr val="FFFFFF"/>
                    </a:solidFill>
                  </a:tcPr>
                </a:tc>
                <a:tc>
                  <a:txBody>
                    <a:bodyPr/>
                    <a:lstStyle/>
                    <a:p>
                      <a:r>
                        <a:rPr sz="1500" b="0" i="0">
                          <a:solidFill>
                            <a:srgbClr val="262626"/>
                          </a:solidFill>
                          <a:latin typeface="Calibri"/>
                        </a:rPr>
                        <a:t>Urea-cycle amino acid; raises arginine levels (NO pathway): endurance &amp; recovery</a:t>
                      </a:r>
                    </a:p>
                  </a:txBody>
                  <a:tcPr marL="64008" marR="64008" marT="36576" marB="36576" anchor="ctr">
                    <a:solidFill>
                      <a:srgbClr val="FFFFFF"/>
                    </a:solidFill>
                  </a:tcPr>
                </a:tc>
                <a:tc>
                  <a:txBody>
                    <a:bodyPr/>
                    <a:lstStyle/>
                    <a:p>
                      <a:r>
                        <a:rPr sz="1500" b="0" i="0">
                          <a:solidFill>
                            <a:srgbClr val="262626"/>
                          </a:solidFill>
                          <a:latin typeface="Calibri"/>
                        </a:rPr>
                        <a:t>Sports nutrition · Functional beverages · Supplements</a:t>
                      </a:r>
                    </a:p>
                  </a:txBody>
                  <a:tcPr marL="64008" marR="64008" marT="36576" marB="36576" anchor="ctr">
                    <a:solidFill>
                      <a:srgbClr val="FFFFFF"/>
                    </a:solidFill>
                  </a:tcPr>
                </a:tc>
                <a:tc>
                  <a:txBody>
                    <a:bodyPr/>
                    <a:lstStyle/>
                    <a:p>
                      <a:r>
                        <a:rPr sz="1500" b="0" i="0">
                          <a:solidFill>
                            <a:srgbClr val="262626"/>
                          </a:solidFill>
                          <a:latin typeface="Calibri"/>
                        </a:rPr>
                        <a:t>Pre-workout powders, energy shots, men's-health capsules, bird's-nest &amp; functional drinks</a:t>
                      </a:r>
                    </a:p>
                  </a:txBody>
                  <a:tcPr marL="64008" marR="64008" marT="36576" marB="36576" anchor="ctr">
                    <a:solidFill>
                      <a:srgbClr val="FFFFFF"/>
                    </a:solidFill>
                  </a:tcPr>
                </a:tc>
                <a:extLst>
                  <a:ext uri="{0D108BD9-81ED-4DB2-BD59-A6C34878D82A}">
                    <a16:rowId xmlns:a16="http://schemas.microsoft.com/office/drawing/2014/main" val="10003"/>
                  </a:ext>
                </a:extLst>
              </a:tr>
              <a:tr h="1508760">
                <a:tc>
                  <a:txBody>
                    <a:bodyPr/>
                    <a:lstStyle/>
                    <a:p>
                      <a:r>
                        <a:rPr sz="1550" b="1" i="0">
                          <a:solidFill>
                            <a:srgbClr val="284F3E"/>
                          </a:solidFill>
                          <a:latin typeface="Calibri"/>
                        </a:rPr>
                        <a:t>L-Histidine</a:t>
                      </a:r>
                    </a:p>
                    <a:p>
                      <a:r>
                        <a:rPr sz="1450" b="0" i="0">
                          <a:solidFill>
                            <a:srgbClr val="595959"/>
                          </a:solidFill>
                          <a:latin typeface="Calibri"/>
                        </a:rPr>
                        <a:t>FGAA – AMINATURE®</a:t>
                      </a:r>
                    </a:p>
                  </a:txBody>
                  <a:tcPr marL="64008" marR="64008" marT="36576" marB="36576" anchor="ctr">
                    <a:solidFill>
                      <a:srgbClr val="F3F3F3"/>
                    </a:solidFill>
                  </a:tcPr>
                </a:tc>
                <a:tc>
                  <a:txBody>
                    <a:bodyPr/>
                    <a:lstStyle/>
                    <a:p>
                      <a:r>
                        <a:rPr sz="1500" b="0" i="0">
                          <a:solidFill>
                            <a:srgbClr val="262626"/>
                          </a:solidFill>
                          <a:latin typeface="Calibri"/>
                        </a:rPr>
                        <a:t>Essential amino acid: muscle &amp; brain metabolism; carnosine &amp; histamine precursor</a:t>
                      </a:r>
                    </a:p>
                  </a:txBody>
                  <a:tcPr marL="64008" marR="64008" marT="36576" marB="36576" anchor="ctr">
                    <a:solidFill>
                      <a:srgbClr val="F3F3F3"/>
                    </a:solidFill>
                  </a:tcPr>
                </a:tc>
                <a:tc>
                  <a:txBody>
                    <a:bodyPr/>
                    <a:lstStyle/>
                    <a:p>
                      <a:r>
                        <a:rPr sz="1500" b="0" i="0">
                          <a:solidFill>
                            <a:srgbClr val="262626"/>
                          </a:solidFill>
                          <a:latin typeface="Calibri"/>
                        </a:rPr>
                        <a:t>Supplements · Medical &amp; adult nutrition · Fortified foods</a:t>
                      </a:r>
                    </a:p>
                  </a:txBody>
                  <a:tcPr marL="64008" marR="64008" marT="36576" marB="36576" anchor="ctr">
                    <a:solidFill>
                      <a:srgbClr val="F3F3F3"/>
                    </a:solidFill>
                  </a:tcPr>
                </a:tc>
                <a:tc>
                  <a:txBody>
                    <a:bodyPr/>
                    <a:lstStyle/>
                    <a:p>
                      <a:r>
                        <a:rPr sz="1500" b="0" i="0">
                          <a:solidFill>
                            <a:srgbClr val="262626"/>
                          </a:solidFill>
                          <a:latin typeface="Calibri"/>
                        </a:rPr>
                        <a:t>Amino-acid complexes, recovery &amp; elderly nutrition, fortified beverages</a:t>
                      </a:r>
                    </a:p>
                  </a:txBody>
                  <a:tcPr marL="64008" marR="64008" marT="36576" marB="36576" anchor="ctr">
                    <a:solidFill>
                      <a:srgbClr val="F3F3F3"/>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457200" y="822960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cjbio.net product pages (HYBIND, AMINATURE®, Oct 2026); Food Business News (Jul 2023); applications: BJC Vietnam experience. *Seafood use subject to CJ BIO validation.</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Meat &amp; Poultry Map</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9052560" y="1115568"/>
            <a:ext cx="1417320" cy="274320"/>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FFFFFF"/>
                </a:solidFill>
                <a:latin typeface="Calibri"/>
              </a:rPr>
              <a:t>BJCS customer</a:t>
            </a:r>
          </a:p>
        </p:txBody>
      </p:sp>
      <p:sp>
        <p:nvSpPr>
          <p:cNvPr id="9" name="Rounded Rectangle 8"/>
          <p:cNvSpPr/>
          <p:nvPr/>
        </p:nvSpPr>
        <p:spPr>
          <a:xfrm>
            <a:off x="10561320" y="1115568"/>
            <a:ext cx="1143000" cy="274320"/>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284F3E"/>
                </a:solidFill>
                <a:latin typeface="Calibri"/>
              </a:rPr>
              <a:t>Potential</a:t>
            </a:r>
          </a:p>
        </p:txBody>
      </p:sp>
      <p:sp>
        <p:nvSpPr>
          <p:cNvPr id="10" name="Rounded Rectangle 9"/>
          <p:cNvSpPr/>
          <p:nvPr/>
        </p:nvSpPr>
        <p:spPr>
          <a:xfrm>
            <a:off x="457200" y="150876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NORTH</a:t>
            </a:r>
          </a:p>
          <a:p>
            <a:pPr algn="ctr"/>
            <a:r>
              <a:rPr sz="1150" b="0" i="0">
                <a:solidFill>
                  <a:srgbClr val="FFFFFF"/>
                </a:solidFill>
                <a:latin typeface="Calibri"/>
              </a:rPr>
              <a:t>Hanoi · Hung Yen · Ha Nam · Hai Phong · Bac Ninh</a:t>
            </a:r>
          </a:p>
        </p:txBody>
      </p:sp>
      <p:sp>
        <p:nvSpPr>
          <p:cNvPr id="11" name="Rounded Rectangle 10"/>
          <p:cNvSpPr/>
          <p:nvPr/>
        </p:nvSpPr>
        <p:spPr>
          <a:xfrm>
            <a:off x="457200" y="2286000"/>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Masan MEATLife – Hà Nam</a:t>
            </a:r>
          </a:p>
          <a:p>
            <a:pPr algn="l"/>
            <a:r>
              <a:rPr sz="1150" b="0" i="0">
                <a:solidFill>
                  <a:srgbClr val="BFE3CC"/>
                </a:solidFill>
                <a:latin typeface="Calibri"/>
              </a:rPr>
              <a:t>MEATDeli giò lụa, sausages · Masan Group account</a:t>
            </a:r>
          </a:p>
        </p:txBody>
      </p:sp>
      <p:sp>
        <p:nvSpPr>
          <p:cNvPr id="12" name="Rounded Rectangle 11"/>
          <p:cNvSpPr/>
          <p:nvPr/>
        </p:nvSpPr>
        <p:spPr>
          <a:xfrm>
            <a:off x="457200" y="2976372"/>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Daesang Đức Việt (Hưng Yên)</a:t>
            </a:r>
          </a:p>
          <a:p>
            <a:pPr algn="l"/>
            <a:r>
              <a:rPr sz="1150" b="0" i="0">
                <a:solidFill>
                  <a:srgbClr val="595959"/>
                </a:solidFill>
                <a:latin typeface="Calibri"/>
              </a:rPr>
              <a:t>Fresh &amp; sterilized sausage, meatballs</a:t>
            </a:r>
          </a:p>
        </p:txBody>
      </p:sp>
      <p:sp>
        <p:nvSpPr>
          <p:cNvPr id="13" name="Rounded Rectangle 12"/>
          <p:cNvSpPr/>
          <p:nvPr/>
        </p:nvSpPr>
        <p:spPr>
          <a:xfrm>
            <a:off x="457200" y="3666744"/>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Hạ Long Canfoods (Hải Phòng)</a:t>
            </a:r>
          </a:p>
          <a:p>
            <a:pPr algn="l"/>
            <a:r>
              <a:rPr sz="1150" b="0" i="0">
                <a:solidFill>
                  <a:srgbClr val="595959"/>
                </a:solidFill>
                <a:latin typeface="Calibri"/>
              </a:rPr>
              <a:t>Canned meat, pâté</a:t>
            </a:r>
          </a:p>
        </p:txBody>
      </p:sp>
      <p:sp>
        <p:nvSpPr>
          <p:cNvPr id="14" name="Rounded Rectangle 13"/>
          <p:cNvSpPr/>
          <p:nvPr/>
        </p:nvSpPr>
        <p:spPr>
          <a:xfrm>
            <a:off x="457200" y="4357116"/>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DABACO Food (Bắc Ninh)</a:t>
            </a:r>
          </a:p>
          <a:p>
            <a:pPr algn="l"/>
            <a:r>
              <a:rPr sz="1150" b="0" i="0">
                <a:solidFill>
                  <a:srgbClr val="595959"/>
                </a:solidFill>
                <a:latin typeface="Calibri"/>
              </a:rPr>
              <a:t>Sausage, smoked meat, canned</a:t>
            </a:r>
          </a:p>
        </p:txBody>
      </p:sp>
      <p:sp>
        <p:nvSpPr>
          <p:cNvPr id="15" name="Rounded Rectangle 14"/>
          <p:cNvSpPr/>
          <p:nvPr/>
        </p:nvSpPr>
        <p:spPr>
          <a:xfrm>
            <a:off x="457200" y="5047488"/>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Mavin Foods</a:t>
            </a:r>
          </a:p>
          <a:p>
            <a:pPr algn="l"/>
            <a:r>
              <a:rPr sz="1150" b="0" i="0">
                <a:solidFill>
                  <a:srgbClr val="595959"/>
                </a:solidFill>
                <a:latin typeface="Calibri"/>
              </a:rPr>
              <a:t>Processed pork products</a:t>
            </a:r>
          </a:p>
        </p:txBody>
      </p:sp>
      <p:sp>
        <p:nvSpPr>
          <p:cNvPr id="16" name="Rounded Rectangle 15"/>
          <p:cNvSpPr/>
          <p:nvPr/>
        </p:nvSpPr>
        <p:spPr>
          <a:xfrm>
            <a:off x="4288536" y="150876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CENTRAL</a:t>
            </a:r>
          </a:p>
          <a:p>
            <a:pPr algn="ctr"/>
            <a:r>
              <a:rPr sz="1150" b="0" i="0">
                <a:solidFill>
                  <a:srgbClr val="FFFFFF"/>
                </a:solidFill>
                <a:latin typeface="Calibri"/>
              </a:rPr>
              <a:t>Thanh Hoa · Nghe An · Hue · Da Nang · Khanh Hoa</a:t>
            </a:r>
          </a:p>
        </p:txBody>
      </p:sp>
      <p:sp>
        <p:nvSpPr>
          <p:cNvPr id="17" name="Rounded Rectangle 16"/>
          <p:cNvSpPr/>
          <p:nvPr/>
        </p:nvSpPr>
        <p:spPr>
          <a:xfrm>
            <a:off x="4288536" y="2286000"/>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Regional giò chả, nem &amp; chả bò makers</a:t>
            </a:r>
          </a:p>
          <a:p>
            <a:pPr algn="l"/>
            <a:r>
              <a:rPr sz="1150" b="0" i="0">
                <a:solidFill>
                  <a:srgbClr val="595959"/>
                </a:solidFill>
                <a:latin typeface="Calibri"/>
              </a:rPr>
              <a:t>SME cluster: Thanh Hóa · Nghệ An · Huế · Đà Nẵng</a:t>
            </a:r>
          </a:p>
        </p:txBody>
      </p:sp>
      <p:sp>
        <p:nvSpPr>
          <p:cNvPr id="18" name="Rounded Rectangle 17"/>
          <p:cNvSpPr/>
          <p:nvPr/>
        </p:nvSpPr>
        <p:spPr>
          <a:xfrm>
            <a:off x="4288536" y="3067812"/>
            <a:ext cx="3611880" cy="164592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ctr"/>
            <a:r>
              <a:rPr sz="1500" b="1" i="0">
                <a:solidFill>
                  <a:srgbClr val="284F3E"/>
                </a:solidFill>
                <a:latin typeface="Calibri"/>
              </a:rPr>
              <a:t>Fragmented SME base</a:t>
            </a:r>
          </a:p>
          <a:p>
            <a:pPr algn="ctr"/>
            <a:r>
              <a:rPr sz="1400" b="0" i="0">
                <a:solidFill>
                  <a:srgbClr val="262626"/>
                </a:solidFill>
                <a:latin typeface="Calibri"/>
              </a:rPr>
              <a:t>Phase-2 target, served from our Hanoi &amp; HCMC offices once reference cases are established</a:t>
            </a:r>
          </a:p>
        </p:txBody>
      </p:sp>
      <p:sp>
        <p:nvSpPr>
          <p:cNvPr id="19" name="Rounded Rectangle 18"/>
          <p:cNvSpPr/>
          <p:nvPr/>
        </p:nvSpPr>
        <p:spPr>
          <a:xfrm>
            <a:off x="8119872" y="150876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SOUTH</a:t>
            </a:r>
          </a:p>
          <a:p>
            <a:pPr algn="ctr"/>
            <a:r>
              <a:rPr sz="1150" b="0" i="0">
                <a:solidFill>
                  <a:srgbClr val="FFFFFF"/>
                </a:solidFill>
                <a:latin typeface="Calibri"/>
              </a:rPr>
              <a:t>HCMC · Long An · Dong Nai · Binh Duong</a:t>
            </a:r>
          </a:p>
        </p:txBody>
      </p:sp>
      <p:sp>
        <p:nvSpPr>
          <p:cNvPr id="20" name="Rounded Rectangle 19"/>
          <p:cNvSpPr/>
          <p:nvPr/>
        </p:nvSpPr>
        <p:spPr>
          <a:xfrm>
            <a:off x="8119872" y="2286000"/>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Masan MEATLife – Long An</a:t>
            </a:r>
          </a:p>
          <a:p>
            <a:pPr algn="l"/>
            <a:r>
              <a:rPr sz="1150" b="0" i="0">
                <a:solidFill>
                  <a:srgbClr val="BFE3CC"/>
                </a:solidFill>
                <a:latin typeface="Calibri"/>
              </a:rPr>
              <a:t>MEATDeli giò lụa, sausages; 3F Việt chicken</a:t>
            </a:r>
          </a:p>
        </p:txBody>
      </p:sp>
      <p:sp>
        <p:nvSpPr>
          <p:cNvPr id="21" name="Rounded Rectangle 20"/>
          <p:cNvSpPr/>
          <p:nvPr/>
        </p:nvSpPr>
        <p:spPr>
          <a:xfrm>
            <a:off x="8119872" y="2976372"/>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CJ Cầu Tre (CJ Foods Vietnam)</a:t>
            </a:r>
          </a:p>
          <a:p>
            <a:pPr algn="l"/>
            <a:r>
              <a:rPr sz="1150" b="0" i="0">
                <a:solidFill>
                  <a:srgbClr val="BFE3CC"/>
                </a:solidFill>
                <a:latin typeface="Calibri"/>
              </a:rPr>
              <a:t>Dumplings, spring rolls, meatballs</a:t>
            </a:r>
          </a:p>
        </p:txBody>
      </p:sp>
      <p:sp>
        <p:nvSpPr>
          <p:cNvPr id="22" name="Rounded Rectangle 21"/>
          <p:cNvSpPr/>
          <p:nvPr/>
        </p:nvSpPr>
        <p:spPr>
          <a:xfrm>
            <a:off x="8119872" y="3666744"/>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LC Foods</a:t>
            </a:r>
          </a:p>
          <a:p>
            <a:pPr algn="l"/>
            <a:r>
              <a:rPr sz="1150" b="0" i="0">
                <a:solidFill>
                  <a:srgbClr val="BFE3CC"/>
                </a:solidFill>
                <a:latin typeface="Calibri"/>
              </a:rPr>
              <a:t>Sterilized sausage, ready meals</a:t>
            </a:r>
          </a:p>
        </p:txBody>
      </p:sp>
      <p:sp>
        <p:nvSpPr>
          <p:cNvPr id="23" name="Rounded Rectangle 22"/>
          <p:cNvSpPr/>
          <p:nvPr/>
        </p:nvSpPr>
        <p:spPr>
          <a:xfrm>
            <a:off x="8119872" y="4357116"/>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Nitto Fuji</a:t>
            </a:r>
          </a:p>
          <a:p>
            <a:pPr algn="l"/>
            <a:r>
              <a:rPr sz="1150" b="0" i="0">
                <a:solidFill>
                  <a:srgbClr val="BFE3CC"/>
                </a:solidFill>
                <a:latin typeface="Calibri"/>
              </a:rPr>
              <a:t>Batter &amp; breading – co-development partner</a:t>
            </a:r>
          </a:p>
        </p:txBody>
      </p:sp>
      <p:sp>
        <p:nvSpPr>
          <p:cNvPr id="24" name="Rounded Rectangle 23"/>
          <p:cNvSpPr/>
          <p:nvPr/>
        </p:nvSpPr>
        <p:spPr>
          <a:xfrm>
            <a:off x="8119872" y="5047488"/>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Vissan</a:t>
            </a:r>
          </a:p>
          <a:p>
            <a:pPr algn="l"/>
            <a:r>
              <a:rPr sz="1150" b="0" i="0">
                <a:solidFill>
                  <a:srgbClr val="595959"/>
                </a:solidFill>
                <a:latin typeface="Calibri"/>
              </a:rPr>
              <a:t>Ham, sausage, canned meat</a:t>
            </a:r>
          </a:p>
        </p:txBody>
      </p:sp>
      <p:sp>
        <p:nvSpPr>
          <p:cNvPr id="25" name="Rounded Rectangle 24"/>
          <p:cNvSpPr/>
          <p:nvPr/>
        </p:nvSpPr>
        <p:spPr>
          <a:xfrm>
            <a:off x="8119872" y="5737859"/>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C.P. Vietnam (Đồng Nai)</a:t>
            </a:r>
          </a:p>
          <a:p>
            <a:pPr algn="l"/>
            <a:r>
              <a:rPr sz="1150" b="0" i="0">
                <a:solidFill>
                  <a:srgbClr val="595959"/>
                </a:solidFill>
                <a:latin typeface="Calibri"/>
              </a:rPr>
              <a:t>Sausage, meatballs, chicken</a:t>
            </a:r>
          </a:p>
        </p:txBody>
      </p:sp>
      <p:sp>
        <p:nvSpPr>
          <p:cNvPr id="26" name="Rounded Rectangle 25"/>
          <p:cNvSpPr/>
          <p:nvPr/>
        </p:nvSpPr>
        <p:spPr>
          <a:xfrm>
            <a:off x="8119872" y="6428231"/>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Koyu &amp; Unitek</a:t>
            </a:r>
          </a:p>
          <a:p>
            <a:pPr algn="l"/>
            <a:r>
              <a:rPr sz="1150" b="0" i="0">
                <a:solidFill>
                  <a:srgbClr val="595959"/>
                </a:solidFill>
                <a:latin typeface="Calibri"/>
              </a:rPr>
              <a:t>Processed chicken for Japan</a:t>
            </a:r>
          </a:p>
        </p:txBody>
      </p:sp>
      <p:sp>
        <p:nvSpPr>
          <p:cNvPr id="27" name="Rounded Rectangle 26"/>
          <p:cNvSpPr/>
          <p:nvPr/>
        </p:nvSpPr>
        <p:spPr>
          <a:xfrm>
            <a:off x="8119872" y="7118603"/>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San Hà</a:t>
            </a:r>
          </a:p>
          <a:p>
            <a:pPr algn="l"/>
            <a:r>
              <a:rPr sz="1150" b="0" i="0">
                <a:solidFill>
                  <a:srgbClr val="595959"/>
                </a:solidFill>
                <a:latin typeface="Calibri"/>
              </a:rPr>
              <a:t>Processed poultry</a:t>
            </a:r>
          </a:p>
        </p:txBody>
      </p:sp>
      <p:sp>
        <p:nvSpPr>
          <p:cNvPr id="28" name="Rounded Rectangle 27"/>
          <p:cNvSpPr/>
          <p:nvPr/>
        </p:nvSpPr>
        <p:spPr>
          <a:xfrm>
            <a:off x="8119872" y="7808975"/>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Sài Gòn Food</a:t>
            </a:r>
          </a:p>
          <a:p>
            <a:pPr algn="l"/>
            <a:r>
              <a:rPr sz="1150" b="0" i="0">
                <a:solidFill>
                  <a:srgbClr val="595959"/>
                </a:solidFill>
                <a:latin typeface="Calibri"/>
              </a:rPr>
              <a:t>Dumplings &amp; frozen ready meals</a:t>
            </a:r>
          </a:p>
        </p:txBody>
      </p:sp>
      <p:sp>
        <p:nvSpPr>
          <p:cNvPr id="29" name="TextBox 28"/>
          <p:cNvSpPr txBox="1"/>
          <p:nvPr/>
        </p:nvSpPr>
        <p:spPr>
          <a:xfrm>
            <a:off x="457200" y="8613648"/>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BJC Vietnam (customer status); company public information (products, locations). Dark = BJCS customer (Masan at group level); outlined = potential.</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Priority Meat Accounts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graphicFrame>
        <p:nvGraphicFramePr>
          <p:cNvPr id="8" name="Table 7"/>
          <p:cNvGraphicFramePr>
            <a:graphicFrameLocks noGrp="1"/>
          </p:cNvGraphicFramePr>
          <p:nvPr/>
        </p:nvGraphicFramePr>
        <p:xfrm>
          <a:off x="457200" y="1188720"/>
          <a:ext cx="11274552" cy="6995160"/>
        </p:xfrm>
        <a:graphic>
          <a:graphicData uri="http://schemas.openxmlformats.org/drawingml/2006/table">
            <a:tbl>
              <a:tblPr firstRow="1">
                <a:tableStyleId>{5C22544A-7EE6-4342-B048-85BDC9FD1C3A}</a:tableStyleId>
              </a:tblPr>
              <a:tblGrid>
                <a:gridCol w="2194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587752">
                  <a:extLst>
                    <a:ext uri="{9D8B030D-6E8A-4147-A177-3AD203B41FA5}">
                      <a16:colId xmlns:a16="http://schemas.microsoft.com/office/drawing/2014/main" val="20004"/>
                    </a:ext>
                  </a:extLst>
                </a:gridCol>
              </a:tblGrid>
              <a:tr h="411480">
                <a:tc>
                  <a:txBody>
                    <a:bodyPr/>
                    <a:lstStyle/>
                    <a:p>
                      <a:r>
                        <a:rPr sz="1400" b="1" i="0">
                          <a:solidFill>
                            <a:srgbClr val="FFFFFF"/>
                          </a:solidFill>
                          <a:latin typeface="Calibri"/>
                        </a:rPr>
                        <a:t>Account</a:t>
                      </a:r>
                    </a:p>
                  </a:txBody>
                  <a:tcPr marL="64008" marR="64008" marT="36576" marB="36576" anchor="ctr">
                    <a:solidFill>
                      <a:srgbClr val="284F3E"/>
                    </a:solidFill>
                  </a:tcPr>
                </a:tc>
                <a:tc>
                  <a:txBody>
                    <a:bodyPr/>
                    <a:lstStyle/>
                    <a:p>
                      <a:r>
                        <a:rPr sz="1400" b="1" i="0">
                          <a:solidFill>
                            <a:srgbClr val="FFFFFF"/>
                          </a:solidFill>
                          <a:latin typeface="Calibri"/>
                        </a:rPr>
                        <a:t>Status</a:t>
                      </a:r>
                    </a:p>
                  </a:txBody>
                  <a:tcPr marL="64008" marR="64008" marT="36576" marB="36576" anchor="ctr">
                    <a:solidFill>
                      <a:srgbClr val="284F3E"/>
                    </a:solidFill>
                  </a:tcPr>
                </a:tc>
                <a:tc>
                  <a:txBody>
                    <a:bodyPr/>
                    <a:lstStyle/>
                    <a:p>
                      <a:r>
                        <a:rPr sz="1400" b="1" i="0">
                          <a:solidFill>
                            <a:srgbClr val="FFFFFF"/>
                          </a:solidFill>
                          <a:latin typeface="Calibri"/>
                        </a:rPr>
                        <a:t>Pain point / need*</a:t>
                      </a:r>
                    </a:p>
                  </a:txBody>
                  <a:tcPr marL="64008" marR="64008" marT="36576" marB="36576" anchor="ctr">
                    <a:solidFill>
                      <a:srgbClr val="284F3E"/>
                    </a:solidFill>
                  </a:tcPr>
                </a:tc>
                <a:tc>
                  <a:txBody>
                    <a:bodyPr/>
                    <a:lstStyle/>
                    <a:p>
                      <a:r>
                        <a:rPr sz="1400" b="1" i="0">
                          <a:solidFill>
                            <a:srgbClr val="FFFFFF"/>
                          </a:solidFill>
                          <a:latin typeface="Calibri"/>
                        </a:rPr>
                        <a:t>HYBIND value</a:t>
                      </a:r>
                    </a:p>
                  </a:txBody>
                  <a:tcPr marL="64008" marR="64008" marT="36576" marB="36576" anchor="ctr">
                    <a:solidFill>
                      <a:srgbClr val="284F3E"/>
                    </a:solidFill>
                  </a:tcPr>
                </a:tc>
                <a:tc>
                  <a:txBody>
                    <a:bodyPr/>
                    <a:lstStyle/>
                    <a:p>
                      <a:r>
                        <a:rPr sz="1400" b="1" i="0">
                          <a:solidFill>
                            <a:srgbClr val="FFFFFF"/>
                          </a:solidFill>
                          <a:latin typeface="Calibri"/>
                        </a:rPr>
                        <a:t>Key success factor</a:t>
                      </a:r>
                    </a:p>
                  </a:txBody>
                  <a:tcPr marL="64008" marR="64008" marT="36576" marB="36576" anchor="ctr">
                    <a:solidFill>
                      <a:srgbClr val="284F3E"/>
                    </a:solidFill>
                  </a:tcPr>
                </a:tc>
                <a:extLst>
                  <a:ext uri="{0D108BD9-81ED-4DB2-BD59-A6C34878D82A}">
                    <a16:rowId xmlns:a16="http://schemas.microsoft.com/office/drawing/2014/main" val="10000"/>
                  </a:ext>
                </a:extLst>
              </a:tr>
              <a:tr h="822960">
                <a:tc>
                  <a:txBody>
                    <a:bodyPr/>
                    <a:lstStyle/>
                    <a:p>
                      <a:r>
                        <a:rPr sz="1300" b="1" i="0">
                          <a:solidFill>
                            <a:srgbClr val="284F3E"/>
                          </a:solidFill>
                          <a:latin typeface="Calibri"/>
                        </a:rPr>
                        <a:t>Masan MEATLife</a:t>
                      </a:r>
                    </a:p>
                    <a:p>
                      <a:r>
                        <a:rPr sz="1200" b="0" i="0">
                          <a:solidFill>
                            <a:srgbClr val="595959"/>
                          </a:solidFill>
                          <a:latin typeface="Calibri"/>
                        </a:rPr>
                        <a:t>MEATDeli · 3F Việt chicken</a:t>
                      </a:r>
                    </a:p>
                  </a:txBody>
                  <a:tcPr marL="64008" marR="64008" marT="36576" marB="36576" anchor="ctr">
                    <a:solidFill>
                      <a:srgbClr val="FFFFFF"/>
                    </a:solidFill>
                  </a:tcPr>
                </a:tc>
                <a:tc>
                  <a:txBody>
                    <a:bodyPr/>
                    <a:lstStyle/>
                    <a:p>
                      <a:r>
                        <a:rPr sz="1250" b="1" i="0">
                          <a:solidFill>
                            <a:srgbClr val="FFFFFF"/>
                          </a:solidFill>
                          <a:latin typeface="Calibri"/>
                        </a:rPr>
                        <a:t>BJCS customer</a:t>
                      </a:r>
                    </a:p>
                    <a:p>
                      <a:r>
                        <a:rPr sz="1200" b="0" i="0">
                          <a:solidFill>
                            <a:srgbClr val="BFE3CC"/>
                          </a:solidFill>
                          <a:latin typeface="Calibri"/>
                        </a:rPr>
                        <a:t>Masan Group · N &amp; S</a:t>
                      </a:r>
                    </a:p>
                  </a:txBody>
                  <a:tcPr marL="64008" marR="64008" marT="36576" marB="36576" anchor="ctr">
                    <a:solidFill>
                      <a:srgbClr val="284F3E"/>
                    </a:solidFill>
                  </a:tcPr>
                </a:tc>
                <a:tc>
                  <a:txBody>
                    <a:bodyPr/>
                    <a:lstStyle/>
                    <a:p>
                      <a:r>
                        <a:rPr sz="1250" b="0" i="0">
                          <a:solidFill>
                            <a:srgbClr val="262626"/>
                          </a:solidFill>
                          <a:latin typeface="Calibri"/>
                        </a:rPr>
                        <a:t>Premium 'safe meat' brand needs cleaner labels without losing yield and bite</a:t>
                      </a:r>
                    </a:p>
                  </a:txBody>
                  <a:tcPr marL="64008" marR="64008" marT="36576" marB="36576" anchor="ctr">
                    <a:solidFill>
                      <a:srgbClr val="FFFFFF"/>
                    </a:solidFill>
                  </a:tcPr>
                </a:tc>
                <a:tc>
                  <a:txBody>
                    <a:bodyPr/>
                    <a:lstStyle/>
                    <a:p>
                      <a:r>
                        <a:rPr sz="1250" b="0" i="0">
                          <a:solidFill>
                            <a:srgbClr val="262626"/>
                          </a:solidFill>
                          <a:latin typeface="Calibri"/>
                        </a:rPr>
                        <a:t>Phosphate replacement with comparable cooking yield &amp; texture</a:t>
                      </a:r>
                    </a:p>
                  </a:txBody>
                  <a:tcPr marL="64008" marR="64008" marT="36576" marB="36576" anchor="ctr">
                    <a:solidFill>
                      <a:srgbClr val="FFFFFF"/>
                    </a:solidFill>
                  </a:tcPr>
                </a:tc>
                <a:tc>
                  <a:txBody>
                    <a:bodyPr/>
                    <a:lstStyle/>
                    <a:p>
                      <a:r>
                        <a:rPr sz="1250" b="0" i="0">
                          <a:solidFill>
                            <a:srgbClr val="262626"/>
                          </a:solidFill>
                          <a:latin typeface="Calibri"/>
                        </a:rPr>
                        <a:t>R&amp;D trials on giò lụa &amp; sausage; cost-in-use vs. current phosphate blend</a:t>
                      </a:r>
                    </a:p>
                  </a:txBody>
                  <a:tcPr marL="64008" marR="64008" marT="36576" marB="36576" anchor="ctr">
                    <a:solidFill>
                      <a:srgbClr val="FFFFFF"/>
                    </a:solidFill>
                  </a:tcPr>
                </a:tc>
                <a:extLst>
                  <a:ext uri="{0D108BD9-81ED-4DB2-BD59-A6C34878D82A}">
                    <a16:rowId xmlns:a16="http://schemas.microsoft.com/office/drawing/2014/main" val="10001"/>
                  </a:ext>
                </a:extLst>
              </a:tr>
              <a:tr h="822960">
                <a:tc>
                  <a:txBody>
                    <a:bodyPr/>
                    <a:lstStyle/>
                    <a:p>
                      <a:r>
                        <a:rPr sz="1300" b="1" i="0">
                          <a:solidFill>
                            <a:srgbClr val="284F3E"/>
                          </a:solidFill>
                          <a:latin typeface="Calibri"/>
                        </a:rPr>
                        <a:t>CJ Cầu Tre</a:t>
                      </a:r>
                    </a:p>
                    <a:p>
                      <a:r>
                        <a:rPr sz="1200" b="0" i="0">
                          <a:solidFill>
                            <a:srgbClr val="595959"/>
                          </a:solidFill>
                          <a:latin typeface="Calibri"/>
                        </a:rPr>
                        <a:t>Dumplings, spring rolls, meatballs</a:t>
                      </a:r>
                    </a:p>
                  </a:txBody>
                  <a:tcPr marL="64008" marR="64008" marT="36576" marB="36576" anchor="ctr">
                    <a:solidFill>
                      <a:srgbClr val="F3F3F3"/>
                    </a:solidFill>
                  </a:tcPr>
                </a:tc>
                <a:tc>
                  <a:txBody>
                    <a:bodyPr/>
                    <a:lstStyle/>
                    <a:p>
                      <a:r>
                        <a:rPr sz="1250" b="1" i="0">
                          <a:solidFill>
                            <a:srgbClr val="FFFFFF"/>
                          </a:solidFill>
                          <a:latin typeface="Calibri"/>
                        </a:rPr>
                        <a:t>BJCS customer</a:t>
                      </a:r>
                    </a:p>
                    <a:p>
                      <a:r>
                        <a:rPr sz="1200" b="0" i="0">
                          <a:solidFill>
                            <a:srgbClr val="BFE3CC"/>
                          </a:solidFill>
                          <a:latin typeface="Calibri"/>
                        </a:rPr>
                        <a:t>South</a:t>
                      </a:r>
                    </a:p>
                  </a:txBody>
                  <a:tcPr marL="64008" marR="64008" marT="36576" marB="36576" anchor="ctr">
                    <a:solidFill>
                      <a:srgbClr val="284F3E"/>
                    </a:solidFill>
                  </a:tcPr>
                </a:tc>
                <a:tc>
                  <a:txBody>
                    <a:bodyPr/>
                    <a:lstStyle/>
                    <a:p>
                      <a:r>
                        <a:rPr sz="1250" b="0" i="0">
                          <a:solidFill>
                            <a:srgbClr val="262626"/>
                          </a:solidFill>
                          <a:latin typeface="Calibri"/>
                        </a:rPr>
                        <a:t>Juicy fillings and stable texture through freezing and steaming</a:t>
                      </a:r>
                    </a:p>
                  </a:txBody>
                  <a:tcPr marL="64008" marR="64008" marT="36576" marB="36576" anchor="ctr">
                    <a:solidFill>
                      <a:srgbClr val="F3F3F3"/>
                    </a:solidFill>
                  </a:tcPr>
                </a:tc>
                <a:tc>
                  <a:txBody>
                    <a:bodyPr/>
                    <a:lstStyle/>
                    <a:p>
                      <a:r>
                        <a:rPr sz="1250" b="0" i="0">
                          <a:solidFill>
                            <a:srgbClr val="262626"/>
                          </a:solidFill>
                          <a:latin typeface="Calibri"/>
                        </a:rPr>
                        <a:t>Better water retention, less purge in frozen fillings</a:t>
                      </a:r>
                    </a:p>
                  </a:txBody>
                  <a:tcPr marL="64008" marR="64008" marT="36576" marB="36576" anchor="ctr">
                    <a:solidFill>
                      <a:srgbClr val="F3F3F3"/>
                    </a:solidFill>
                  </a:tcPr>
                </a:tc>
                <a:tc>
                  <a:txBody>
                    <a:bodyPr/>
                    <a:lstStyle/>
                    <a:p>
                      <a:r>
                        <a:rPr sz="1250" b="0" i="0">
                          <a:solidFill>
                            <a:srgbClr val="262626"/>
                          </a:solidFill>
                          <a:latin typeface="Calibri"/>
                        </a:rPr>
                        <a:t>CJ group synergy – first Vietnam reference case</a:t>
                      </a:r>
                    </a:p>
                  </a:txBody>
                  <a:tcPr marL="64008" marR="64008" marT="36576" marB="36576" anchor="ctr">
                    <a:solidFill>
                      <a:srgbClr val="F3F3F3"/>
                    </a:solidFill>
                  </a:tcPr>
                </a:tc>
                <a:extLst>
                  <a:ext uri="{0D108BD9-81ED-4DB2-BD59-A6C34878D82A}">
                    <a16:rowId xmlns:a16="http://schemas.microsoft.com/office/drawing/2014/main" val="10002"/>
                  </a:ext>
                </a:extLst>
              </a:tr>
              <a:tr h="822960">
                <a:tc>
                  <a:txBody>
                    <a:bodyPr/>
                    <a:lstStyle/>
                    <a:p>
                      <a:r>
                        <a:rPr sz="1300" b="1" i="0">
                          <a:solidFill>
                            <a:srgbClr val="284F3E"/>
                          </a:solidFill>
                          <a:latin typeface="Calibri"/>
                        </a:rPr>
                        <a:t>LC Foods</a:t>
                      </a:r>
                    </a:p>
                    <a:p>
                      <a:r>
                        <a:rPr sz="1200" b="0" i="0">
                          <a:solidFill>
                            <a:srgbClr val="595959"/>
                          </a:solidFill>
                          <a:latin typeface="Calibri"/>
                        </a:rPr>
                        <a:t>Sterilized sausage, ready meals</a:t>
                      </a:r>
                    </a:p>
                  </a:txBody>
                  <a:tcPr marL="64008" marR="64008" marT="36576" marB="36576" anchor="ctr">
                    <a:solidFill>
                      <a:srgbClr val="FFFFFF"/>
                    </a:solidFill>
                  </a:tcPr>
                </a:tc>
                <a:tc>
                  <a:txBody>
                    <a:bodyPr/>
                    <a:lstStyle/>
                    <a:p>
                      <a:r>
                        <a:rPr sz="1250" b="1" i="0">
                          <a:solidFill>
                            <a:srgbClr val="FFFFFF"/>
                          </a:solidFill>
                          <a:latin typeface="Calibri"/>
                        </a:rPr>
                        <a:t>BJCS customer</a:t>
                      </a:r>
                    </a:p>
                    <a:p>
                      <a:r>
                        <a:rPr sz="1200" b="0" i="0">
                          <a:solidFill>
                            <a:srgbClr val="BFE3CC"/>
                          </a:solidFill>
                          <a:latin typeface="Calibri"/>
                        </a:rPr>
                        <a:t>South</a:t>
                      </a:r>
                    </a:p>
                  </a:txBody>
                  <a:tcPr marL="64008" marR="64008" marT="36576" marB="36576" anchor="ctr">
                    <a:solidFill>
                      <a:srgbClr val="284F3E"/>
                    </a:solidFill>
                  </a:tcPr>
                </a:tc>
                <a:tc>
                  <a:txBody>
                    <a:bodyPr/>
                    <a:lstStyle/>
                    <a:p>
                      <a:r>
                        <a:rPr sz="1250" b="0" i="0">
                          <a:solidFill>
                            <a:srgbClr val="262626"/>
                          </a:solidFill>
                          <a:latin typeface="Calibri"/>
                        </a:rPr>
                        <a:t>Yield and texture loss under retort sterilization</a:t>
                      </a:r>
                    </a:p>
                  </a:txBody>
                  <a:tcPr marL="64008" marR="64008" marT="36576" marB="36576" anchor="ctr">
                    <a:solidFill>
                      <a:srgbClr val="FFFFFF"/>
                    </a:solidFill>
                  </a:tcPr>
                </a:tc>
                <a:tc>
                  <a:txBody>
                    <a:bodyPr/>
                    <a:lstStyle/>
                    <a:p>
                      <a:r>
                        <a:rPr sz="1250" b="0" i="0">
                          <a:solidFill>
                            <a:srgbClr val="262626"/>
                          </a:solidFill>
                          <a:latin typeface="Calibri"/>
                        </a:rPr>
                        <a:t>Higher cooking yield, less purge over shelf life</a:t>
                      </a:r>
                    </a:p>
                  </a:txBody>
                  <a:tcPr marL="64008" marR="64008" marT="36576" marB="36576" anchor="ctr">
                    <a:solidFill>
                      <a:srgbClr val="FFFFFF"/>
                    </a:solidFill>
                  </a:tcPr>
                </a:tc>
                <a:tc>
                  <a:txBody>
                    <a:bodyPr/>
                    <a:lstStyle/>
                    <a:p>
                      <a:r>
                        <a:rPr sz="1250" b="0" i="0">
                          <a:solidFill>
                            <a:srgbClr val="262626"/>
                          </a:solidFill>
                          <a:latin typeface="Calibri"/>
                        </a:rPr>
                        <a:t>Validate performance under retort conditions</a:t>
                      </a:r>
                    </a:p>
                  </a:txBody>
                  <a:tcPr marL="64008" marR="64008" marT="36576" marB="36576" anchor="ctr">
                    <a:solidFill>
                      <a:srgbClr val="FFFFFF"/>
                    </a:solidFill>
                  </a:tcPr>
                </a:tc>
                <a:extLst>
                  <a:ext uri="{0D108BD9-81ED-4DB2-BD59-A6C34878D82A}">
                    <a16:rowId xmlns:a16="http://schemas.microsoft.com/office/drawing/2014/main" val="10003"/>
                  </a:ext>
                </a:extLst>
              </a:tr>
              <a:tr h="822960">
                <a:tc>
                  <a:txBody>
                    <a:bodyPr/>
                    <a:lstStyle/>
                    <a:p>
                      <a:r>
                        <a:rPr sz="1300" b="1" i="0">
                          <a:solidFill>
                            <a:srgbClr val="284F3E"/>
                          </a:solidFill>
                          <a:latin typeface="Calibri"/>
                        </a:rPr>
                        <a:t>Nitto Fuji</a:t>
                      </a:r>
                    </a:p>
                    <a:p>
                      <a:r>
                        <a:rPr sz="1200" b="0" i="0">
                          <a:solidFill>
                            <a:srgbClr val="595959"/>
                          </a:solidFill>
                          <a:latin typeface="Calibri"/>
                        </a:rPr>
                        <a:t>Batter, breading, premixes</a:t>
                      </a:r>
                    </a:p>
                  </a:txBody>
                  <a:tcPr marL="64008" marR="64008" marT="36576" marB="36576" anchor="ctr">
                    <a:solidFill>
                      <a:srgbClr val="F3F3F3"/>
                    </a:solidFill>
                  </a:tcPr>
                </a:tc>
                <a:tc>
                  <a:txBody>
                    <a:bodyPr/>
                    <a:lstStyle/>
                    <a:p>
                      <a:r>
                        <a:rPr sz="1250" b="1" i="0">
                          <a:solidFill>
                            <a:srgbClr val="FFFFFF"/>
                          </a:solidFill>
                          <a:latin typeface="Calibri"/>
                        </a:rPr>
                        <a:t>BJCS customer</a:t>
                      </a:r>
                    </a:p>
                    <a:p>
                      <a:r>
                        <a:rPr sz="1200" b="0" i="0">
                          <a:solidFill>
                            <a:srgbClr val="BFE3CC"/>
                          </a:solidFill>
                          <a:latin typeface="Calibri"/>
                        </a:rPr>
                        <a:t>South</a:t>
                      </a:r>
                    </a:p>
                  </a:txBody>
                  <a:tcPr marL="64008" marR="64008" marT="36576" marB="36576" anchor="ctr">
                    <a:solidFill>
                      <a:srgbClr val="284F3E"/>
                    </a:solidFill>
                  </a:tcPr>
                </a:tc>
                <a:tc>
                  <a:txBody>
                    <a:bodyPr/>
                    <a:lstStyle/>
                    <a:p>
                      <a:r>
                        <a:rPr sz="1250" b="0" i="0">
                          <a:solidFill>
                            <a:srgbClr val="262626"/>
                          </a:solidFill>
                          <a:latin typeface="Calibri"/>
                        </a:rPr>
                        <a:t>Processors asking for phosphate-free marinade &amp; coating systems</a:t>
                      </a:r>
                    </a:p>
                  </a:txBody>
                  <a:tcPr marL="64008" marR="64008" marT="36576" marB="36576" anchor="ctr">
                    <a:solidFill>
                      <a:srgbClr val="F3F3F3"/>
                    </a:solidFill>
                  </a:tcPr>
                </a:tc>
                <a:tc>
                  <a:txBody>
                    <a:bodyPr/>
                    <a:lstStyle/>
                    <a:p>
                      <a:r>
                        <a:rPr sz="1250" b="0" i="0">
                          <a:solidFill>
                            <a:srgbClr val="262626"/>
                          </a:solidFill>
                          <a:latin typeface="Calibri"/>
                        </a:rPr>
                        <a:t>HYBIND-based marinade / premix co-development</a:t>
                      </a:r>
                    </a:p>
                  </a:txBody>
                  <a:tcPr marL="64008" marR="64008" marT="36576" marB="36576" anchor="ctr">
                    <a:solidFill>
                      <a:srgbClr val="F3F3F3"/>
                    </a:solidFill>
                  </a:tcPr>
                </a:tc>
                <a:tc>
                  <a:txBody>
                    <a:bodyPr/>
                    <a:lstStyle/>
                    <a:p>
                      <a:r>
                        <a:rPr sz="1250" b="0" i="0">
                          <a:solidFill>
                            <a:srgbClr val="262626"/>
                          </a:solidFill>
                          <a:latin typeface="Calibri"/>
                        </a:rPr>
                        <a:t>Joint development; Nitto Fuji as channel to processors</a:t>
                      </a:r>
                    </a:p>
                  </a:txBody>
                  <a:tcPr marL="64008" marR="64008" marT="36576" marB="36576" anchor="ctr">
                    <a:solidFill>
                      <a:srgbClr val="F3F3F3"/>
                    </a:solidFill>
                  </a:tcPr>
                </a:tc>
                <a:extLst>
                  <a:ext uri="{0D108BD9-81ED-4DB2-BD59-A6C34878D82A}">
                    <a16:rowId xmlns:a16="http://schemas.microsoft.com/office/drawing/2014/main" val="10004"/>
                  </a:ext>
                </a:extLst>
              </a:tr>
              <a:tr h="822960">
                <a:tc>
                  <a:txBody>
                    <a:bodyPr/>
                    <a:lstStyle/>
                    <a:p>
                      <a:r>
                        <a:rPr sz="1300" b="1" i="0">
                          <a:solidFill>
                            <a:srgbClr val="284F3E"/>
                          </a:solidFill>
                          <a:latin typeface="Calibri"/>
                        </a:rPr>
                        <a:t>Vissan</a:t>
                      </a:r>
                    </a:p>
                    <a:p>
                      <a:r>
                        <a:rPr sz="1200" b="0" i="0">
                          <a:solidFill>
                            <a:srgbClr val="595959"/>
                          </a:solidFill>
                          <a:latin typeface="Calibri"/>
                        </a:rPr>
                        <a:t>Ham, sausage, canned meat</a:t>
                      </a:r>
                    </a:p>
                  </a:txBody>
                  <a:tcPr marL="64008" marR="64008" marT="36576" marB="36576" anchor="ctr">
                    <a:solidFill>
                      <a:srgbClr val="FFFFFF"/>
                    </a:solidFill>
                  </a:tcPr>
                </a:tc>
                <a:tc>
                  <a:txBody>
                    <a:bodyPr/>
                    <a:lstStyle/>
                    <a:p>
                      <a:r>
                        <a:rPr sz="1300" b="1" i="0">
                          <a:solidFill>
                            <a:srgbClr val="284F3E"/>
                          </a:solidFill>
                          <a:latin typeface="Calibri"/>
                        </a:rPr>
                        <a:t>Potential</a:t>
                      </a:r>
                    </a:p>
                    <a:p>
                      <a:r>
                        <a:rPr sz="1200" b="0" i="0">
                          <a:solidFill>
                            <a:srgbClr val="595959"/>
                          </a:solidFill>
                          <a:latin typeface="Calibri"/>
                        </a:rPr>
                        <a:t>South</a:t>
                      </a:r>
                    </a:p>
                  </a:txBody>
                  <a:tcPr marL="64008" marR="64008" marT="36576" marB="36576" anchor="ctr">
                    <a:solidFill>
                      <a:srgbClr val="FFFFFF"/>
                    </a:solidFill>
                  </a:tcPr>
                </a:tc>
                <a:tc>
                  <a:txBody>
                    <a:bodyPr/>
                    <a:lstStyle/>
                    <a:p>
                      <a:r>
                        <a:rPr sz="1250" b="0" i="0">
                          <a:solidFill>
                            <a:srgbClr val="262626"/>
                          </a:solidFill>
                          <a:latin typeface="Calibri"/>
                        </a:rPr>
                        <a:t>Mass-market cost pressure; consistent yield at large scale</a:t>
                      </a:r>
                    </a:p>
                  </a:txBody>
                  <a:tcPr marL="64008" marR="64008" marT="36576" marB="36576" anchor="ctr">
                    <a:solidFill>
                      <a:srgbClr val="FFFFFF"/>
                    </a:solidFill>
                  </a:tcPr>
                </a:tc>
                <a:tc>
                  <a:txBody>
                    <a:bodyPr/>
                    <a:lstStyle/>
                    <a:p>
                      <a:r>
                        <a:rPr sz="1250" b="0" i="0">
                          <a:solidFill>
                            <a:srgbClr val="262626"/>
                          </a:solidFill>
                          <a:latin typeface="Calibri"/>
                        </a:rPr>
                        <a:t>Yield parity with cleaner label → premium SKUs</a:t>
                      </a:r>
                    </a:p>
                  </a:txBody>
                  <a:tcPr marL="64008" marR="64008" marT="36576" marB="36576" anchor="ctr">
                    <a:solidFill>
                      <a:srgbClr val="FFFFFF"/>
                    </a:solidFill>
                  </a:tcPr>
                </a:tc>
                <a:tc>
                  <a:txBody>
                    <a:bodyPr/>
                    <a:lstStyle/>
                    <a:p>
                      <a:r>
                        <a:rPr sz="1250" b="0" i="0">
                          <a:solidFill>
                            <a:srgbClr val="262626"/>
                          </a:solidFill>
                          <a:latin typeface="Calibri"/>
                        </a:rPr>
                        <a:t>Start with one premium SKU; joint trial with CJ</a:t>
                      </a:r>
                    </a:p>
                  </a:txBody>
                  <a:tcPr marL="64008" marR="64008" marT="36576" marB="36576" anchor="ctr">
                    <a:solidFill>
                      <a:srgbClr val="FFFFFF"/>
                    </a:solidFill>
                  </a:tcPr>
                </a:tc>
                <a:extLst>
                  <a:ext uri="{0D108BD9-81ED-4DB2-BD59-A6C34878D82A}">
                    <a16:rowId xmlns:a16="http://schemas.microsoft.com/office/drawing/2014/main" val="10005"/>
                  </a:ext>
                </a:extLst>
              </a:tr>
              <a:tr h="822960">
                <a:tc>
                  <a:txBody>
                    <a:bodyPr/>
                    <a:lstStyle/>
                    <a:p>
                      <a:r>
                        <a:rPr sz="1300" b="1" i="0">
                          <a:solidFill>
                            <a:srgbClr val="284F3E"/>
                          </a:solidFill>
                          <a:latin typeface="Calibri"/>
                        </a:rPr>
                        <a:t>C.P. Vietnam</a:t>
                      </a:r>
                    </a:p>
                    <a:p>
                      <a:r>
                        <a:rPr sz="1200" b="0" i="0">
                          <a:solidFill>
                            <a:srgbClr val="595959"/>
                          </a:solidFill>
                          <a:latin typeface="Calibri"/>
                        </a:rPr>
                        <a:t>Sausage, meatballs, chicken</a:t>
                      </a:r>
                    </a:p>
                  </a:txBody>
                  <a:tcPr marL="64008" marR="64008" marT="36576" marB="36576" anchor="ctr">
                    <a:solidFill>
                      <a:srgbClr val="F3F3F3"/>
                    </a:solidFill>
                  </a:tcPr>
                </a:tc>
                <a:tc>
                  <a:txBody>
                    <a:bodyPr/>
                    <a:lstStyle/>
                    <a:p>
                      <a:r>
                        <a:rPr sz="1300" b="1" i="0">
                          <a:solidFill>
                            <a:srgbClr val="284F3E"/>
                          </a:solidFill>
                          <a:latin typeface="Calibri"/>
                        </a:rPr>
                        <a:t>Potential</a:t>
                      </a:r>
                    </a:p>
                    <a:p>
                      <a:r>
                        <a:rPr sz="1200" b="0" i="0">
                          <a:solidFill>
                            <a:srgbClr val="595959"/>
                          </a:solidFill>
                          <a:latin typeface="Calibri"/>
                        </a:rPr>
                        <a:t>South</a:t>
                      </a:r>
                    </a:p>
                  </a:txBody>
                  <a:tcPr marL="64008" marR="64008" marT="36576" marB="36576" anchor="ctr">
                    <a:solidFill>
                      <a:srgbClr val="F3F3F3"/>
                    </a:solidFill>
                  </a:tcPr>
                </a:tc>
                <a:tc>
                  <a:txBody>
                    <a:bodyPr/>
                    <a:lstStyle/>
                    <a:p>
                      <a:r>
                        <a:rPr sz="1250" b="0" i="0">
                          <a:solidFill>
                            <a:srgbClr val="262626"/>
                          </a:solidFill>
                          <a:latin typeface="Calibri"/>
                        </a:rPr>
                        <a:t>Integrated cost optimization; export chicken specifications</a:t>
                      </a:r>
                    </a:p>
                  </a:txBody>
                  <a:tcPr marL="64008" marR="64008" marT="36576" marB="36576" anchor="ctr">
                    <a:solidFill>
                      <a:srgbClr val="F3F3F3"/>
                    </a:solidFill>
                  </a:tcPr>
                </a:tc>
                <a:tc>
                  <a:txBody>
                    <a:bodyPr/>
                    <a:lstStyle/>
                    <a:p>
                      <a:r>
                        <a:rPr sz="1250" b="0" i="0">
                          <a:solidFill>
                            <a:srgbClr val="262626"/>
                          </a:solidFill>
                          <a:latin typeface="Calibri"/>
                        </a:rPr>
                        <a:t>Yield gain in marinated / injected chicken</a:t>
                      </a:r>
                    </a:p>
                  </a:txBody>
                  <a:tcPr marL="64008" marR="64008" marT="36576" marB="36576" anchor="ctr">
                    <a:solidFill>
                      <a:srgbClr val="F3F3F3"/>
                    </a:solidFill>
                  </a:tcPr>
                </a:tc>
                <a:tc>
                  <a:txBody>
                    <a:bodyPr/>
                    <a:lstStyle/>
                    <a:p>
                      <a:r>
                        <a:rPr sz="1250" b="0" i="0">
                          <a:solidFill>
                            <a:srgbClr val="262626"/>
                          </a:solidFill>
                          <a:latin typeface="Calibri"/>
                        </a:rPr>
                        <a:t>Cost-in-use model; multi-plant roll-out</a:t>
                      </a:r>
                    </a:p>
                  </a:txBody>
                  <a:tcPr marL="64008" marR="64008" marT="36576" marB="36576" anchor="ctr">
                    <a:solidFill>
                      <a:srgbClr val="F3F3F3"/>
                    </a:solidFill>
                  </a:tcPr>
                </a:tc>
                <a:extLst>
                  <a:ext uri="{0D108BD9-81ED-4DB2-BD59-A6C34878D82A}">
                    <a16:rowId xmlns:a16="http://schemas.microsoft.com/office/drawing/2014/main" val="10006"/>
                  </a:ext>
                </a:extLst>
              </a:tr>
              <a:tr h="822960">
                <a:tc>
                  <a:txBody>
                    <a:bodyPr/>
                    <a:lstStyle/>
                    <a:p>
                      <a:r>
                        <a:rPr sz="1300" b="1" i="0">
                          <a:solidFill>
                            <a:srgbClr val="284F3E"/>
                          </a:solidFill>
                          <a:latin typeface="Calibri"/>
                        </a:rPr>
                        <a:t>Koyu &amp; Unitek</a:t>
                      </a:r>
                    </a:p>
                    <a:p>
                      <a:r>
                        <a:rPr sz="1200" b="0" i="0">
                          <a:solidFill>
                            <a:srgbClr val="595959"/>
                          </a:solidFill>
                          <a:latin typeface="Calibri"/>
                        </a:rPr>
                        <a:t>Processed chicken for Japan</a:t>
                      </a:r>
                    </a:p>
                  </a:txBody>
                  <a:tcPr marL="64008" marR="64008" marT="36576" marB="36576" anchor="ctr">
                    <a:solidFill>
                      <a:srgbClr val="FFFFFF"/>
                    </a:solidFill>
                  </a:tcPr>
                </a:tc>
                <a:tc>
                  <a:txBody>
                    <a:bodyPr/>
                    <a:lstStyle/>
                    <a:p>
                      <a:r>
                        <a:rPr sz="1300" b="1" i="0">
                          <a:solidFill>
                            <a:srgbClr val="284F3E"/>
                          </a:solidFill>
                          <a:latin typeface="Calibri"/>
                        </a:rPr>
                        <a:t>Potential</a:t>
                      </a:r>
                    </a:p>
                    <a:p>
                      <a:r>
                        <a:rPr sz="1200" b="0" i="0">
                          <a:solidFill>
                            <a:srgbClr val="595959"/>
                          </a:solidFill>
                          <a:latin typeface="Calibri"/>
                        </a:rPr>
                        <a:t>South</a:t>
                      </a:r>
                    </a:p>
                  </a:txBody>
                  <a:tcPr marL="64008" marR="64008" marT="36576" marB="36576" anchor="ctr">
                    <a:solidFill>
                      <a:srgbClr val="FFFFFF"/>
                    </a:solidFill>
                  </a:tcPr>
                </a:tc>
                <a:tc>
                  <a:txBody>
                    <a:bodyPr/>
                    <a:lstStyle/>
                    <a:p>
                      <a:r>
                        <a:rPr sz="1250" b="0" i="0">
                          <a:solidFill>
                            <a:srgbClr val="262626"/>
                          </a:solidFill>
                          <a:latin typeface="Calibri"/>
                        </a:rPr>
                        <a:t>Strict Japanese buyer specs on additives &amp; labeling</a:t>
                      </a:r>
                    </a:p>
                  </a:txBody>
                  <a:tcPr marL="64008" marR="64008" marT="36576" marB="36576" anchor="ctr">
                    <a:solidFill>
                      <a:srgbClr val="FFFFFF"/>
                    </a:solidFill>
                  </a:tcPr>
                </a:tc>
                <a:tc>
                  <a:txBody>
                    <a:bodyPr/>
                    <a:lstStyle/>
                    <a:p>
                      <a:r>
                        <a:rPr sz="1250" b="0" i="0">
                          <a:solidFill>
                            <a:srgbClr val="262626"/>
                          </a:solidFill>
                          <a:latin typeface="Calibri"/>
                        </a:rPr>
                        <a:t>Clean-label yield solution for export programs</a:t>
                      </a:r>
                    </a:p>
                  </a:txBody>
                  <a:tcPr marL="64008" marR="64008" marT="36576" marB="36576" anchor="ctr">
                    <a:solidFill>
                      <a:srgbClr val="FFFFFF"/>
                    </a:solidFill>
                  </a:tcPr>
                </a:tc>
                <a:tc>
                  <a:txBody>
                    <a:bodyPr/>
                    <a:lstStyle/>
                    <a:p>
                      <a:r>
                        <a:rPr sz="1250" b="0" i="0">
                          <a:solidFill>
                            <a:srgbClr val="262626"/>
                          </a:solidFill>
                          <a:latin typeface="Calibri"/>
                        </a:rPr>
                        <a:t>Complete documentation for Japanese buyer approval</a:t>
                      </a:r>
                    </a:p>
                  </a:txBody>
                  <a:tcPr marL="64008" marR="64008" marT="36576" marB="36576" anchor="ctr">
                    <a:solidFill>
                      <a:srgbClr val="FFFFFF"/>
                    </a:solidFill>
                  </a:tcPr>
                </a:tc>
                <a:extLst>
                  <a:ext uri="{0D108BD9-81ED-4DB2-BD59-A6C34878D82A}">
                    <a16:rowId xmlns:a16="http://schemas.microsoft.com/office/drawing/2014/main" val="10007"/>
                  </a:ext>
                </a:extLst>
              </a:tr>
              <a:tr h="822960">
                <a:tc>
                  <a:txBody>
                    <a:bodyPr/>
                    <a:lstStyle/>
                    <a:p>
                      <a:r>
                        <a:rPr sz="1300" b="1" i="0">
                          <a:solidFill>
                            <a:srgbClr val="284F3E"/>
                          </a:solidFill>
                          <a:latin typeface="Calibri"/>
                        </a:rPr>
                        <a:t>Daesang Đức Việt</a:t>
                      </a:r>
                    </a:p>
                    <a:p>
                      <a:r>
                        <a:rPr sz="1200" b="0" i="0">
                          <a:solidFill>
                            <a:srgbClr val="595959"/>
                          </a:solidFill>
                          <a:latin typeface="Calibri"/>
                        </a:rPr>
                        <a:t>German-style sausages</a:t>
                      </a:r>
                    </a:p>
                  </a:txBody>
                  <a:tcPr marL="64008" marR="64008" marT="36576" marB="36576" anchor="ctr">
                    <a:solidFill>
                      <a:srgbClr val="F3F3F3"/>
                    </a:solidFill>
                  </a:tcPr>
                </a:tc>
                <a:tc>
                  <a:txBody>
                    <a:bodyPr/>
                    <a:lstStyle/>
                    <a:p>
                      <a:r>
                        <a:rPr sz="1300" b="1" i="0">
                          <a:solidFill>
                            <a:srgbClr val="284F3E"/>
                          </a:solidFill>
                          <a:latin typeface="Calibri"/>
                        </a:rPr>
                        <a:t>Potential</a:t>
                      </a:r>
                    </a:p>
                    <a:p>
                      <a:r>
                        <a:rPr sz="1200" b="0" i="0">
                          <a:solidFill>
                            <a:srgbClr val="595959"/>
                          </a:solidFill>
                          <a:latin typeface="Calibri"/>
                        </a:rPr>
                        <a:t>North</a:t>
                      </a:r>
                    </a:p>
                  </a:txBody>
                  <a:tcPr marL="64008" marR="64008" marT="36576" marB="36576" anchor="ctr">
                    <a:solidFill>
                      <a:srgbClr val="F3F3F3"/>
                    </a:solidFill>
                  </a:tcPr>
                </a:tc>
                <a:tc>
                  <a:txBody>
                    <a:bodyPr/>
                    <a:lstStyle/>
                    <a:p>
                      <a:r>
                        <a:rPr sz="1250" b="0" i="0">
                          <a:solidFill>
                            <a:srgbClr val="262626"/>
                          </a:solidFill>
                          <a:latin typeface="Calibri"/>
                        </a:rPr>
                        <a:t>Premium bite &amp; juiciness; clean-label trend</a:t>
                      </a:r>
                    </a:p>
                  </a:txBody>
                  <a:tcPr marL="64008" marR="64008" marT="36576" marB="36576" anchor="ctr">
                    <a:solidFill>
                      <a:srgbClr val="F3F3F3"/>
                    </a:solidFill>
                  </a:tcPr>
                </a:tc>
                <a:tc>
                  <a:txBody>
                    <a:bodyPr/>
                    <a:lstStyle/>
                    <a:p>
                      <a:r>
                        <a:rPr sz="1250" b="0" i="0">
                          <a:solidFill>
                            <a:srgbClr val="262626"/>
                          </a:solidFill>
                          <a:latin typeface="Calibri"/>
                        </a:rPr>
                        <a:t>Juiciness &amp; texture with a 'no added phosphate' option</a:t>
                      </a:r>
                    </a:p>
                  </a:txBody>
                  <a:tcPr marL="64008" marR="64008" marT="36576" marB="36576" anchor="ctr">
                    <a:solidFill>
                      <a:srgbClr val="F3F3F3"/>
                    </a:solidFill>
                  </a:tcPr>
                </a:tc>
                <a:tc>
                  <a:txBody>
                    <a:bodyPr/>
                    <a:lstStyle/>
                    <a:p>
                      <a:r>
                        <a:rPr sz="1250" b="0" i="0">
                          <a:solidFill>
                            <a:srgbClr val="262626"/>
                          </a:solidFill>
                          <a:latin typeface="Calibri"/>
                        </a:rPr>
                        <a:t>Align with CJ first (Daesang is a CJ competitor in Korea)</a:t>
                      </a:r>
                    </a:p>
                  </a:txBody>
                  <a:tcPr marL="64008" marR="64008" marT="36576" marB="36576" anchor="ctr">
                    <a:solidFill>
                      <a:srgbClr val="F3F3F3"/>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&amp; company public information – hypotheses to be validated in customer meetings.</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Seafood Opportunity</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11274552" cy="960120"/>
          </a:xfrm>
          <a:prstGeom prst="roundRect">
            <a:avLst>
              <a:gd name="adj" fmla="val 10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wrap="square" lIns="182880" tIns="27432" rIns="182880" bIns="27432" rtlCol="0" anchor="ctr"/>
          <a:lstStyle/>
          <a:p>
            <a:pPr algn="l"/>
            <a:r>
              <a:rPr sz="1500" b="1" i="0">
                <a:solidFill>
                  <a:srgbClr val="284F3E"/>
                </a:solidFill>
                <a:latin typeface="Calibri"/>
              </a:rPr>
              <a:t>US$11.3 bn seafood exports in 2025. </a:t>
            </a:r>
            <a:r>
              <a:rPr sz="1500" b="0" i="0">
                <a:solidFill>
                  <a:srgbClr val="262626"/>
                </a:solidFill>
                <a:latin typeface="Calibri"/>
              </a:rPr>
              <a:t>Phosphate-based water-retention agents are common in shrimp, squid and pangasius processing, while export buyers increasingly ask for non-phosphate (NP) / 'untreated' products.</a:t>
            </a:r>
          </a:p>
        </p:txBody>
      </p:sp>
      <p:sp>
        <p:nvSpPr>
          <p:cNvPr id="9" name="Rounded Rectangle 8"/>
          <p:cNvSpPr/>
          <p:nvPr/>
        </p:nvSpPr>
        <p:spPr>
          <a:xfrm>
            <a:off x="457200" y="2286000"/>
            <a:ext cx="4206240" cy="347472"/>
          </a:xfrm>
          <a:prstGeom prst="roundRect">
            <a:avLst>
              <a:gd name="adj" fmla="val 30000"/>
            </a:avLst>
          </a:prstGeom>
          <a:solidFill>
            <a:srgbClr val="FFFFFF"/>
          </a:solidFill>
          <a:ln w="15875">
            <a:solidFill>
              <a:srgbClr val="C55A11"/>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250" b="1" i="0">
                <a:solidFill>
                  <a:srgbClr val="C55A11"/>
                </a:solidFill>
                <a:latin typeface="Calibri"/>
              </a:rPr>
              <a:t>Subject to CJ BIO application validation</a:t>
            </a:r>
          </a:p>
        </p:txBody>
      </p:sp>
      <p:sp>
        <p:nvSpPr>
          <p:cNvPr id="10" name="Rounded Rectangle 9"/>
          <p:cNvSpPr/>
          <p:nvPr/>
        </p:nvSpPr>
        <p:spPr>
          <a:xfrm>
            <a:off x="9052560" y="2322576"/>
            <a:ext cx="1417320" cy="274320"/>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FFFFFF"/>
                </a:solidFill>
                <a:latin typeface="Calibri"/>
              </a:rPr>
              <a:t>BJCS customer</a:t>
            </a:r>
          </a:p>
        </p:txBody>
      </p:sp>
      <p:sp>
        <p:nvSpPr>
          <p:cNvPr id="11" name="Rounded Rectangle 10"/>
          <p:cNvSpPr/>
          <p:nvPr/>
        </p:nvSpPr>
        <p:spPr>
          <a:xfrm>
            <a:off x="10561320" y="2322576"/>
            <a:ext cx="1143000" cy="274320"/>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284F3E"/>
                </a:solidFill>
                <a:latin typeface="Calibri"/>
              </a:rPr>
              <a:t>Potential</a:t>
            </a:r>
          </a:p>
        </p:txBody>
      </p:sp>
      <p:sp>
        <p:nvSpPr>
          <p:cNvPr id="12" name="Rounded Rectangle 11"/>
          <p:cNvSpPr/>
          <p:nvPr/>
        </p:nvSpPr>
        <p:spPr>
          <a:xfrm>
            <a:off x="457200" y="278892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NORTH</a:t>
            </a:r>
          </a:p>
          <a:p>
            <a:pPr algn="ctr"/>
            <a:r>
              <a:rPr sz="1150" b="0" i="0">
                <a:solidFill>
                  <a:srgbClr val="FFFFFF"/>
                </a:solidFill>
                <a:latin typeface="Calibri"/>
              </a:rPr>
              <a:t>Quang Ninh · Hai Phong</a:t>
            </a:r>
          </a:p>
        </p:txBody>
      </p:sp>
      <p:sp>
        <p:nvSpPr>
          <p:cNvPr id="13" name="Rounded Rectangle 12"/>
          <p:cNvSpPr/>
          <p:nvPr/>
        </p:nvSpPr>
        <p:spPr>
          <a:xfrm>
            <a:off x="457200" y="3566160"/>
            <a:ext cx="36118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ctr"/>
            <a:r>
              <a:rPr sz="1500" b="1" i="0">
                <a:solidFill>
                  <a:srgbClr val="284F3E"/>
                </a:solidFill>
                <a:latin typeface="Calibri"/>
              </a:rPr>
              <a:t>Limited</a:t>
            </a:r>
          </a:p>
          <a:p>
            <a:pPr algn="ctr"/>
            <a:r>
              <a:rPr sz="1400" b="0" i="0">
                <a:solidFill>
                  <a:srgbClr val="262626"/>
                </a:solidFill>
                <a:latin typeface="Calibri"/>
              </a:rPr>
              <a:t>Export seafood processing is concentrated in Central &amp; South Vietnam</a:t>
            </a:r>
          </a:p>
        </p:txBody>
      </p:sp>
      <p:sp>
        <p:nvSpPr>
          <p:cNvPr id="14" name="Rounded Rectangle 13"/>
          <p:cNvSpPr/>
          <p:nvPr/>
        </p:nvSpPr>
        <p:spPr>
          <a:xfrm>
            <a:off x="4288536" y="278892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CENTRAL</a:t>
            </a:r>
          </a:p>
          <a:p>
            <a:pPr algn="ctr"/>
            <a:r>
              <a:rPr sz="1150" b="0" i="0">
                <a:solidFill>
                  <a:srgbClr val="FFFFFF"/>
                </a:solidFill>
                <a:latin typeface="Calibri"/>
              </a:rPr>
              <a:t>Da Nang · Khanh Hoa</a:t>
            </a:r>
          </a:p>
        </p:txBody>
      </p:sp>
      <p:sp>
        <p:nvSpPr>
          <p:cNvPr id="15" name="Rounded Rectangle 14"/>
          <p:cNvSpPr/>
          <p:nvPr/>
        </p:nvSpPr>
        <p:spPr>
          <a:xfrm>
            <a:off x="4288536" y="3566160"/>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Thuận Phước (Đà Nẵng)</a:t>
            </a:r>
          </a:p>
          <a:p>
            <a:pPr algn="l"/>
            <a:r>
              <a:rPr sz="1150" b="0" i="0">
                <a:solidFill>
                  <a:srgbClr val="595959"/>
                </a:solidFill>
                <a:latin typeface="Calibri"/>
              </a:rPr>
              <a:t>Shrimp</a:t>
            </a:r>
          </a:p>
        </p:txBody>
      </p:sp>
      <p:sp>
        <p:nvSpPr>
          <p:cNvPr id="16" name="Rounded Rectangle 15"/>
          <p:cNvSpPr/>
          <p:nvPr/>
        </p:nvSpPr>
        <p:spPr>
          <a:xfrm>
            <a:off x="4288536" y="4256532"/>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Thọ Quang (Đà Nẵng)</a:t>
            </a:r>
          </a:p>
          <a:p>
            <a:pPr algn="l"/>
            <a:r>
              <a:rPr sz="1150" b="0" i="0">
                <a:solidFill>
                  <a:srgbClr val="595959"/>
                </a:solidFill>
                <a:latin typeface="Calibri"/>
              </a:rPr>
              <a:t>Squid, octopus</a:t>
            </a:r>
          </a:p>
        </p:txBody>
      </p:sp>
      <p:sp>
        <p:nvSpPr>
          <p:cNvPr id="17" name="Rounded Rectangle 16"/>
          <p:cNvSpPr/>
          <p:nvPr/>
        </p:nvSpPr>
        <p:spPr>
          <a:xfrm>
            <a:off x="4288536" y="4946904"/>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Nha Trang Seafoods F17 (Khánh Hòa)</a:t>
            </a:r>
          </a:p>
          <a:p>
            <a:pPr algn="l"/>
            <a:r>
              <a:rPr sz="1150" b="0" i="0">
                <a:solidFill>
                  <a:srgbClr val="595959"/>
                </a:solidFill>
                <a:latin typeface="Calibri"/>
              </a:rPr>
              <a:t>Shrimp</a:t>
            </a:r>
          </a:p>
        </p:txBody>
      </p:sp>
      <p:sp>
        <p:nvSpPr>
          <p:cNvPr id="18" name="Rounded Rectangle 17"/>
          <p:cNvSpPr/>
          <p:nvPr/>
        </p:nvSpPr>
        <p:spPr>
          <a:xfrm>
            <a:off x="4288536" y="5728716"/>
            <a:ext cx="3611880" cy="17373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27432" rIns="137160" bIns="27432" rtlCol="0" anchor="ctr"/>
          <a:lstStyle/>
          <a:p>
            <a:pPr algn="ctr"/>
            <a:r>
              <a:rPr sz="1500" b="1" i="0">
                <a:solidFill>
                  <a:srgbClr val="284F3E"/>
                </a:solidFill>
                <a:latin typeface="Calibri"/>
              </a:rPr>
              <a:t>Japan / Korea programs</a:t>
            </a:r>
          </a:p>
          <a:p>
            <a:pPr algn="ctr"/>
            <a:r>
              <a:rPr sz="1400" b="0" i="0">
                <a:solidFill>
                  <a:srgbClr val="262626"/>
                </a:solidFill>
                <a:latin typeface="Calibri"/>
              </a:rPr>
              <a:t>Shrimp, squid &amp; octopus exporters with strict non-phosphate (NP) specifications</a:t>
            </a:r>
          </a:p>
        </p:txBody>
      </p:sp>
      <p:sp>
        <p:nvSpPr>
          <p:cNvPr id="19" name="Rounded Rectangle 18"/>
          <p:cNvSpPr/>
          <p:nvPr/>
        </p:nvSpPr>
        <p:spPr>
          <a:xfrm>
            <a:off x="8119872" y="2788920"/>
            <a:ext cx="3611880" cy="685800"/>
          </a:xfrm>
          <a:prstGeom prst="roundRect">
            <a:avLst>
              <a:gd name="adj" fmla="val 10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SOUTH</a:t>
            </a:r>
          </a:p>
          <a:p>
            <a:pPr algn="ctr"/>
            <a:r>
              <a:rPr sz="1150" b="0" i="0">
                <a:solidFill>
                  <a:srgbClr val="FFFFFF"/>
                </a:solidFill>
                <a:latin typeface="Calibri"/>
              </a:rPr>
              <a:t>HCMC · Mekong Delta</a:t>
            </a:r>
          </a:p>
        </p:txBody>
      </p:sp>
      <p:sp>
        <p:nvSpPr>
          <p:cNvPr id="20" name="Rounded Rectangle 19"/>
          <p:cNvSpPr/>
          <p:nvPr/>
        </p:nvSpPr>
        <p:spPr>
          <a:xfrm>
            <a:off x="8119872" y="3566160"/>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Seapimex (HCMC)</a:t>
            </a:r>
          </a:p>
          <a:p>
            <a:pPr algn="l"/>
            <a:r>
              <a:rPr sz="1150" b="0" i="0">
                <a:solidFill>
                  <a:srgbClr val="BFE3CC"/>
                </a:solidFill>
                <a:latin typeface="Calibri"/>
              </a:rPr>
              <a:t>Shrimp</a:t>
            </a:r>
          </a:p>
        </p:txBody>
      </p:sp>
      <p:sp>
        <p:nvSpPr>
          <p:cNvPr id="21" name="Rounded Rectangle 20"/>
          <p:cNvSpPr/>
          <p:nvPr/>
        </p:nvSpPr>
        <p:spPr>
          <a:xfrm>
            <a:off x="8119872" y="4256532"/>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Navico (An Giang)</a:t>
            </a:r>
          </a:p>
          <a:p>
            <a:pPr algn="l"/>
            <a:r>
              <a:rPr sz="1150" b="0" i="0">
                <a:solidFill>
                  <a:srgbClr val="BFE3CC"/>
                </a:solidFill>
                <a:latin typeface="Calibri"/>
              </a:rPr>
              <a:t>Pangasius</a:t>
            </a:r>
          </a:p>
        </p:txBody>
      </p:sp>
      <p:sp>
        <p:nvSpPr>
          <p:cNvPr id="22" name="Rounded Rectangle 21"/>
          <p:cNvSpPr/>
          <p:nvPr/>
        </p:nvSpPr>
        <p:spPr>
          <a:xfrm>
            <a:off x="8119872" y="4946904"/>
            <a:ext cx="3611880" cy="621792"/>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FFFFFF"/>
                </a:solidFill>
                <a:latin typeface="Calibri"/>
              </a:rPr>
              <a:t>LC Foods – Cadovina, Hoàng Long</a:t>
            </a:r>
          </a:p>
          <a:p>
            <a:pPr algn="l"/>
            <a:r>
              <a:rPr sz="1150" b="0" i="0">
                <a:solidFill>
                  <a:srgbClr val="BFE3CC"/>
                </a:solidFill>
                <a:latin typeface="Calibri"/>
              </a:rPr>
              <a:t>Pangasius</a:t>
            </a:r>
          </a:p>
        </p:txBody>
      </p:sp>
      <p:sp>
        <p:nvSpPr>
          <p:cNvPr id="23" name="Rounded Rectangle 22"/>
          <p:cNvSpPr/>
          <p:nvPr/>
        </p:nvSpPr>
        <p:spPr>
          <a:xfrm>
            <a:off x="8119872" y="5637276"/>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Minh Phú (Cà Mau)</a:t>
            </a:r>
          </a:p>
          <a:p>
            <a:pPr algn="l"/>
            <a:r>
              <a:rPr sz="1150" b="0" i="0">
                <a:solidFill>
                  <a:srgbClr val="595959"/>
                </a:solidFill>
                <a:latin typeface="Calibri"/>
              </a:rPr>
              <a:t>Shrimp</a:t>
            </a:r>
          </a:p>
        </p:txBody>
      </p:sp>
      <p:sp>
        <p:nvSpPr>
          <p:cNvPr id="24" name="Rounded Rectangle 23"/>
          <p:cNvSpPr/>
          <p:nvPr/>
        </p:nvSpPr>
        <p:spPr>
          <a:xfrm>
            <a:off x="8119872" y="6327648"/>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Sao Ta (Sóc Trăng)</a:t>
            </a:r>
          </a:p>
          <a:p>
            <a:pPr algn="l"/>
            <a:r>
              <a:rPr sz="1150" b="0" i="0">
                <a:solidFill>
                  <a:srgbClr val="595959"/>
                </a:solidFill>
                <a:latin typeface="Calibri"/>
              </a:rPr>
              <a:t>Shrimp</a:t>
            </a:r>
          </a:p>
        </p:txBody>
      </p:sp>
      <p:sp>
        <p:nvSpPr>
          <p:cNvPr id="25" name="Rounded Rectangle 24"/>
          <p:cNvSpPr/>
          <p:nvPr/>
        </p:nvSpPr>
        <p:spPr>
          <a:xfrm>
            <a:off x="8119872" y="7018020"/>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Stapimex (Sóc Trăng)</a:t>
            </a:r>
          </a:p>
          <a:p>
            <a:pPr algn="l"/>
            <a:r>
              <a:rPr sz="1150" b="0" i="0">
                <a:solidFill>
                  <a:srgbClr val="595959"/>
                </a:solidFill>
                <a:latin typeface="Calibri"/>
              </a:rPr>
              <a:t>Shrimp</a:t>
            </a:r>
          </a:p>
        </p:txBody>
      </p:sp>
      <p:sp>
        <p:nvSpPr>
          <p:cNvPr id="26" name="Rounded Rectangle 25"/>
          <p:cNvSpPr/>
          <p:nvPr/>
        </p:nvSpPr>
        <p:spPr>
          <a:xfrm>
            <a:off x="8119872" y="7708392"/>
            <a:ext cx="3611880" cy="621792"/>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350" b="1" i="0">
                <a:solidFill>
                  <a:srgbClr val="284F3E"/>
                </a:solidFill>
                <a:latin typeface="Calibri"/>
              </a:rPr>
              <a:t>Vĩnh Hoàn (Đồng Tháp)</a:t>
            </a:r>
          </a:p>
          <a:p>
            <a:pPr algn="l"/>
            <a:r>
              <a:rPr sz="1150" b="0" i="0">
                <a:solidFill>
                  <a:srgbClr val="595959"/>
                </a:solidFill>
                <a:latin typeface="Calibri"/>
              </a:rPr>
              <a:t>Pangasius</a:t>
            </a:r>
          </a:p>
        </p:txBody>
      </p:sp>
      <p:sp>
        <p:nvSpPr>
          <p:cNvPr id="27" name="TextBox 26"/>
          <p:cNvSpPr txBox="1"/>
          <p:nvPr/>
        </p:nvSpPr>
        <p:spPr>
          <a:xfrm>
            <a:off x="457200" y="8613648"/>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VASEP 2025; BJC Vietnam experience (customer status, industry practice); company public information. Dark = BJCS customer.</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Seafood Accounts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graphicFrame>
        <p:nvGraphicFramePr>
          <p:cNvPr id="8" name="Table 7"/>
          <p:cNvGraphicFramePr>
            <a:graphicFrameLocks noGrp="1"/>
          </p:cNvGraphicFramePr>
          <p:nvPr/>
        </p:nvGraphicFramePr>
        <p:xfrm>
          <a:off x="457200" y="1188720"/>
          <a:ext cx="11274552" cy="5623560"/>
        </p:xfrm>
        <a:graphic>
          <a:graphicData uri="http://schemas.openxmlformats.org/drawingml/2006/table">
            <a:tbl>
              <a:tblPr firstRow="1">
                <a:tableStyleId>{5C22544A-7EE6-4342-B048-85BDC9FD1C3A}</a:tableStyleId>
              </a:tblPr>
              <a:tblGrid>
                <a:gridCol w="23317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450592">
                  <a:extLst>
                    <a:ext uri="{9D8B030D-6E8A-4147-A177-3AD203B41FA5}">
                      <a16:colId xmlns:a16="http://schemas.microsoft.com/office/drawing/2014/main" val="20004"/>
                    </a:ext>
                  </a:extLst>
                </a:gridCol>
              </a:tblGrid>
              <a:tr h="411480">
                <a:tc>
                  <a:txBody>
                    <a:bodyPr/>
                    <a:lstStyle/>
                    <a:p>
                      <a:r>
                        <a:rPr sz="1400" b="1" i="0">
                          <a:solidFill>
                            <a:srgbClr val="FFFFFF"/>
                          </a:solidFill>
                          <a:latin typeface="Calibri"/>
                        </a:rPr>
                        <a:t>Account</a:t>
                      </a:r>
                    </a:p>
                  </a:txBody>
                  <a:tcPr marL="64008" marR="64008" marT="36576" marB="36576" anchor="ctr">
                    <a:solidFill>
                      <a:srgbClr val="284F3E"/>
                    </a:solidFill>
                  </a:tcPr>
                </a:tc>
                <a:tc>
                  <a:txBody>
                    <a:bodyPr/>
                    <a:lstStyle/>
                    <a:p>
                      <a:r>
                        <a:rPr sz="1400" b="1" i="0">
                          <a:solidFill>
                            <a:srgbClr val="FFFFFF"/>
                          </a:solidFill>
                          <a:latin typeface="Calibri"/>
                        </a:rPr>
                        <a:t>Status</a:t>
                      </a:r>
                    </a:p>
                  </a:txBody>
                  <a:tcPr marL="64008" marR="64008" marT="36576" marB="36576" anchor="ctr">
                    <a:solidFill>
                      <a:srgbClr val="284F3E"/>
                    </a:solidFill>
                  </a:tcPr>
                </a:tc>
                <a:tc>
                  <a:txBody>
                    <a:bodyPr/>
                    <a:lstStyle/>
                    <a:p>
                      <a:r>
                        <a:rPr sz="1400" b="1" i="0">
                          <a:solidFill>
                            <a:srgbClr val="FFFFFF"/>
                          </a:solidFill>
                          <a:latin typeface="Calibri"/>
                        </a:rPr>
                        <a:t>Pain point / need*</a:t>
                      </a:r>
                    </a:p>
                  </a:txBody>
                  <a:tcPr marL="64008" marR="64008" marT="36576" marB="36576" anchor="ctr">
                    <a:solidFill>
                      <a:srgbClr val="284F3E"/>
                    </a:solidFill>
                  </a:tcPr>
                </a:tc>
                <a:tc>
                  <a:txBody>
                    <a:bodyPr/>
                    <a:lstStyle/>
                    <a:p>
                      <a:r>
                        <a:rPr sz="1400" b="1" i="0">
                          <a:solidFill>
                            <a:srgbClr val="FFFFFF"/>
                          </a:solidFill>
                          <a:latin typeface="Calibri"/>
                        </a:rPr>
                        <a:t>HYBIND value*</a:t>
                      </a:r>
                    </a:p>
                  </a:txBody>
                  <a:tcPr marL="64008" marR="64008" marT="36576" marB="36576" anchor="ctr">
                    <a:solidFill>
                      <a:srgbClr val="284F3E"/>
                    </a:solidFill>
                  </a:tcPr>
                </a:tc>
                <a:tc>
                  <a:txBody>
                    <a:bodyPr/>
                    <a:lstStyle/>
                    <a:p>
                      <a:r>
                        <a:rPr sz="1400" b="1" i="0">
                          <a:solidFill>
                            <a:srgbClr val="FFFFFF"/>
                          </a:solidFill>
                          <a:latin typeface="Calibri"/>
                        </a:rPr>
                        <a:t>Key success factor</a:t>
                      </a:r>
                    </a:p>
                  </a:txBody>
                  <a:tcPr marL="64008" marR="64008" marT="36576" marB="36576" anchor="ctr">
                    <a:solidFill>
                      <a:srgbClr val="284F3E"/>
                    </a:solidFill>
                  </a:tcPr>
                </a:tc>
                <a:extLst>
                  <a:ext uri="{0D108BD9-81ED-4DB2-BD59-A6C34878D82A}">
                    <a16:rowId xmlns:a16="http://schemas.microsoft.com/office/drawing/2014/main" val="10000"/>
                  </a:ext>
                </a:extLst>
              </a:tr>
              <a:tr h="868680">
                <a:tc>
                  <a:txBody>
                    <a:bodyPr/>
                    <a:lstStyle/>
                    <a:p>
                      <a:r>
                        <a:rPr sz="1350" b="1" i="0">
                          <a:solidFill>
                            <a:srgbClr val="284F3E"/>
                          </a:solidFill>
                          <a:latin typeface="Calibri"/>
                        </a:rPr>
                        <a:t>Seapimex</a:t>
                      </a:r>
                    </a:p>
                    <a:p>
                      <a:r>
                        <a:rPr sz="1250" b="0" i="0">
                          <a:solidFill>
                            <a:srgbClr val="595959"/>
                          </a:solidFill>
                          <a:latin typeface="Calibri"/>
                        </a:rPr>
                        <a:t>Shrimp</a:t>
                      </a:r>
                    </a:p>
                  </a:txBody>
                  <a:tcPr marL="64008" marR="64008" marT="36576" marB="36576" anchor="ctr">
                    <a:solidFill>
                      <a:srgbClr val="FFFFFF"/>
                    </a:solidFill>
                  </a:tcPr>
                </a:tc>
                <a:tc>
                  <a:txBody>
                    <a:bodyPr/>
                    <a:lstStyle/>
                    <a:p>
                      <a:r>
                        <a:rPr sz="1300" b="1" i="0">
                          <a:solidFill>
                            <a:srgbClr val="FFFFFF"/>
                          </a:solidFill>
                          <a:latin typeface="Calibri"/>
                        </a:rPr>
                        <a:t>BJCS customer</a:t>
                      </a:r>
                    </a:p>
                    <a:p>
                      <a:r>
                        <a:rPr sz="1250" b="0" i="0">
                          <a:solidFill>
                            <a:srgbClr val="BFE3CC"/>
                          </a:solidFill>
                          <a:latin typeface="Calibri"/>
                        </a:rPr>
                        <a:t>South</a:t>
                      </a:r>
                    </a:p>
                  </a:txBody>
                  <a:tcPr marL="64008" marR="64008" marT="36576" marB="36576" anchor="ctr">
                    <a:solidFill>
                      <a:srgbClr val="284F3E"/>
                    </a:solidFill>
                  </a:tcPr>
                </a:tc>
                <a:tc>
                  <a:txBody>
                    <a:bodyPr/>
                    <a:lstStyle/>
                    <a:p>
                      <a:r>
                        <a:rPr sz="1300" b="0" i="0">
                          <a:solidFill>
                            <a:srgbClr val="262626"/>
                          </a:solidFill>
                          <a:latin typeface="Calibri"/>
                        </a:rPr>
                        <a:t>Buyer non-phosphate (NP) specs; yield loss when phosphate is removed</a:t>
                      </a:r>
                    </a:p>
                  </a:txBody>
                  <a:tcPr marL="64008" marR="64008" marT="36576" marB="36576" anchor="ctr">
                    <a:solidFill>
                      <a:srgbClr val="FFFFFF"/>
                    </a:solidFill>
                  </a:tcPr>
                </a:tc>
                <a:tc>
                  <a:txBody>
                    <a:bodyPr/>
                    <a:lstStyle/>
                    <a:p>
                      <a:r>
                        <a:rPr sz="1300" b="0" i="0">
                          <a:solidFill>
                            <a:srgbClr val="262626"/>
                          </a:solidFill>
                          <a:latin typeface="Calibri"/>
                        </a:rPr>
                        <a:t>Non-phosphate yield &amp; texture support</a:t>
                      </a:r>
                    </a:p>
                  </a:txBody>
                  <a:tcPr marL="64008" marR="64008" marT="36576" marB="36576" anchor="ctr">
                    <a:solidFill>
                      <a:srgbClr val="FFFFFF"/>
                    </a:solidFill>
                  </a:tcPr>
                </a:tc>
                <a:tc>
                  <a:txBody>
                    <a:bodyPr/>
                    <a:lstStyle/>
                    <a:p>
                      <a:r>
                        <a:rPr sz="1300" b="0" i="0">
                          <a:solidFill>
                            <a:srgbClr val="262626"/>
                          </a:solidFill>
                          <a:latin typeface="Calibri"/>
                        </a:rPr>
                        <a:t>Shrimp soaking trials; buyer approval</a:t>
                      </a:r>
                    </a:p>
                  </a:txBody>
                  <a:tcPr marL="64008" marR="64008" marT="36576" marB="36576" anchor="ctr">
                    <a:solidFill>
                      <a:srgbClr val="FFFFFF"/>
                    </a:solidFill>
                  </a:tcPr>
                </a:tc>
                <a:extLst>
                  <a:ext uri="{0D108BD9-81ED-4DB2-BD59-A6C34878D82A}">
                    <a16:rowId xmlns:a16="http://schemas.microsoft.com/office/drawing/2014/main" val="10001"/>
                  </a:ext>
                </a:extLst>
              </a:tr>
              <a:tr h="868680">
                <a:tc>
                  <a:txBody>
                    <a:bodyPr/>
                    <a:lstStyle/>
                    <a:p>
                      <a:r>
                        <a:rPr sz="1350" b="1" i="0">
                          <a:solidFill>
                            <a:srgbClr val="284F3E"/>
                          </a:solidFill>
                          <a:latin typeface="Calibri"/>
                        </a:rPr>
                        <a:t>Navico</a:t>
                      </a:r>
                    </a:p>
                    <a:p>
                      <a:r>
                        <a:rPr sz="1250" b="0" i="0">
                          <a:solidFill>
                            <a:srgbClr val="595959"/>
                          </a:solidFill>
                          <a:latin typeface="Calibri"/>
                        </a:rPr>
                        <a:t>Pangasius (An Giang)</a:t>
                      </a:r>
                    </a:p>
                  </a:txBody>
                  <a:tcPr marL="64008" marR="64008" marT="36576" marB="36576" anchor="ctr">
                    <a:solidFill>
                      <a:srgbClr val="F3F3F3"/>
                    </a:solidFill>
                  </a:tcPr>
                </a:tc>
                <a:tc>
                  <a:txBody>
                    <a:bodyPr/>
                    <a:lstStyle/>
                    <a:p>
                      <a:r>
                        <a:rPr sz="1300" b="1" i="0">
                          <a:solidFill>
                            <a:srgbClr val="FFFFFF"/>
                          </a:solidFill>
                          <a:latin typeface="Calibri"/>
                        </a:rPr>
                        <a:t>BJCS customer</a:t>
                      </a:r>
                    </a:p>
                    <a:p>
                      <a:r>
                        <a:rPr sz="1250" b="0" i="0">
                          <a:solidFill>
                            <a:srgbClr val="BFE3CC"/>
                          </a:solidFill>
                          <a:latin typeface="Calibri"/>
                        </a:rPr>
                        <a:t>South</a:t>
                      </a:r>
                    </a:p>
                  </a:txBody>
                  <a:tcPr marL="64008" marR="64008" marT="36576" marB="36576" anchor="ctr">
                    <a:solidFill>
                      <a:srgbClr val="284F3E"/>
                    </a:solidFill>
                  </a:tcPr>
                </a:tc>
                <a:tc>
                  <a:txBody>
                    <a:bodyPr/>
                    <a:lstStyle/>
                    <a:p>
                      <a:r>
                        <a:rPr sz="1300" b="0" i="0">
                          <a:solidFill>
                            <a:srgbClr val="262626"/>
                          </a:solidFill>
                          <a:latin typeface="Calibri"/>
                        </a:rPr>
                        <a:t>Fillet yield vs. buyer specs on added water &amp; phosphate</a:t>
                      </a:r>
                    </a:p>
                  </a:txBody>
                  <a:tcPr marL="64008" marR="64008" marT="36576" marB="36576" anchor="ctr">
                    <a:solidFill>
                      <a:srgbClr val="F3F3F3"/>
                    </a:solidFill>
                  </a:tcPr>
                </a:tc>
                <a:tc>
                  <a:txBody>
                    <a:bodyPr/>
                    <a:lstStyle/>
                    <a:p>
                      <a:r>
                        <a:rPr sz="1300" b="0" i="0">
                          <a:solidFill>
                            <a:srgbClr val="262626"/>
                          </a:solidFill>
                          <a:latin typeface="Calibri"/>
                        </a:rPr>
                        <a:t>Clean-label yield option for fillets</a:t>
                      </a:r>
                    </a:p>
                  </a:txBody>
                  <a:tcPr marL="64008" marR="64008" marT="36576" marB="36576" anchor="ctr">
                    <a:solidFill>
                      <a:srgbClr val="F3F3F3"/>
                    </a:solidFill>
                  </a:tcPr>
                </a:tc>
                <a:tc>
                  <a:txBody>
                    <a:bodyPr/>
                    <a:lstStyle/>
                    <a:p>
                      <a:r>
                        <a:rPr sz="1300" b="0" i="0">
                          <a:solidFill>
                            <a:srgbClr val="262626"/>
                          </a:solidFill>
                          <a:latin typeface="Calibri"/>
                        </a:rPr>
                        <a:t>Trial on one fillet line; existing relationship</a:t>
                      </a:r>
                    </a:p>
                  </a:txBody>
                  <a:tcPr marL="64008" marR="64008" marT="36576" marB="36576" anchor="ctr">
                    <a:solidFill>
                      <a:srgbClr val="F3F3F3"/>
                    </a:solidFill>
                  </a:tcPr>
                </a:tc>
                <a:extLst>
                  <a:ext uri="{0D108BD9-81ED-4DB2-BD59-A6C34878D82A}">
                    <a16:rowId xmlns:a16="http://schemas.microsoft.com/office/drawing/2014/main" val="10002"/>
                  </a:ext>
                </a:extLst>
              </a:tr>
              <a:tr h="868680">
                <a:tc>
                  <a:txBody>
                    <a:bodyPr/>
                    <a:lstStyle/>
                    <a:p>
                      <a:r>
                        <a:rPr sz="1350" b="1" i="0">
                          <a:solidFill>
                            <a:srgbClr val="284F3E"/>
                          </a:solidFill>
                          <a:latin typeface="Calibri"/>
                        </a:rPr>
                        <a:t>LC Foods</a:t>
                      </a:r>
                    </a:p>
                    <a:p>
                      <a:r>
                        <a:rPr sz="1250" b="0" i="0">
                          <a:solidFill>
                            <a:srgbClr val="595959"/>
                          </a:solidFill>
                          <a:latin typeface="Calibri"/>
                        </a:rPr>
                        <a:t>Pangasius, value-added items</a:t>
                      </a:r>
                    </a:p>
                  </a:txBody>
                  <a:tcPr marL="64008" marR="64008" marT="36576" marB="36576" anchor="ctr">
                    <a:solidFill>
                      <a:srgbClr val="FFFFFF"/>
                    </a:solidFill>
                  </a:tcPr>
                </a:tc>
                <a:tc>
                  <a:txBody>
                    <a:bodyPr/>
                    <a:lstStyle/>
                    <a:p>
                      <a:r>
                        <a:rPr sz="1300" b="1" i="0">
                          <a:solidFill>
                            <a:srgbClr val="FFFFFF"/>
                          </a:solidFill>
                          <a:latin typeface="Calibri"/>
                        </a:rPr>
                        <a:t>BJCS customer</a:t>
                      </a:r>
                    </a:p>
                    <a:p>
                      <a:r>
                        <a:rPr sz="1250" b="0" i="0">
                          <a:solidFill>
                            <a:srgbClr val="BFE3CC"/>
                          </a:solidFill>
                          <a:latin typeface="Calibri"/>
                        </a:rPr>
                        <a:t>South</a:t>
                      </a:r>
                    </a:p>
                  </a:txBody>
                  <a:tcPr marL="64008" marR="64008" marT="36576" marB="36576" anchor="ctr">
                    <a:solidFill>
                      <a:srgbClr val="284F3E"/>
                    </a:solidFill>
                  </a:tcPr>
                </a:tc>
                <a:tc>
                  <a:txBody>
                    <a:bodyPr/>
                    <a:lstStyle/>
                    <a:p>
                      <a:r>
                        <a:rPr sz="1300" b="0" i="0">
                          <a:solidFill>
                            <a:srgbClr val="262626"/>
                          </a:solidFill>
                          <a:latin typeface="Calibri"/>
                        </a:rPr>
                        <a:t>Yield economics vs. demand for 'untreated' fillets</a:t>
                      </a:r>
                    </a:p>
                  </a:txBody>
                  <a:tcPr marL="64008" marR="64008" marT="36576" marB="36576" anchor="ctr">
                    <a:solidFill>
                      <a:srgbClr val="FFFFFF"/>
                    </a:solidFill>
                  </a:tcPr>
                </a:tc>
                <a:tc>
                  <a:txBody>
                    <a:bodyPr/>
                    <a:lstStyle/>
                    <a:p>
                      <a:r>
                        <a:rPr sz="1300" b="0" i="0">
                          <a:solidFill>
                            <a:srgbClr val="262626"/>
                          </a:solidFill>
                          <a:latin typeface="Calibri"/>
                        </a:rPr>
                        <a:t>Clean-label yield for fillets &amp; breaded items</a:t>
                      </a:r>
                    </a:p>
                  </a:txBody>
                  <a:tcPr marL="64008" marR="64008" marT="36576" marB="36576" anchor="ctr">
                    <a:solidFill>
                      <a:srgbClr val="FFFFFF"/>
                    </a:solidFill>
                  </a:tcPr>
                </a:tc>
                <a:tc>
                  <a:txBody>
                    <a:bodyPr/>
                    <a:lstStyle/>
                    <a:p>
                      <a:r>
                        <a:rPr sz="1300" b="0" i="0">
                          <a:solidFill>
                            <a:srgbClr val="262626"/>
                          </a:solidFill>
                          <a:latin typeface="Calibri"/>
                        </a:rPr>
                        <a:t>Trials on fillets &amp; breaded items</a:t>
                      </a:r>
                    </a:p>
                  </a:txBody>
                  <a:tcPr marL="64008" marR="64008" marT="36576" marB="36576" anchor="ctr">
                    <a:solidFill>
                      <a:srgbClr val="FFFFFF"/>
                    </a:solidFill>
                  </a:tcPr>
                </a:tc>
                <a:extLst>
                  <a:ext uri="{0D108BD9-81ED-4DB2-BD59-A6C34878D82A}">
                    <a16:rowId xmlns:a16="http://schemas.microsoft.com/office/drawing/2014/main" val="10003"/>
                  </a:ext>
                </a:extLst>
              </a:tr>
              <a:tr h="868680">
                <a:tc>
                  <a:txBody>
                    <a:bodyPr/>
                    <a:lstStyle/>
                    <a:p>
                      <a:r>
                        <a:rPr sz="1350" b="1" i="0">
                          <a:solidFill>
                            <a:srgbClr val="284F3E"/>
                          </a:solidFill>
                          <a:latin typeface="Calibri"/>
                        </a:rPr>
                        <a:t>Minh Phú</a:t>
                      </a:r>
                    </a:p>
                    <a:p>
                      <a:r>
                        <a:rPr sz="1250" b="0" i="0">
                          <a:solidFill>
                            <a:srgbClr val="595959"/>
                          </a:solidFill>
                          <a:latin typeface="Calibri"/>
                        </a:rPr>
                        <a:t>Shrimp</a:t>
                      </a:r>
                    </a:p>
                  </a:txBody>
                  <a:tcPr marL="64008" marR="64008" marT="36576" marB="36576" anchor="ctr">
                    <a:solidFill>
                      <a:srgbClr val="F3F3F3"/>
                    </a:solidFill>
                  </a:tcPr>
                </a:tc>
                <a:tc>
                  <a:txBody>
                    <a:bodyPr/>
                    <a:lstStyle/>
                    <a:p>
                      <a:r>
                        <a:rPr sz="1350" b="1" i="0">
                          <a:solidFill>
                            <a:srgbClr val="284F3E"/>
                          </a:solidFill>
                          <a:latin typeface="Calibri"/>
                        </a:rPr>
                        <a:t>Potential</a:t>
                      </a:r>
                    </a:p>
                    <a:p>
                      <a:r>
                        <a:rPr sz="1250" b="0" i="0">
                          <a:solidFill>
                            <a:srgbClr val="595959"/>
                          </a:solidFill>
                          <a:latin typeface="Calibri"/>
                        </a:rPr>
                        <a:t>South</a:t>
                      </a:r>
                    </a:p>
                  </a:txBody>
                  <a:tcPr marL="64008" marR="64008" marT="36576" marB="36576" anchor="ctr">
                    <a:solidFill>
                      <a:srgbClr val="F3F3F3"/>
                    </a:solidFill>
                  </a:tcPr>
                </a:tc>
                <a:tc>
                  <a:txBody>
                    <a:bodyPr/>
                    <a:lstStyle/>
                    <a:p>
                      <a:r>
                        <a:rPr sz="1300" b="0" i="0">
                          <a:solidFill>
                            <a:srgbClr val="262626"/>
                          </a:solidFill>
                          <a:latin typeface="Calibri"/>
                        </a:rPr>
                        <a:t>Premium Japan / US programs with tight additive specs</a:t>
                      </a:r>
                    </a:p>
                  </a:txBody>
                  <a:tcPr marL="64008" marR="64008" marT="36576" marB="36576" anchor="ctr">
                    <a:solidFill>
                      <a:srgbClr val="F3F3F3"/>
                    </a:solidFill>
                  </a:tcPr>
                </a:tc>
                <a:tc>
                  <a:txBody>
                    <a:bodyPr/>
                    <a:lstStyle/>
                    <a:p>
                      <a:r>
                        <a:rPr sz="1300" b="0" i="0">
                          <a:solidFill>
                            <a:srgbClr val="262626"/>
                          </a:solidFill>
                          <a:latin typeface="Calibri"/>
                        </a:rPr>
                        <a:t>Clean-label, non-phosphate positioning</a:t>
                      </a:r>
                    </a:p>
                  </a:txBody>
                  <a:tcPr marL="64008" marR="64008" marT="36576" marB="36576" anchor="ctr">
                    <a:solidFill>
                      <a:srgbClr val="F3F3F3"/>
                    </a:solidFill>
                  </a:tcPr>
                </a:tc>
                <a:tc>
                  <a:txBody>
                    <a:bodyPr/>
                    <a:lstStyle/>
                    <a:p>
                      <a:r>
                        <a:rPr sz="1300" b="0" i="0">
                          <a:solidFill>
                            <a:srgbClr val="262626"/>
                          </a:solidFill>
                          <a:latin typeface="Calibri"/>
                        </a:rPr>
                        <a:t>CJ global data; pilot on one program</a:t>
                      </a:r>
                    </a:p>
                  </a:txBody>
                  <a:tcPr marL="64008" marR="64008" marT="36576" marB="36576" anchor="ctr">
                    <a:solidFill>
                      <a:srgbClr val="F3F3F3"/>
                    </a:solidFill>
                  </a:tcPr>
                </a:tc>
                <a:extLst>
                  <a:ext uri="{0D108BD9-81ED-4DB2-BD59-A6C34878D82A}">
                    <a16:rowId xmlns:a16="http://schemas.microsoft.com/office/drawing/2014/main" val="10004"/>
                  </a:ext>
                </a:extLst>
              </a:tr>
              <a:tr h="868680">
                <a:tc>
                  <a:txBody>
                    <a:bodyPr/>
                    <a:lstStyle/>
                    <a:p>
                      <a:r>
                        <a:rPr sz="1350" b="1" i="0">
                          <a:solidFill>
                            <a:srgbClr val="284F3E"/>
                          </a:solidFill>
                          <a:latin typeface="Calibri"/>
                        </a:rPr>
                        <a:t>Vĩnh Hoàn</a:t>
                      </a:r>
                    </a:p>
                    <a:p>
                      <a:r>
                        <a:rPr sz="1250" b="0" i="0">
                          <a:solidFill>
                            <a:srgbClr val="595959"/>
                          </a:solidFill>
                          <a:latin typeface="Calibri"/>
                        </a:rPr>
                        <a:t>Pangasius</a:t>
                      </a:r>
                    </a:p>
                  </a:txBody>
                  <a:tcPr marL="64008" marR="64008" marT="36576" marB="36576" anchor="ctr">
                    <a:solidFill>
                      <a:srgbClr val="FFFFFF"/>
                    </a:solidFill>
                  </a:tcPr>
                </a:tc>
                <a:tc>
                  <a:txBody>
                    <a:bodyPr/>
                    <a:lstStyle/>
                    <a:p>
                      <a:r>
                        <a:rPr sz="1350" b="1" i="0">
                          <a:solidFill>
                            <a:srgbClr val="284F3E"/>
                          </a:solidFill>
                          <a:latin typeface="Calibri"/>
                        </a:rPr>
                        <a:t>Potential</a:t>
                      </a:r>
                    </a:p>
                    <a:p>
                      <a:r>
                        <a:rPr sz="1250" b="0" i="0">
                          <a:solidFill>
                            <a:srgbClr val="595959"/>
                          </a:solidFill>
                          <a:latin typeface="Calibri"/>
                        </a:rPr>
                        <a:t>South</a:t>
                      </a:r>
                    </a:p>
                  </a:txBody>
                  <a:tcPr marL="64008" marR="64008" marT="36576" marB="36576" anchor="ctr">
                    <a:solidFill>
                      <a:srgbClr val="FFFFFF"/>
                    </a:solidFill>
                  </a:tcPr>
                </a:tc>
                <a:tc>
                  <a:txBody>
                    <a:bodyPr/>
                    <a:lstStyle/>
                    <a:p>
                      <a:r>
                        <a:rPr sz="1300" b="0" i="0">
                          <a:solidFill>
                            <a:srgbClr val="262626"/>
                          </a:solidFill>
                          <a:latin typeface="Calibri"/>
                        </a:rPr>
                        <a:t>Premium 'untreated' fillet positioning</a:t>
                      </a:r>
                    </a:p>
                  </a:txBody>
                  <a:tcPr marL="64008" marR="64008" marT="36576" marB="36576" anchor="ctr">
                    <a:solidFill>
                      <a:srgbClr val="FFFFFF"/>
                    </a:solidFill>
                  </a:tcPr>
                </a:tc>
                <a:tc>
                  <a:txBody>
                    <a:bodyPr/>
                    <a:lstStyle/>
                    <a:p>
                      <a:r>
                        <a:rPr sz="1300" b="0" i="0">
                          <a:solidFill>
                            <a:srgbClr val="262626"/>
                          </a:solidFill>
                          <a:latin typeface="Calibri"/>
                        </a:rPr>
                        <a:t>Supports yield without added phosphate</a:t>
                      </a:r>
                    </a:p>
                  </a:txBody>
                  <a:tcPr marL="64008" marR="64008" marT="36576" marB="36576" anchor="ctr">
                    <a:solidFill>
                      <a:srgbClr val="FFFFFF"/>
                    </a:solidFill>
                  </a:tcPr>
                </a:tc>
                <a:tc>
                  <a:txBody>
                    <a:bodyPr/>
                    <a:lstStyle/>
                    <a:p>
                      <a:r>
                        <a:rPr sz="1300" b="0" i="0">
                          <a:solidFill>
                            <a:srgbClr val="262626"/>
                          </a:solidFill>
                          <a:latin typeface="Calibri"/>
                        </a:rPr>
                        <a:t>Joint validation with CJ R&amp;D</a:t>
                      </a:r>
                    </a:p>
                  </a:txBody>
                  <a:tcPr marL="64008" marR="64008" marT="36576" marB="36576" anchor="ctr">
                    <a:solidFill>
                      <a:srgbClr val="FFFFFF"/>
                    </a:solidFill>
                  </a:tcPr>
                </a:tc>
                <a:extLst>
                  <a:ext uri="{0D108BD9-81ED-4DB2-BD59-A6C34878D82A}">
                    <a16:rowId xmlns:a16="http://schemas.microsoft.com/office/drawing/2014/main" val="10005"/>
                  </a:ext>
                </a:extLst>
              </a:tr>
              <a:tr h="868680">
                <a:tc>
                  <a:txBody>
                    <a:bodyPr/>
                    <a:lstStyle/>
                    <a:p>
                      <a:r>
                        <a:rPr sz="1350" b="1" i="0">
                          <a:solidFill>
                            <a:srgbClr val="284F3E"/>
                          </a:solidFill>
                          <a:latin typeface="Calibri"/>
                        </a:rPr>
                        <a:t>Thuận Phước · Thọ Quang</a:t>
                      </a:r>
                    </a:p>
                    <a:p>
                      <a:r>
                        <a:rPr sz="1250" b="0" i="0">
                          <a:solidFill>
                            <a:srgbClr val="595959"/>
                          </a:solidFill>
                          <a:latin typeface="Calibri"/>
                        </a:rPr>
                        <a:t>Shrimp, squid, octopus</a:t>
                      </a:r>
                    </a:p>
                  </a:txBody>
                  <a:tcPr marL="64008" marR="64008" marT="36576" marB="36576" anchor="ctr">
                    <a:solidFill>
                      <a:srgbClr val="F3F3F3"/>
                    </a:solidFill>
                  </a:tcPr>
                </a:tc>
                <a:tc>
                  <a:txBody>
                    <a:bodyPr/>
                    <a:lstStyle/>
                    <a:p>
                      <a:r>
                        <a:rPr sz="1350" b="1" i="0">
                          <a:solidFill>
                            <a:srgbClr val="284F3E"/>
                          </a:solidFill>
                          <a:latin typeface="Calibri"/>
                        </a:rPr>
                        <a:t>Potential</a:t>
                      </a:r>
                    </a:p>
                    <a:p>
                      <a:r>
                        <a:rPr sz="1250" b="0" i="0">
                          <a:solidFill>
                            <a:srgbClr val="595959"/>
                          </a:solidFill>
                          <a:latin typeface="Calibri"/>
                        </a:rPr>
                        <a:t>Central</a:t>
                      </a:r>
                    </a:p>
                  </a:txBody>
                  <a:tcPr marL="64008" marR="64008" marT="36576" marB="36576" anchor="ctr">
                    <a:solidFill>
                      <a:srgbClr val="F3F3F3"/>
                    </a:solidFill>
                  </a:tcPr>
                </a:tc>
                <a:tc>
                  <a:txBody>
                    <a:bodyPr/>
                    <a:lstStyle/>
                    <a:p>
                      <a:r>
                        <a:rPr sz="1300" b="0" i="0">
                          <a:solidFill>
                            <a:srgbClr val="262626"/>
                          </a:solidFill>
                          <a:latin typeface="Calibri"/>
                        </a:rPr>
                        <a:t>NP soaking required by Japan / Korea buyers</a:t>
                      </a:r>
                    </a:p>
                  </a:txBody>
                  <a:tcPr marL="64008" marR="64008" marT="36576" marB="36576" anchor="ctr">
                    <a:solidFill>
                      <a:srgbClr val="F3F3F3"/>
                    </a:solidFill>
                  </a:tcPr>
                </a:tc>
                <a:tc>
                  <a:txBody>
                    <a:bodyPr/>
                    <a:lstStyle/>
                    <a:p>
                      <a:r>
                        <a:rPr sz="1300" b="0" i="0">
                          <a:solidFill>
                            <a:srgbClr val="262626"/>
                          </a:solidFill>
                          <a:latin typeface="Calibri"/>
                        </a:rPr>
                        <a:t>Alternative to current NP soaking agents</a:t>
                      </a:r>
                    </a:p>
                  </a:txBody>
                  <a:tcPr marL="64008" marR="64008" marT="36576" marB="36576" anchor="ctr">
                    <a:solidFill>
                      <a:srgbClr val="F3F3F3"/>
                    </a:solidFill>
                  </a:tcPr>
                </a:tc>
                <a:tc>
                  <a:txBody>
                    <a:bodyPr/>
                    <a:lstStyle/>
                    <a:p>
                      <a:r>
                        <a:rPr sz="1300" b="0" i="0">
                          <a:solidFill>
                            <a:srgbClr val="262626"/>
                          </a:solidFill>
                          <a:latin typeface="Calibri"/>
                        </a:rPr>
                        <a:t>Lab trials; cost-in-use</a:t>
                      </a:r>
                    </a:p>
                  </a:txBody>
                  <a:tcPr marL="64008" marR="64008" marT="36576" marB="36576" anchor="ctr">
                    <a:solidFill>
                      <a:srgbClr val="F3F3F3"/>
                    </a:solidFill>
                  </a:tcPr>
                </a:tc>
                <a:extLst>
                  <a:ext uri="{0D108BD9-81ED-4DB2-BD59-A6C34878D82A}">
                    <a16:rowId xmlns:a16="http://schemas.microsoft.com/office/drawing/2014/main" val="10006"/>
                  </a:ext>
                </a:extLst>
              </a:tr>
            </a:tbl>
          </a:graphicData>
        </a:graphic>
      </p:graphicFrame>
      <p:sp>
        <p:nvSpPr>
          <p:cNvPr id="9" name="Rounded Rectangle 8"/>
          <p:cNvSpPr/>
          <p:nvPr/>
        </p:nvSpPr>
        <p:spPr>
          <a:xfrm>
            <a:off x="457200" y="7086600"/>
            <a:ext cx="3611880" cy="1234440"/>
          </a:xfrm>
          <a:prstGeom prst="roundRect">
            <a:avLst>
              <a:gd name="adj" fmla="val 8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1  Validate with CJ R&amp;D</a:t>
            </a:r>
          </a:p>
          <a:p>
            <a:pPr algn="ctr"/>
            <a:r>
              <a:rPr sz="1400" b="0" i="0">
                <a:solidFill>
                  <a:srgbClr val="BFE3CC"/>
                </a:solidFill>
                <a:latin typeface="Calibri"/>
              </a:rPr>
              <a:t>Confirm seafood performance &amp; dosage</a:t>
            </a:r>
          </a:p>
        </p:txBody>
      </p:sp>
      <p:sp>
        <p:nvSpPr>
          <p:cNvPr id="10" name="Rounded Rectangle 9"/>
          <p:cNvSpPr/>
          <p:nvPr/>
        </p:nvSpPr>
        <p:spPr>
          <a:xfrm>
            <a:off x="4288536" y="7086600"/>
            <a:ext cx="3611880" cy="1234440"/>
          </a:xfrm>
          <a:prstGeom prst="roundRect">
            <a:avLst>
              <a:gd name="adj" fmla="val 8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2  Pilot with BJCS customers</a:t>
            </a:r>
          </a:p>
          <a:p>
            <a:pPr algn="ctr"/>
            <a:r>
              <a:rPr sz="1400" b="0" i="0">
                <a:solidFill>
                  <a:srgbClr val="FFFFFF"/>
                </a:solidFill>
                <a:latin typeface="Calibri"/>
              </a:rPr>
              <a:t>Seapimex, Navico &amp; LC Foods</a:t>
            </a:r>
          </a:p>
        </p:txBody>
      </p:sp>
      <p:sp>
        <p:nvSpPr>
          <p:cNvPr id="11" name="Rounded Rectangle 10"/>
          <p:cNvSpPr/>
          <p:nvPr/>
        </p:nvSpPr>
        <p:spPr>
          <a:xfrm>
            <a:off x="8119872" y="7086600"/>
            <a:ext cx="3611880" cy="1234440"/>
          </a:xfrm>
          <a:prstGeom prst="roundRect">
            <a:avLst>
              <a:gd name="adj" fmla="val 8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284F3E"/>
                </a:solidFill>
                <a:latin typeface="Calibri"/>
              </a:rPr>
              <a:t>3  Extend to export leaders</a:t>
            </a:r>
          </a:p>
          <a:p>
            <a:pPr algn="ctr"/>
            <a:r>
              <a:rPr sz="1400" b="0" i="0">
                <a:solidFill>
                  <a:srgbClr val="262626"/>
                </a:solidFill>
                <a:latin typeface="Calibri"/>
              </a:rPr>
              <a:t>Minh Phú, Vĩnh Hoàn, Sao Ta, Central exporters</a:t>
            </a:r>
          </a:p>
        </p:txBody>
      </p:sp>
      <p:sp>
        <p:nvSpPr>
          <p:cNvPr id="12" name="TextBox 11"/>
          <p:cNvSpPr txBox="1"/>
          <p:nvPr/>
        </p:nvSpPr>
        <p:spPr>
          <a:xfrm>
            <a:off x="457200" y="8613648"/>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&amp; company public information – to be validated; seafood performance to be confirmed with CJ BIO.</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FGAA – Segment &amp; Region Map</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9052560" y="1097280"/>
            <a:ext cx="1417320" cy="274320"/>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FFFFFF"/>
                </a:solidFill>
                <a:latin typeface="Calibri"/>
              </a:rPr>
              <a:t>BJCS customer</a:t>
            </a:r>
          </a:p>
        </p:txBody>
      </p:sp>
      <p:sp>
        <p:nvSpPr>
          <p:cNvPr id="9" name="Rounded Rectangle 8"/>
          <p:cNvSpPr/>
          <p:nvPr/>
        </p:nvSpPr>
        <p:spPr>
          <a:xfrm>
            <a:off x="10561320" y="1097280"/>
            <a:ext cx="1143000" cy="274320"/>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000" b="1" i="0">
                <a:solidFill>
                  <a:srgbClr val="284F3E"/>
                </a:solidFill>
                <a:latin typeface="Calibri"/>
              </a:rPr>
              <a:t>Potential</a:t>
            </a:r>
          </a:p>
        </p:txBody>
      </p:sp>
      <p:sp>
        <p:nvSpPr>
          <p:cNvPr id="10" name="Rounded Rectangle 9"/>
          <p:cNvSpPr/>
          <p:nvPr/>
        </p:nvSpPr>
        <p:spPr>
          <a:xfrm>
            <a:off x="457200" y="1481328"/>
            <a:ext cx="2697480" cy="457200"/>
          </a:xfrm>
          <a:prstGeom prst="roundRect">
            <a:avLst>
              <a:gd name="adj" fmla="val 12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Calibri"/>
              </a:rPr>
              <a:t>Segment &amp; product</a:t>
            </a:r>
          </a:p>
        </p:txBody>
      </p:sp>
      <p:sp>
        <p:nvSpPr>
          <p:cNvPr id="11" name="Rounded Rectangle 10"/>
          <p:cNvSpPr/>
          <p:nvPr/>
        </p:nvSpPr>
        <p:spPr>
          <a:xfrm>
            <a:off x="3291840" y="1481328"/>
            <a:ext cx="2697480" cy="457200"/>
          </a:xfrm>
          <a:prstGeom prst="roundRect">
            <a:avLst>
              <a:gd name="adj" fmla="val 12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Calibri"/>
              </a:rPr>
              <a:t>NORTH</a:t>
            </a:r>
          </a:p>
        </p:txBody>
      </p:sp>
      <p:sp>
        <p:nvSpPr>
          <p:cNvPr id="12" name="Rounded Rectangle 11"/>
          <p:cNvSpPr/>
          <p:nvPr/>
        </p:nvSpPr>
        <p:spPr>
          <a:xfrm>
            <a:off x="6126480" y="1481328"/>
            <a:ext cx="2697480" cy="457200"/>
          </a:xfrm>
          <a:prstGeom prst="roundRect">
            <a:avLst>
              <a:gd name="adj" fmla="val 12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Calibri"/>
              </a:rPr>
              <a:t>CENTRAL</a:t>
            </a:r>
          </a:p>
        </p:txBody>
      </p:sp>
      <p:sp>
        <p:nvSpPr>
          <p:cNvPr id="13" name="Rounded Rectangle 12"/>
          <p:cNvSpPr/>
          <p:nvPr/>
        </p:nvSpPr>
        <p:spPr>
          <a:xfrm>
            <a:off x="8961120" y="1481328"/>
            <a:ext cx="2770632" cy="457200"/>
          </a:xfrm>
          <a:prstGeom prst="roundRect">
            <a:avLst>
              <a:gd name="adj" fmla="val 12000"/>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FFFFFF"/>
                </a:solidFill>
                <a:latin typeface="Calibri"/>
              </a:rPr>
              <a:t>SOUTH</a:t>
            </a:r>
          </a:p>
        </p:txBody>
      </p:sp>
      <p:sp>
        <p:nvSpPr>
          <p:cNvPr id="14" name="Rounded Rectangle 13"/>
          <p:cNvSpPr/>
          <p:nvPr/>
        </p:nvSpPr>
        <p:spPr>
          <a:xfrm>
            <a:off x="457200" y="2057400"/>
            <a:ext cx="2697480" cy="15087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566928" y="2194560"/>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pills_w.png"/>
          <p:cNvPicPr>
            <a:picLocks noChangeAspect="1"/>
          </p:cNvPicPr>
          <p:nvPr/>
        </p:nvPicPr>
        <p:blipFill>
          <a:blip r:embed="rId7"/>
          <a:stretch>
            <a:fillRect/>
          </a:stretch>
        </p:blipFill>
        <p:spPr>
          <a:xfrm>
            <a:off x="702990" y="2330622"/>
            <a:ext cx="294802" cy="294802"/>
          </a:xfrm>
          <a:prstGeom prst="rect">
            <a:avLst/>
          </a:prstGeom>
        </p:spPr>
      </p:pic>
      <p:sp>
        <p:nvSpPr>
          <p:cNvPr id="17" name="TextBox 16"/>
          <p:cNvSpPr txBox="1"/>
          <p:nvPr/>
        </p:nvSpPr>
        <p:spPr>
          <a:xfrm>
            <a:off x="1207007" y="2130552"/>
            <a:ext cx="1920240" cy="777240"/>
          </a:xfrm>
          <a:prstGeom prst="rect">
            <a:avLst/>
          </a:prstGeom>
          <a:noFill/>
        </p:spPr>
        <p:txBody>
          <a:bodyPr wrap="square" lIns="45720" tIns="27432" rIns="45720" bIns="27432" anchor="ctr"/>
          <a:lstStyle/>
          <a:p>
            <a:pPr algn="l"/>
            <a:r>
              <a:rPr sz="1450" b="1" i="0">
                <a:solidFill>
                  <a:srgbClr val="284F3E"/>
                </a:solidFill>
                <a:latin typeface="Calibri"/>
              </a:rPr>
              <a:t>Health supplements &amp; pharma</a:t>
            </a:r>
          </a:p>
        </p:txBody>
      </p:sp>
      <p:sp>
        <p:nvSpPr>
          <p:cNvPr id="18" name="Rounded Rectangle 17"/>
          <p:cNvSpPr/>
          <p:nvPr/>
        </p:nvSpPr>
        <p:spPr>
          <a:xfrm>
            <a:off x="594360" y="2999232"/>
            <a:ext cx="2423160" cy="384048"/>
          </a:xfrm>
          <a:prstGeom prst="roundRect">
            <a:avLst>
              <a:gd name="adj" fmla="val 20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i="0">
                <a:solidFill>
                  <a:srgbClr val="1E9E57"/>
                </a:solidFill>
                <a:latin typeface="Calibri"/>
              </a:rPr>
              <a:t>Arg · Cit · His</a:t>
            </a:r>
          </a:p>
        </p:txBody>
      </p:sp>
      <p:sp>
        <p:nvSpPr>
          <p:cNvPr id="19" name="Rounded Rectangle 18"/>
          <p:cNvSpPr/>
          <p:nvPr/>
        </p:nvSpPr>
        <p:spPr>
          <a:xfrm>
            <a:off x="3291840" y="2084832"/>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Merap Group</a:t>
            </a:r>
          </a:p>
        </p:txBody>
      </p:sp>
      <p:sp>
        <p:nvSpPr>
          <p:cNvPr id="20" name="Rounded Rectangle 19"/>
          <p:cNvSpPr/>
          <p:nvPr/>
        </p:nvSpPr>
        <p:spPr>
          <a:xfrm>
            <a:off x="3291840" y="2459736"/>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Hoa Linh (Hà Nam)</a:t>
            </a:r>
          </a:p>
        </p:txBody>
      </p:sp>
      <p:sp>
        <p:nvSpPr>
          <p:cNvPr id="21" name="Rounded Rectangle 20"/>
          <p:cNvSpPr/>
          <p:nvPr/>
        </p:nvSpPr>
        <p:spPr>
          <a:xfrm>
            <a:off x="3291840" y="2834640"/>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Traphaco</a:t>
            </a:r>
          </a:p>
        </p:txBody>
      </p:sp>
      <p:sp>
        <p:nvSpPr>
          <p:cNvPr id="22" name="Rounded Rectangle 21"/>
          <p:cNvSpPr/>
          <p:nvPr/>
        </p:nvSpPr>
        <p:spPr>
          <a:xfrm>
            <a:off x="3291840" y="3209544"/>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Nam Dược</a:t>
            </a:r>
          </a:p>
        </p:txBody>
      </p:sp>
      <p:sp>
        <p:nvSpPr>
          <p:cNvPr id="23" name="Rounded Rectangle 22"/>
          <p:cNvSpPr/>
          <p:nvPr/>
        </p:nvSpPr>
        <p:spPr>
          <a:xfrm>
            <a:off x="6126480" y="2272284"/>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Dược–TBYT Đà Nẵng</a:t>
            </a:r>
          </a:p>
        </p:txBody>
      </p:sp>
      <p:sp>
        <p:nvSpPr>
          <p:cNvPr id="24" name="Rounded Rectangle 23"/>
          <p:cNvSpPr/>
          <p:nvPr/>
        </p:nvSpPr>
        <p:spPr>
          <a:xfrm>
            <a:off x="6126480" y="2647188"/>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Danapha (Đà Nẵng)</a:t>
            </a:r>
          </a:p>
        </p:txBody>
      </p:sp>
      <p:sp>
        <p:nvSpPr>
          <p:cNvPr id="25" name="Rounded Rectangle 24"/>
          <p:cNvSpPr/>
          <p:nvPr/>
        </p:nvSpPr>
        <p:spPr>
          <a:xfrm>
            <a:off x="6126480" y="3022092"/>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Bidiphar (Bình Định)</a:t>
            </a:r>
          </a:p>
        </p:txBody>
      </p:sp>
      <p:sp>
        <p:nvSpPr>
          <p:cNvPr id="26" name="Rounded Rectangle 25"/>
          <p:cNvSpPr/>
          <p:nvPr/>
        </p:nvSpPr>
        <p:spPr>
          <a:xfrm>
            <a:off x="8961120" y="2272284"/>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DHG Pharma</a:t>
            </a:r>
          </a:p>
        </p:txBody>
      </p:sp>
      <p:sp>
        <p:nvSpPr>
          <p:cNvPr id="27" name="Rounded Rectangle 26"/>
          <p:cNvSpPr/>
          <p:nvPr/>
        </p:nvSpPr>
        <p:spPr>
          <a:xfrm>
            <a:off x="8961120" y="2647188"/>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Imexpharm</a:t>
            </a:r>
          </a:p>
        </p:txBody>
      </p:sp>
      <p:sp>
        <p:nvSpPr>
          <p:cNvPr id="28" name="Rounded Rectangle 27"/>
          <p:cNvSpPr/>
          <p:nvPr/>
        </p:nvSpPr>
        <p:spPr>
          <a:xfrm>
            <a:off x="8961120" y="3022092"/>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OPC</a:t>
            </a:r>
          </a:p>
        </p:txBody>
      </p:sp>
      <p:sp>
        <p:nvSpPr>
          <p:cNvPr id="29" name="Rounded Rectangle 28"/>
          <p:cNvSpPr/>
          <p:nvPr/>
        </p:nvSpPr>
        <p:spPr>
          <a:xfrm>
            <a:off x="457200" y="3657600"/>
            <a:ext cx="2697480" cy="15087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566928" y="3794760"/>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bolt_w.png"/>
          <p:cNvPicPr>
            <a:picLocks noChangeAspect="1"/>
          </p:cNvPicPr>
          <p:nvPr/>
        </p:nvPicPr>
        <p:blipFill>
          <a:blip r:embed="rId8"/>
          <a:stretch>
            <a:fillRect/>
          </a:stretch>
        </p:blipFill>
        <p:spPr>
          <a:xfrm>
            <a:off x="702990" y="3930822"/>
            <a:ext cx="294802" cy="294802"/>
          </a:xfrm>
          <a:prstGeom prst="rect">
            <a:avLst/>
          </a:prstGeom>
        </p:spPr>
      </p:pic>
      <p:sp>
        <p:nvSpPr>
          <p:cNvPr id="32" name="TextBox 31"/>
          <p:cNvSpPr txBox="1"/>
          <p:nvPr/>
        </p:nvSpPr>
        <p:spPr>
          <a:xfrm>
            <a:off x="1207007" y="3730752"/>
            <a:ext cx="1920240" cy="777240"/>
          </a:xfrm>
          <a:prstGeom prst="rect">
            <a:avLst/>
          </a:prstGeom>
          <a:noFill/>
        </p:spPr>
        <p:txBody>
          <a:bodyPr wrap="square" lIns="45720" tIns="27432" rIns="45720" bIns="27432" anchor="ctr"/>
          <a:lstStyle/>
          <a:p>
            <a:pPr algn="l"/>
            <a:r>
              <a:rPr sz="1450" b="1" i="0">
                <a:solidFill>
                  <a:srgbClr val="284F3E"/>
                </a:solidFill>
                <a:latin typeface="Calibri"/>
              </a:rPr>
              <a:t>Energy &amp; functional drinks</a:t>
            </a:r>
          </a:p>
        </p:txBody>
      </p:sp>
      <p:sp>
        <p:nvSpPr>
          <p:cNvPr id="33" name="Rounded Rectangle 32"/>
          <p:cNvSpPr/>
          <p:nvPr/>
        </p:nvSpPr>
        <p:spPr>
          <a:xfrm>
            <a:off x="594360" y="4599432"/>
            <a:ext cx="2423160" cy="384048"/>
          </a:xfrm>
          <a:prstGeom prst="roundRect">
            <a:avLst>
              <a:gd name="adj" fmla="val 20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i="0">
                <a:solidFill>
                  <a:srgbClr val="1E9E57"/>
                </a:solidFill>
                <a:latin typeface="Calibri"/>
              </a:rPr>
              <a:t>Arg · Cit</a:t>
            </a:r>
          </a:p>
        </p:txBody>
      </p:sp>
      <p:sp>
        <p:nvSpPr>
          <p:cNvPr id="34" name="Rounded Rectangle 33"/>
          <p:cNvSpPr/>
          <p:nvPr/>
        </p:nvSpPr>
        <p:spPr>
          <a:xfrm>
            <a:off x="3291840" y="4059935"/>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Thế Hệ Mới (Phú Thọ)</a:t>
            </a:r>
          </a:p>
        </p:txBody>
      </p:sp>
      <p:sp>
        <p:nvSpPr>
          <p:cNvPr id="35" name="Rounded Rectangle 34"/>
          <p:cNvSpPr/>
          <p:nvPr/>
        </p:nvSpPr>
        <p:spPr>
          <a:xfrm>
            <a:off x="3291840" y="4434840"/>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Tribeco – North</a:t>
            </a:r>
          </a:p>
        </p:txBody>
      </p:sp>
      <p:sp>
        <p:nvSpPr>
          <p:cNvPr id="36" name="Rounded Rectangle 35"/>
          <p:cNvSpPr/>
          <p:nvPr/>
        </p:nvSpPr>
        <p:spPr>
          <a:xfrm>
            <a:off x="6126480" y="4059935"/>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Yến Việt (Khánh Hòa)</a:t>
            </a:r>
          </a:p>
        </p:txBody>
      </p:sp>
      <p:sp>
        <p:nvSpPr>
          <p:cNvPr id="37" name="Rounded Rectangle 36"/>
          <p:cNvSpPr/>
          <p:nvPr/>
        </p:nvSpPr>
        <p:spPr>
          <a:xfrm>
            <a:off x="6126480" y="4434840"/>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Yến sào Khánh Hòa – Sanest</a:t>
            </a:r>
          </a:p>
        </p:txBody>
      </p:sp>
      <p:sp>
        <p:nvSpPr>
          <p:cNvPr id="38" name="Rounded Rectangle 37"/>
          <p:cNvSpPr/>
          <p:nvPr/>
        </p:nvSpPr>
        <p:spPr>
          <a:xfrm>
            <a:off x="8961120" y="3685032"/>
            <a:ext cx="2770632"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Masan – Wake-up 247</a:t>
            </a:r>
          </a:p>
        </p:txBody>
      </p:sp>
      <p:sp>
        <p:nvSpPr>
          <p:cNvPr id="39" name="Rounded Rectangle 38"/>
          <p:cNvSpPr/>
          <p:nvPr/>
        </p:nvSpPr>
        <p:spPr>
          <a:xfrm>
            <a:off x="8961120" y="4059936"/>
            <a:ext cx="2770632"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Tribeco</a:t>
            </a:r>
          </a:p>
        </p:txBody>
      </p:sp>
      <p:sp>
        <p:nvSpPr>
          <p:cNvPr id="40" name="Rounded Rectangle 39"/>
          <p:cNvSpPr/>
          <p:nvPr/>
        </p:nvSpPr>
        <p:spPr>
          <a:xfrm>
            <a:off x="8961120" y="4434840"/>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Tân Hiệp Phát – Number 1</a:t>
            </a:r>
          </a:p>
        </p:txBody>
      </p:sp>
      <p:sp>
        <p:nvSpPr>
          <p:cNvPr id="41" name="Rounded Rectangle 40"/>
          <p:cNvSpPr/>
          <p:nvPr/>
        </p:nvSpPr>
        <p:spPr>
          <a:xfrm>
            <a:off x="8961120" y="4809744"/>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Suntory PepsiCo – Sting</a:t>
            </a:r>
          </a:p>
        </p:txBody>
      </p:sp>
      <p:sp>
        <p:nvSpPr>
          <p:cNvPr id="42" name="Rounded Rectangle 41"/>
          <p:cNvSpPr/>
          <p:nvPr/>
        </p:nvSpPr>
        <p:spPr>
          <a:xfrm>
            <a:off x="457200" y="5257800"/>
            <a:ext cx="2697480" cy="15087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Oval 42"/>
          <p:cNvSpPr/>
          <p:nvPr/>
        </p:nvSpPr>
        <p:spPr>
          <a:xfrm>
            <a:off x="566928" y="5394960"/>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milk_w.png"/>
          <p:cNvPicPr>
            <a:picLocks noChangeAspect="1"/>
          </p:cNvPicPr>
          <p:nvPr/>
        </p:nvPicPr>
        <p:blipFill>
          <a:blip r:embed="rId9"/>
          <a:stretch>
            <a:fillRect/>
          </a:stretch>
        </p:blipFill>
        <p:spPr>
          <a:xfrm>
            <a:off x="702990" y="5531022"/>
            <a:ext cx="294802" cy="294802"/>
          </a:xfrm>
          <a:prstGeom prst="rect">
            <a:avLst/>
          </a:prstGeom>
        </p:spPr>
      </p:pic>
      <p:sp>
        <p:nvSpPr>
          <p:cNvPr id="45" name="TextBox 44"/>
          <p:cNvSpPr txBox="1"/>
          <p:nvPr/>
        </p:nvSpPr>
        <p:spPr>
          <a:xfrm>
            <a:off x="1207007" y="5330952"/>
            <a:ext cx="1920240" cy="777240"/>
          </a:xfrm>
          <a:prstGeom prst="rect">
            <a:avLst/>
          </a:prstGeom>
          <a:noFill/>
        </p:spPr>
        <p:txBody>
          <a:bodyPr wrap="square" lIns="45720" tIns="27432" rIns="45720" bIns="27432" anchor="ctr"/>
          <a:lstStyle/>
          <a:p>
            <a:pPr algn="l"/>
            <a:r>
              <a:rPr sz="1450" b="1" i="0">
                <a:solidFill>
                  <a:srgbClr val="284F3E"/>
                </a:solidFill>
                <a:latin typeface="Calibri"/>
              </a:rPr>
              <a:t>Dairy, sports &amp; medical nutrition</a:t>
            </a:r>
          </a:p>
        </p:txBody>
      </p:sp>
      <p:sp>
        <p:nvSpPr>
          <p:cNvPr id="46" name="Rounded Rectangle 45"/>
          <p:cNvSpPr/>
          <p:nvPr/>
        </p:nvSpPr>
        <p:spPr>
          <a:xfrm>
            <a:off x="594360" y="6199632"/>
            <a:ext cx="2423160" cy="384048"/>
          </a:xfrm>
          <a:prstGeom prst="roundRect">
            <a:avLst>
              <a:gd name="adj" fmla="val 20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i="0">
                <a:solidFill>
                  <a:srgbClr val="1E9E57"/>
                </a:solidFill>
                <a:latin typeface="Calibri"/>
              </a:rPr>
              <a:t>Arg · His</a:t>
            </a:r>
          </a:p>
        </p:txBody>
      </p:sp>
      <p:sp>
        <p:nvSpPr>
          <p:cNvPr id="47" name="Rounded Rectangle 46"/>
          <p:cNvSpPr/>
          <p:nvPr/>
        </p:nvSpPr>
        <p:spPr>
          <a:xfrm>
            <a:off x="3291840" y="5847588"/>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Nutricare</a:t>
            </a:r>
          </a:p>
        </p:txBody>
      </p:sp>
      <p:sp>
        <p:nvSpPr>
          <p:cNvPr id="48" name="Rounded Rectangle 47"/>
          <p:cNvSpPr/>
          <p:nvPr/>
        </p:nvSpPr>
        <p:spPr>
          <a:xfrm>
            <a:off x="6126480" y="5847588"/>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TH Group (Nghệ An)</a:t>
            </a:r>
          </a:p>
        </p:txBody>
      </p:sp>
      <p:sp>
        <p:nvSpPr>
          <p:cNvPr id="49" name="Rounded Rectangle 48"/>
          <p:cNvSpPr/>
          <p:nvPr/>
        </p:nvSpPr>
        <p:spPr>
          <a:xfrm>
            <a:off x="8961120" y="5472683"/>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Vinamilk</a:t>
            </a:r>
          </a:p>
        </p:txBody>
      </p:sp>
      <p:sp>
        <p:nvSpPr>
          <p:cNvPr id="50" name="Rounded Rectangle 49"/>
          <p:cNvSpPr/>
          <p:nvPr/>
        </p:nvSpPr>
        <p:spPr>
          <a:xfrm>
            <a:off x="8961120" y="5847588"/>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Nutifood</a:t>
            </a:r>
          </a:p>
        </p:txBody>
      </p:sp>
      <p:sp>
        <p:nvSpPr>
          <p:cNvPr id="51" name="Rounded Rectangle 50"/>
          <p:cNvSpPr/>
          <p:nvPr/>
        </p:nvSpPr>
        <p:spPr>
          <a:xfrm>
            <a:off x="8961120" y="6222492"/>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Nestlé Vietnam</a:t>
            </a:r>
          </a:p>
        </p:txBody>
      </p:sp>
      <p:sp>
        <p:nvSpPr>
          <p:cNvPr id="52" name="Rounded Rectangle 51"/>
          <p:cNvSpPr/>
          <p:nvPr/>
        </p:nvSpPr>
        <p:spPr>
          <a:xfrm>
            <a:off x="457200" y="6858000"/>
            <a:ext cx="2697480" cy="150876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Oval 52"/>
          <p:cNvSpPr/>
          <p:nvPr/>
        </p:nvSpPr>
        <p:spPr>
          <a:xfrm>
            <a:off x="566928" y="6995160"/>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4" name="Picture 53" descr="tooth_w.png"/>
          <p:cNvPicPr>
            <a:picLocks noChangeAspect="1"/>
          </p:cNvPicPr>
          <p:nvPr/>
        </p:nvPicPr>
        <p:blipFill>
          <a:blip r:embed="rId10"/>
          <a:stretch>
            <a:fillRect/>
          </a:stretch>
        </p:blipFill>
        <p:spPr>
          <a:xfrm>
            <a:off x="702990" y="7131222"/>
            <a:ext cx="294802" cy="294802"/>
          </a:xfrm>
          <a:prstGeom prst="rect">
            <a:avLst/>
          </a:prstGeom>
        </p:spPr>
      </p:pic>
      <p:sp>
        <p:nvSpPr>
          <p:cNvPr id="55" name="TextBox 54"/>
          <p:cNvSpPr txBox="1"/>
          <p:nvPr/>
        </p:nvSpPr>
        <p:spPr>
          <a:xfrm>
            <a:off x="1207007" y="6931152"/>
            <a:ext cx="1920240" cy="777240"/>
          </a:xfrm>
          <a:prstGeom prst="rect">
            <a:avLst/>
          </a:prstGeom>
          <a:noFill/>
        </p:spPr>
        <p:txBody>
          <a:bodyPr wrap="square" lIns="45720" tIns="27432" rIns="45720" bIns="27432" anchor="ctr"/>
          <a:lstStyle/>
          <a:p>
            <a:pPr algn="l"/>
            <a:r>
              <a:rPr sz="1450" b="1" i="0">
                <a:solidFill>
                  <a:srgbClr val="284F3E"/>
                </a:solidFill>
                <a:latin typeface="Calibri"/>
              </a:rPr>
              <a:t>Personal &amp; oral care</a:t>
            </a:r>
          </a:p>
        </p:txBody>
      </p:sp>
      <p:sp>
        <p:nvSpPr>
          <p:cNvPr id="56" name="Rounded Rectangle 55"/>
          <p:cNvSpPr/>
          <p:nvPr/>
        </p:nvSpPr>
        <p:spPr>
          <a:xfrm>
            <a:off x="594360" y="7799831"/>
            <a:ext cx="2423160" cy="384048"/>
          </a:xfrm>
          <a:prstGeom prst="roundRect">
            <a:avLst>
              <a:gd name="adj" fmla="val 20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i="0">
                <a:solidFill>
                  <a:srgbClr val="1E9E57"/>
                </a:solidFill>
                <a:latin typeface="Calibri"/>
              </a:rPr>
              <a:t>Arg</a:t>
            </a:r>
          </a:p>
        </p:txBody>
      </p:sp>
      <p:sp>
        <p:nvSpPr>
          <p:cNvPr id="57" name="Rounded Rectangle 56"/>
          <p:cNvSpPr/>
          <p:nvPr/>
        </p:nvSpPr>
        <p:spPr>
          <a:xfrm>
            <a:off x="3291840" y="7260336"/>
            <a:ext cx="2697480"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Hoa Linh – Ngọc Châu, Dạ Hương</a:t>
            </a:r>
          </a:p>
        </p:txBody>
      </p:sp>
      <p:sp>
        <p:nvSpPr>
          <p:cNvPr id="58" name="Rounded Rectangle 57"/>
          <p:cNvSpPr/>
          <p:nvPr/>
        </p:nvSpPr>
        <p:spPr>
          <a:xfrm>
            <a:off x="3291840" y="7635240"/>
            <a:ext cx="2697480"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Sao Thái Dương</a:t>
            </a:r>
          </a:p>
        </p:txBody>
      </p:sp>
      <p:sp>
        <p:nvSpPr>
          <p:cNvPr id="59" name="Rounded Rectangle 58"/>
          <p:cNvSpPr/>
          <p:nvPr/>
        </p:nvSpPr>
        <p:spPr>
          <a:xfrm>
            <a:off x="6126480" y="6858000"/>
            <a:ext cx="2697480" cy="1508760"/>
          </a:xfrm>
          <a:prstGeom prst="roundRect">
            <a:avLst>
              <a:gd name="adj" fmla="val 6000"/>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0" i="0">
                <a:solidFill>
                  <a:srgbClr val="595959"/>
                </a:solidFill>
                <a:latin typeface="Calibri"/>
              </a:rPr>
              <a:t>No major target identified yet</a:t>
            </a:r>
          </a:p>
        </p:txBody>
      </p:sp>
      <p:sp>
        <p:nvSpPr>
          <p:cNvPr id="60" name="Rounded Rectangle 59"/>
          <p:cNvSpPr/>
          <p:nvPr/>
        </p:nvSpPr>
        <p:spPr>
          <a:xfrm>
            <a:off x="8961120" y="7072883"/>
            <a:ext cx="2770632" cy="329184"/>
          </a:xfrm>
          <a:prstGeom prst="roundRect">
            <a:avLst>
              <a:gd name="adj" fmla="val 15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FFFFFF"/>
                </a:solidFill>
                <a:latin typeface="Calibri"/>
              </a:rPr>
              <a:t>Unilever Vietnam</a:t>
            </a:r>
          </a:p>
        </p:txBody>
      </p:sp>
      <p:sp>
        <p:nvSpPr>
          <p:cNvPr id="61" name="Rounded Rectangle 60"/>
          <p:cNvSpPr/>
          <p:nvPr/>
        </p:nvSpPr>
        <p:spPr>
          <a:xfrm>
            <a:off x="8961120" y="7447788"/>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LG Vina Cosmetics</a:t>
            </a:r>
          </a:p>
        </p:txBody>
      </p:sp>
      <p:sp>
        <p:nvSpPr>
          <p:cNvPr id="62" name="Rounded Rectangle 61"/>
          <p:cNvSpPr/>
          <p:nvPr/>
        </p:nvSpPr>
        <p:spPr>
          <a:xfrm>
            <a:off x="8961120" y="7822692"/>
            <a:ext cx="2770632" cy="329184"/>
          </a:xfrm>
          <a:prstGeom prst="roundRect">
            <a:avLst>
              <a:gd name="adj" fmla="val 15000"/>
            </a:avLst>
          </a:prstGeom>
          <a:solidFill>
            <a:srgbClr val="FFFFFF"/>
          </a:solidFill>
          <a:ln w="12700">
            <a:solidFill>
              <a:srgbClr val="1E9E57"/>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lstStyle/>
          <a:p>
            <a:pPr algn="l"/>
            <a:r>
              <a:rPr sz="1250" b="1" i="0">
                <a:solidFill>
                  <a:srgbClr val="284F3E"/>
                </a:solidFill>
                <a:latin typeface="Calibri"/>
              </a:rPr>
              <a:t>Thorakao</a:t>
            </a:r>
          </a:p>
        </p:txBody>
      </p:sp>
      <p:sp>
        <p:nvSpPr>
          <p:cNvPr id="63" name="TextBox 62"/>
          <p:cNvSpPr txBox="1"/>
          <p:nvPr/>
        </p:nvSpPr>
        <p:spPr>
          <a:xfrm>
            <a:off x="457200" y="850392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BJC Vietnam (customer status); company public information. Arg/Cit/His = L-Arginine/L-Citrulline/L-Histidine. Dark = BJCS customer.</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FGAA – Priority Accounts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graphicFrame>
        <p:nvGraphicFramePr>
          <p:cNvPr id="8" name="Table 7"/>
          <p:cNvGraphicFramePr>
            <a:graphicFrameLocks noGrp="1"/>
          </p:cNvGraphicFramePr>
          <p:nvPr/>
        </p:nvGraphicFramePr>
        <p:xfrm>
          <a:off x="457200" y="1188720"/>
          <a:ext cx="11274552" cy="6995160"/>
        </p:xfrm>
        <a:graphic>
          <a:graphicData uri="http://schemas.openxmlformats.org/drawingml/2006/table">
            <a:tbl>
              <a:tblPr firstRow="1">
                <a:tableStyleId>{5C22544A-7EE6-4342-B048-85BDC9FD1C3A}</a:tableStyleId>
              </a:tblPr>
              <a:tblGrid>
                <a:gridCol w="2194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496312">
                  <a:extLst>
                    <a:ext uri="{9D8B030D-6E8A-4147-A177-3AD203B41FA5}">
                      <a16:colId xmlns:a16="http://schemas.microsoft.com/office/drawing/2014/main" val="20004"/>
                    </a:ext>
                  </a:extLst>
                </a:gridCol>
              </a:tblGrid>
              <a:tr h="411480">
                <a:tc>
                  <a:txBody>
                    <a:bodyPr/>
                    <a:lstStyle/>
                    <a:p>
                      <a:r>
                        <a:rPr sz="1400" b="1" i="0">
                          <a:solidFill>
                            <a:srgbClr val="FFFFFF"/>
                          </a:solidFill>
                          <a:latin typeface="Calibri"/>
                        </a:rPr>
                        <a:t>Account</a:t>
                      </a:r>
                    </a:p>
                  </a:txBody>
                  <a:tcPr marL="64008" marR="64008" marT="36576" marB="36576" anchor="ctr">
                    <a:solidFill>
                      <a:srgbClr val="284F3E"/>
                    </a:solidFill>
                  </a:tcPr>
                </a:tc>
                <a:tc>
                  <a:txBody>
                    <a:bodyPr/>
                    <a:lstStyle/>
                    <a:p>
                      <a:r>
                        <a:rPr sz="1400" b="1" i="0">
                          <a:solidFill>
                            <a:srgbClr val="FFFFFF"/>
                          </a:solidFill>
                          <a:latin typeface="Calibri"/>
                        </a:rPr>
                        <a:t>Status</a:t>
                      </a:r>
                    </a:p>
                  </a:txBody>
                  <a:tcPr marL="64008" marR="64008" marT="36576" marB="36576" anchor="ctr">
                    <a:solidFill>
                      <a:srgbClr val="284F3E"/>
                    </a:solidFill>
                  </a:tcPr>
                </a:tc>
                <a:tc>
                  <a:txBody>
                    <a:bodyPr/>
                    <a:lstStyle/>
                    <a:p>
                      <a:r>
                        <a:rPr sz="1400" b="1" i="0">
                          <a:solidFill>
                            <a:srgbClr val="FFFFFF"/>
                          </a:solidFill>
                          <a:latin typeface="Calibri"/>
                        </a:rPr>
                        <a:t>Pain point / need*</a:t>
                      </a:r>
                    </a:p>
                  </a:txBody>
                  <a:tcPr marL="64008" marR="64008" marT="36576" marB="36576" anchor="ctr">
                    <a:solidFill>
                      <a:srgbClr val="284F3E"/>
                    </a:solidFill>
                  </a:tcPr>
                </a:tc>
                <a:tc>
                  <a:txBody>
                    <a:bodyPr/>
                    <a:lstStyle/>
                    <a:p>
                      <a:r>
                        <a:rPr sz="1400" b="1" i="0">
                          <a:solidFill>
                            <a:srgbClr val="FFFFFF"/>
                          </a:solidFill>
                          <a:latin typeface="Calibri"/>
                        </a:rPr>
                        <a:t>FGAA value</a:t>
                      </a:r>
                    </a:p>
                  </a:txBody>
                  <a:tcPr marL="64008" marR="64008" marT="36576" marB="36576" anchor="ctr">
                    <a:solidFill>
                      <a:srgbClr val="284F3E"/>
                    </a:solidFill>
                  </a:tcPr>
                </a:tc>
                <a:tc>
                  <a:txBody>
                    <a:bodyPr/>
                    <a:lstStyle/>
                    <a:p>
                      <a:r>
                        <a:rPr sz="1400" b="1" i="0">
                          <a:solidFill>
                            <a:srgbClr val="FFFFFF"/>
                          </a:solidFill>
                          <a:latin typeface="Calibri"/>
                        </a:rPr>
                        <a:t>Key success factor</a:t>
                      </a:r>
                    </a:p>
                  </a:txBody>
                  <a:tcPr marL="64008" marR="64008" marT="36576" marB="36576" anchor="ctr">
                    <a:solidFill>
                      <a:srgbClr val="284F3E"/>
                    </a:solidFill>
                  </a:tcPr>
                </a:tc>
                <a:extLst>
                  <a:ext uri="{0D108BD9-81ED-4DB2-BD59-A6C34878D82A}">
                    <a16:rowId xmlns:a16="http://schemas.microsoft.com/office/drawing/2014/main" val="10000"/>
                  </a:ext>
                </a:extLst>
              </a:tr>
              <a:tr h="822960">
                <a:tc>
                  <a:txBody>
                    <a:bodyPr/>
                    <a:lstStyle/>
                    <a:p>
                      <a:r>
                        <a:rPr sz="1300" b="1" i="0">
                          <a:solidFill>
                            <a:srgbClr val="284F3E"/>
                          </a:solidFill>
                          <a:latin typeface="Calibri"/>
                        </a:rPr>
                        <a:t>Masan Consumer</a:t>
                      </a:r>
                    </a:p>
                    <a:p>
                      <a:r>
                        <a:rPr sz="1200" b="0" i="0">
                          <a:solidFill>
                            <a:srgbClr val="595959"/>
                          </a:solidFill>
                          <a:latin typeface="Calibri"/>
                        </a:rPr>
                        <a:t>Wake-up 247 energy drink</a:t>
                      </a:r>
                    </a:p>
                  </a:txBody>
                  <a:tcPr marL="64008" marR="64008" marT="36576" marB="36576" anchor="ctr">
                    <a:solidFill>
                      <a:srgbClr val="FFFFFF"/>
                    </a:solidFill>
                  </a:tcPr>
                </a:tc>
                <a:tc>
                  <a:txBody>
                    <a:bodyPr/>
                    <a:lstStyle/>
                    <a:p>
                      <a:r>
                        <a:rPr sz="1250" b="1" i="0">
                          <a:solidFill>
                            <a:srgbClr val="FFFFFF"/>
                          </a:solidFill>
                          <a:latin typeface="Calibri"/>
                        </a:rPr>
                        <a:t>BJCS customer</a:t>
                      </a:r>
                    </a:p>
                    <a:p>
                      <a:r>
                        <a:rPr sz="1200" b="0" i="0">
                          <a:solidFill>
                            <a:srgbClr val="BFE3CC"/>
                          </a:solidFill>
                          <a:latin typeface="Calibri"/>
                        </a:rPr>
                        <a:t>South</a:t>
                      </a:r>
                    </a:p>
                  </a:txBody>
                  <a:tcPr marL="64008" marR="64008" marT="36576" marB="36576" anchor="ctr">
                    <a:solidFill>
                      <a:srgbClr val="284F3E"/>
                    </a:solidFill>
                  </a:tcPr>
                </a:tc>
                <a:tc>
                  <a:txBody>
                    <a:bodyPr/>
                    <a:lstStyle/>
                    <a:p>
                      <a:r>
                        <a:rPr sz="1250" b="0" i="0">
                          <a:solidFill>
                            <a:srgbClr val="262626"/>
                          </a:solidFill>
                          <a:latin typeface="Calibri"/>
                        </a:rPr>
                        <a:t>Crowded energy-drink market; need new functional claims</a:t>
                      </a:r>
                    </a:p>
                  </a:txBody>
                  <a:tcPr marL="64008" marR="64008" marT="36576" marB="36576" anchor="ctr">
                    <a:solidFill>
                      <a:srgbClr val="FFFFFF"/>
                    </a:solidFill>
                  </a:tcPr>
                </a:tc>
                <a:tc>
                  <a:txBody>
                    <a:bodyPr/>
                    <a:lstStyle/>
                    <a:p>
                      <a:r>
                        <a:rPr sz="1250" b="0" i="0">
                          <a:solidFill>
                            <a:srgbClr val="262626"/>
                          </a:solidFill>
                          <a:latin typeface="Calibri"/>
                        </a:rPr>
                        <a:t>L-Arginine / L-Citrulline for 'energy &amp; endurance' variants</a:t>
                      </a:r>
                    </a:p>
                  </a:txBody>
                  <a:tcPr marL="64008" marR="64008" marT="36576" marB="36576" anchor="ctr">
                    <a:solidFill>
                      <a:srgbClr val="FFFFFF"/>
                    </a:solidFill>
                  </a:tcPr>
                </a:tc>
                <a:tc>
                  <a:txBody>
                    <a:bodyPr/>
                    <a:lstStyle/>
                    <a:p>
                      <a:r>
                        <a:rPr sz="1250" b="0" i="0">
                          <a:solidFill>
                            <a:srgbClr val="262626"/>
                          </a:solidFill>
                          <a:latin typeface="Calibri"/>
                        </a:rPr>
                        <a:t>Concept prototype + cost per serving</a:t>
                      </a:r>
                    </a:p>
                  </a:txBody>
                  <a:tcPr marL="64008" marR="64008" marT="36576" marB="36576" anchor="ctr">
                    <a:solidFill>
                      <a:srgbClr val="FFFFFF"/>
                    </a:solidFill>
                  </a:tcPr>
                </a:tc>
                <a:extLst>
                  <a:ext uri="{0D108BD9-81ED-4DB2-BD59-A6C34878D82A}">
                    <a16:rowId xmlns:a16="http://schemas.microsoft.com/office/drawing/2014/main" val="10001"/>
                  </a:ext>
                </a:extLst>
              </a:tr>
              <a:tr h="822960">
                <a:tc>
                  <a:txBody>
                    <a:bodyPr/>
                    <a:lstStyle/>
                    <a:p>
                      <a:r>
                        <a:rPr sz="1300" b="1" i="0">
                          <a:solidFill>
                            <a:srgbClr val="284F3E"/>
                          </a:solidFill>
                          <a:latin typeface="Calibri"/>
                        </a:rPr>
                        <a:t>Tribeco</a:t>
                      </a:r>
                    </a:p>
                    <a:p>
                      <a:r>
                        <a:rPr sz="1200" b="0" i="0">
                          <a:solidFill>
                            <a:srgbClr val="595959"/>
                          </a:solidFill>
                          <a:latin typeface="Calibri"/>
                        </a:rPr>
                        <a:t>Soft &amp; functional drinks</a:t>
                      </a:r>
                    </a:p>
                  </a:txBody>
                  <a:tcPr marL="64008" marR="64008" marT="36576" marB="36576" anchor="ctr">
                    <a:solidFill>
                      <a:srgbClr val="F3F3F3"/>
                    </a:solidFill>
                  </a:tcPr>
                </a:tc>
                <a:tc>
                  <a:txBody>
                    <a:bodyPr/>
                    <a:lstStyle/>
                    <a:p>
                      <a:r>
                        <a:rPr sz="1250" b="1" i="0">
                          <a:solidFill>
                            <a:srgbClr val="FFFFFF"/>
                          </a:solidFill>
                          <a:latin typeface="Calibri"/>
                        </a:rPr>
                        <a:t>BJCS customer</a:t>
                      </a:r>
                    </a:p>
                    <a:p>
                      <a:r>
                        <a:rPr sz="1200" b="0" i="0">
                          <a:solidFill>
                            <a:srgbClr val="BFE3CC"/>
                          </a:solidFill>
                          <a:latin typeface="Calibri"/>
                        </a:rPr>
                        <a:t>South &amp; North</a:t>
                      </a:r>
                    </a:p>
                  </a:txBody>
                  <a:tcPr marL="64008" marR="64008" marT="36576" marB="36576" anchor="ctr">
                    <a:solidFill>
                      <a:srgbClr val="284F3E"/>
                    </a:solidFill>
                  </a:tcPr>
                </a:tc>
                <a:tc>
                  <a:txBody>
                    <a:bodyPr/>
                    <a:lstStyle/>
                    <a:p>
                      <a:r>
                        <a:rPr sz="1250" b="0" i="0">
                          <a:solidFill>
                            <a:srgbClr val="262626"/>
                          </a:solidFill>
                          <a:latin typeface="Calibri"/>
                        </a:rPr>
                        <a:t>Portfolio upgrade vs. energy-drink leaders</a:t>
                      </a:r>
                    </a:p>
                  </a:txBody>
                  <a:tcPr marL="64008" marR="64008" marT="36576" marB="36576" anchor="ctr">
                    <a:solidFill>
                      <a:srgbClr val="F3F3F3"/>
                    </a:solidFill>
                  </a:tcPr>
                </a:tc>
                <a:tc>
                  <a:txBody>
                    <a:bodyPr/>
                    <a:lstStyle/>
                    <a:p>
                      <a:r>
                        <a:rPr sz="1250" b="0" i="0">
                          <a:solidFill>
                            <a:srgbClr val="262626"/>
                          </a:solidFill>
                          <a:latin typeface="Calibri"/>
                        </a:rPr>
                        <a:t>Amino-acid functional variants; vegan, fermented</a:t>
                      </a:r>
                    </a:p>
                  </a:txBody>
                  <a:tcPr marL="64008" marR="64008" marT="36576" marB="36576" anchor="ctr">
                    <a:solidFill>
                      <a:srgbClr val="F3F3F3"/>
                    </a:solidFill>
                  </a:tcPr>
                </a:tc>
                <a:tc>
                  <a:txBody>
                    <a:bodyPr/>
                    <a:lstStyle/>
                    <a:p>
                      <a:r>
                        <a:rPr sz="1250" b="0" i="0">
                          <a:solidFill>
                            <a:srgbClr val="262626"/>
                          </a:solidFill>
                          <a:latin typeface="Calibri"/>
                        </a:rPr>
                        <a:t>Flavor + amino-acid co-development (BJCS flavors)</a:t>
                      </a:r>
                    </a:p>
                  </a:txBody>
                  <a:tcPr marL="64008" marR="64008" marT="36576" marB="36576" anchor="ctr">
                    <a:solidFill>
                      <a:srgbClr val="F3F3F3"/>
                    </a:solidFill>
                  </a:tcPr>
                </a:tc>
                <a:extLst>
                  <a:ext uri="{0D108BD9-81ED-4DB2-BD59-A6C34878D82A}">
                    <a16:rowId xmlns:a16="http://schemas.microsoft.com/office/drawing/2014/main" val="10002"/>
                  </a:ext>
                </a:extLst>
              </a:tr>
              <a:tr h="822960">
                <a:tc>
                  <a:txBody>
                    <a:bodyPr/>
                    <a:lstStyle/>
                    <a:p>
                      <a:r>
                        <a:rPr sz="1300" b="1" i="0">
                          <a:solidFill>
                            <a:srgbClr val="284F3E"/>
                          </a:solidFill>
                          <a:latin typeface="Calibri"/>
                        </a:rPr>
                        <a:t>Yến Việt</a:t>
                      </a:r>
                    </a:p>
                    <a:p>
                      <a:r>
                        <a:rPr sz="1200" b="0" i="0">
                          <a:solidFill>
                            <a:srgbClr val="595959"/>
                          </a:solidFill>
                          <a:latin typeface="Calibri"/>
                        </a:rPr>
                        <a:t>Bird's-nest functional drinks</a:t>
                      </a:r>
                    </a:p>
                  </a:txBody>
                  <a:tcPr marL="64008" marR="64008" marT="36576" marB="36576" anchor="ctr">
                    <a:solidFill>
                      <a:srgbClr val="FFFFFF"/>
                    </a:solidFill>
                  </a:tcPr>
                </a:tc>
                <a:tc>
                  <a:txBody>
                    <a:bodyPr/>
                    <a:lstStyle/>
                    <a:p>
                      <a:r>
                        <a:rPr sz="1250" b="1" i="0">
                          <a:solidFill>
                            <a:srgbClr val="FFFFFF"/>
                          </a:solidFill>
                          <a:latin typeface="Calibri"/>
                        </a:rPr>
                        <a:t>BJCS customer</a:t>
                      </a:r>
                    </a:p>
                    <a:p>
                      <a:r>
                        <a:rPr sz="1200" b="0" i="0">
                          <a:solidFill>
                            <a:srgbClr val="BFE3CC"/>
                          </a:solidFill>
                          <a:latin typeface="Calibri"/>
                        </a:rPr>
                        <a:t>Central</a:t>
                      </a:r>
                    </a:p>
                  </a:txBody>
                  <a:tcPr marL="64008" marR="64008" marT="36576" marB="36576" anchor="ctr">
                    <a:solidFill>
                      <a:srgbClr val="284F3E"/>
                    </a:solidFill>
                  </a:tcPr>
                </a:tc>
                <a:tc>
                  <a:txBody>
                    <a:bodyPr/>
                    <a:lstStyle/>
                    <a:p>
                      <a:r>
                        <a:rPr sz="1250" b="0" i="0">
                          <a:solidFill>
                            <a:srgbClr val="262626"/>
                          </a:solidFill>
                          <a:latin typeface="Calibri"/>
                        </a:rPr>
                        <a:t>Premiumization; added functional benefit</a:t>
                      </a:r>
                    </a:p>
                  </a:txBody>
                  <a:tcPr marL="64008" marR="64008" marT="36576" marB="36576" anchor="ctr">
                    <a:solidFill>
                      <a:srgbClr val="FFFFFF"/>
                    </a:solidFill>
                  </a:tcPr>
                </a:tc>
                <a:tc>
                  <a:txBody>
                    <a:bodyPr/>
                    <a:lstStyle/>
                    <a:p>
                      <a:r>
                        <a:rPr sz="1250" b="0" i="0">
                          <a:solidFill>
                            <a:srgbClr val="262626"/>
                          </a:solidFill>
                          <a:latin typeface="Calibri"/>
                        </a:rPr>
                        <a:t>Amino-acid fortification for vitality positioning</a:t>
                      </a:r>
                    </a:p>
                  </a:txBody>
                  <a:tcPr marL="64008" marR="64008" marT="36576" marB="36576" anchor="ctr">
                    <a:solidFill>
                      <a:srgbClr val="FFFFFF"/>
                    </a:solidFill>
                  </a:tcPr>
                </a:tc>
                <a:tc>
                  <a:txBody>
                    <a:bodyPr/>
                    <a:lstStyle/>
                    <a:p>
                      <a:r>
                        <a:rPr sz="1250" b="0" i="0">
                          <a:solidFill>
                            <a:srgbClr val="262626"/>
                          </a:solidFill>
                          <a:latin typeface="Calibri"/>
                        </a:rPr>
                        <a:t>Taste &amp; solubility trials; formulation support</a:t>
                      </a:r>
                    </a:p>
                  </a:txBody>
                  <a:tcPr marL="64008" marR="64008" marT="36576" marB="36576" anchor="ctr">
                    <a:solidFill>
                      <a:srgbClr val="FFFFFF"/>
                    </a:solidFill>
                  </a:tcPr>
                </a:tc>
                <a:extLst>
                  <a:ext uri="{0D108BD9-81ED-4DB2-BD59-A6C34878D82A}">
                    <a16:rowId xmlns:a16="http://schemas.microsoft.com/office/drawing/2014/main" val="10003"/>
                  </a:ext>
                </a:extLst>
              </a:tr>
              <a:tr h="822960">
                <a:tc>
                  <a:txBody>
                    <a:bodyPr/>
                    <a:lstStyle/>
                    <a:p>
                      <a:r>
                        <a:rPr sz="1300" b="1" i="0">
                          <a:solidFill>
                            <a:srgbClr val="284F3E"/>
                          </a:solidFill>
                          <a:latin typeface="Calibri"/>
                        </a:rPr>
                        <a:t>Merap Group</a:t>
                      </a:r>
                    </a:p>
                    <a:p>
                      <a:r>
                        <a:rPr sz="1200" b="0" i="0">
                          <a:solidFill>
                            <a:srgbClr val="595959"/>
                          </a:solidFill>
                          <a:latin typeface="Calibri"/>
                        </a:rPr>
                        <a:t>OTC &amp; supplement brands</a:t>
                      </a:r>
                    </a:p>
                  </a:txBody>
                  <a:tcPr marL="64008" marR="64008" marT="36576" marB="36576" anchor="ctr">
                    <a:solidFill>
                      <a:srgbClr val="F3F3F3"/>
                    </a:solidFill>
                  </a:tcPr>
                </a:tc>
                <a:tc>
                  <a:txBody>
                    <a:bodyPr/>
                    <a:lstStyle/>
                    <a:p>
                      <a:r>
                        <a:rPr sz="1250" b="1" i="0">
                          <a:solidFill>
                            <a:srgbClr val="FFFFFF"/>
                          </a:solidFill>
                          <a:latin typeface="Calibri"/>
                        </a:rPr>
                        <a:t>BJCS customer</a:t>
                      </a:r>
                    </a:p>
                    <a:p>
                      <a:r>
                        <a:rPr sz="1200" b="0" i="0">
                          <a:solidFill>
                            <a:srgbClr val="BFE3CC"/>
                          </a:solidFill>
                          <a:latin typeface="Calibri"/>
                        </a:rPr>
                        <a:t>North</a:t>
                      </a:r>
                    </a:p>
                  </a:txBody>
                  <a:tcPr marL="64008" marR="64008" marT="36576" marB="36576" anchor="ctr">
                    <a:solidFill>
                      <a:srgbClr val="284F3E"/>
                    </a:solidFill>
                  </a:tcPr>
                </a:tc>
                <a:tc>
                  <a:txBody>
                    <a:bodyPr/>
                    <a:lstStyle/>
                    <a:p>
                      <a:r>
                        <a:rPr sz="1250" b="0" i="0">
                          <a:solidFill>
                            <a:srgbClr val="262626"/>
                          </a:solidFill>
                          <a:latin typeface="Calibri"/>
                        </a:rPr>
                        <a:t>Documented, consistent actives for registrations</a:t>
                      </a:r>
                    </a:p>
                  </a:txBody>
                  <a:tcPr marL="64008" marR="64008" marT="36576" marB="36576" anchor="ctr">
                    <a:solidFill>
                      <a:srgbClr val="F3F3F3"/>
                    </a:solidFill>
                  </a:tcPr>
                </a:tc>
                <a:tc>
                  <a:txBody>
                    <a:bodyPr/>
                    <a:lstStyle/>
                    <a:p>
                      <a:r>
                        <a:rPr sz="1250" b="0" i="0">
                          <a:solidFill>
                            <a:srgbClr val="262626"/>
                          </a:solidFill>
                          <a:latin typeface="Calibri"/>
                        </a:rPr>
                        <a:t>Fermented, vegan, food-grade with full dossier</a:t>
                      </a:r>
                    </a:p>
                  </a:txBody>
                  <a:tcPr marL="64008" marR="64008" marT="36576" marB="36576" anchor="ctr">
                    <a:solidFill>
                      <a:srgbClr val="F3F3F3"/>
                    </a:solidFill>
                  </a:tcPr>
                </a:tc>
                <a:tc>
                  <a:txBody>
                    <a:bodyPr/>
                    <a:lstStyle/>
                    <a:p>
                      <a:r>
                        <a:rPr sz="1250" b="0" i="0">
                          <a:solidFill>
                            <a:srgbClr val="262626"/>
                          </a:solidFill>
                          <a:latin typeface="Calibri"/>
                        </a:rPr>
                        <a:t>Dossier support; existing supply relationship</a:t>
                      </a:r>
                    </a:p>
                  </a:txBody>
                  <a:tcPr marL="64008" marR="64008" marT="36576" marB="36576" anchor="ctr">
                    <a:solidFill>
                      <a:srgbClr val="F3F3F3"/>
                    </a:solidFill>
                  </a:tcPr>
                </a:tc>
                <a:extLst>
                  <a:ext uri="{0D108BD9-81ED-4DB2-BD59-A6C34878D82A}">
                    <a16:rowId xmlns:a16="http://schemas.microsoft.com/office/drawing/2014/main" val="10004"/>
                  </a:ext>
                </a:extLst>
              </a:tr>
              <a:tr h="822960">
                <a:tc>
                  <a:txBody>
                    <a:bodyPr/>
                    <a:lstStyle/>
                    <a:p>
                      <a:r>
                        <a:rPr sz="1300" b="1" i="0">
                          <a:solidFill>
                            <a:srgbClr val="284F3E"/>
                          </a:solidFill>
                          <a:latin typeface="Calibri"/>
                        </a:rPr>
                        <a:t>Hoa Linh</a:t>
                      </a:r>
                    </a:p>
                    <a:p>
                      <a:r>
                        <a:rPr sz="1200" b="0" i="0">
                          <a:solidFill>
                            <a:srgbClr val="595959"/>
                          </a:solidFill>
                          <a:latin typeface="Calibri"/>
                        </a:rPr>
                        <a:t>Ngọc Châu oral care, supplements</a:t>
                      </a:r>
                    </a:p>
                  </a:txBody>
                  <a:tcPr marL="64008" marR="64008" marT="36576" marB="36576" anchor="ctr">
                    <a:solidFill>
                      <a:srgbClr val="FFFFFF"/>
                    </a:solidFill>
                  </a:tcPr>
                </a:tc>
                <a:tc>
                  <a:txBody>
                    <a:bodyPr/>
                    <a:lstStyle/>
                    <a:p>
                      <a:r>
                        <a:rPr sz="1250" b="1" i="0">
                          <a:solidFill>
                            <a:srgbClr val="FFFFFF"/>
                          </a:solidFill>
                          <a:latin typeface="Calibri"/>
                        </a:rPr>
                        <a:t>BJCS customer</a:t>
                      </a:r>
                    </a:p>
                    <a:p>
                      <a:r>
                        <a:rPr sz="1200" b="0" i="0">
                          <a:solidFill>
                            <a:srgbClr val="BFE3CC"/>
                          </a:solidFill>
                          <a:latin typeface="Calibri"/>
                        </a:rPr>
                        <a:t>North</a:t>
                      </a:r>
                    </a:p>
                  </a:txBody>
                  <a:tcPr marL="64008" marR="64008" marT="36576" marB="36576" anchor="ctr">
                    <a:solidFill>
                      <a:srgbClr val="284F3E"/>
                    </a:solidFill>
                  </a:tcPr>
                </a:tc>
                <a:tc>
                  <a:txBody>
                    <a:bodyPr/>
                    <a:lstStyle/>
                    <a:p>
                      <a:r>
                        <a:rPr sz="1250" b="0" i="0">
                          <a:solidFill>
                            <a:srgbClr val="262626"/>
                          </a:solidFill>
                          <a:latin typeface="Calibri"/>
                        </a:rPr>
                        <a:t>Differentiation in oral care &amp; supplements</a:t>
                      </a:r>
                    </a:p>
                  </a:txBody>
                  <a:tcPr marL="64008" marR="64008" marT="36576" marB="36576" anchor="ctr">
                    <a:solidFill>
                      <a:srgbClr val="FFFFFF"/>
                    </a:solidFill>
                  </a:tcPr>
                </a:tc>
                <a:tc>
                  <a:txBody>
                    <a:bodyPr/>
                    <a:lstStyle/>
                    <a:p>
                      <a:r>
                        <a:rPr sz="1250" b="0" i="0">
                          <a:solidFill>
                            <a:srgbClr val="262626"/>
                          </a:solidFill>
                          <a:latin typeface="Calibri"/>
                        </a:rPr>
                        <a:t>Arginine for sensitive-teeth / mild formulas</a:t>
                      </a:r>
                    </a:p>
                  </a:txBody>
                  <a:tcPr marL="64008" marR="64008" marT="36576" marB="36576" anchor="ctr">
                    <a:solidFill>
                      <a:srgbClr val="FFFFFF"/>
                    </a:solidFill>
                  </a:tcPr>
                </a:tc>
                <a:tc>
                  <a:txBody>
                    <a:bodyPr/>
                    <a:lstStyle/>
                    <a:p>
                      <a:r>
                        <a:rPr sz="1250" b="0" i="0">
                          <a:solidFill>
                            <a:srgbClr val="262626"/>
                          </a:solidFill>
                          <a:latin typeface="Calibri"/>
                        </a:rPr>
                        <a:t>Formulation data; small-lot supply</a:t>
                      </a:r>
                    </a:p>
                  </a:txBody>
                  <a:tcPr marL="64008" marR="64008" marT="36576" marB="36576" anchor="ctr">
                    <a:solidFill>
                      <a:srgbClr val="FFFFFF"/>
                    </a:solidFill>
                  </a:tcPr>
                </a:tc>
                <a:extLst>
                  <a:ext uri="{0D108BD9-81ED-4DB2-BD59-A6C34878D82A}">
                    <a16:rowId xmlns:a16="http://schemas.microsoft.com/office/drawing/2014/main" val="10005"/>
                  </a:ext>
                </a:extLst>
              </a:tr>
              <a:tr h="822960">
                <a:tc>
                  <a:txBody>
                    <a:bodyPr/>
                    <a:lstStyle/>
                    <a:p>
                      <a:r>
                        <a:rPr sz="1300" b="1" i="0">
                          <a:solidFill>
                            <a:srgbClr val="284F3E"/>
                          </a:solidFill>
                          <a:latin typeface="Calibri"/>
                        </a:rPr>
                        <a:t>Unilever Vietnam</a:t>
                      </a:r>
                    </a:p>
                    <a:p>
                      <a:r>
                        <a:rPr sz="1200" b="0" i="0">
                          <a:solidFill>
                            <a:srgbClr val="595959"/>
                          </a:solidFill>
                          <a:latin typeface="Calibri"/>
                        </a:rPr>
                        <a:t>Oral &amp; skin care</a:t>
                      </a:r>
                    </a:p>
                  </a:txBody>
                  <a:tcPr marL="64008" marR="64008" marT="36576" marB="36576" anchor="ctr">
                    <a:solidFill>
                      <a:srgbClr val="F3F3F3"/>
                    </a:solidFill>
                  </a:tcPr>
                </a:tc>
                <a:tc>
                  <a:txBody>
                    <a:bodyPr/>
                    <a:lstStyle/>
                    <a:p>
                      <a:r>
                        <a:rPr sz="1250" b="1" i="0">
                          <a:solidFill>
                            <a:srgbClr val="FFFFFF"/>
                          </a:solidFill>
                          <a:latin typeface="Calibri"/>
                        </a:rPr>
                        <a:t>BJCS customer</a:t>
                      </a:r>
                    </a:p>
                    <a:p>
                      <a:r>
                        <a:rPr sz="1200" b="0" i="0">
                          <a:solidFill>
                            <a:srgbClr val="BFE3CC"/>
                          </a:solidFill>
                          <a:latin typeface="Calibri"/>
                        </a:rPr>
                        <a:t>South</a:t>
                      </a:r>
                    </a:p>
                  </a:txBody>
                  <a:tcPr marL="64008" marR="64008" marT="36576" marB="36576" anchor="ctr">
                    <a:solidFill>
                      <a:srgbClr val="284F3E"/>
                    </a:solidFill>
                  </a:tcPr>
                </a:tc>
                <a:tc>
                  <a:txBody>
                    <a:bodyPr/>
                    <a:lstStyle/>
                    <a:p>
                      <a:r>
                        <a:rPr sz="1250" b="0" i="0">
                          <a:solidFill>
                            <a:srgbClr val="262626"/>
                          </a:solidFill>
                          <a:latin typeface="Calibri"/>
                        </a:rPr>
                        <a:t>Global specs; natural, mild functional ingredients</a:t>
                      </a:r>
                    </a:p>
                  </a:txBody>
                  <a:tcPr marL="64008" marR="64008" marT="36576" marB="36576" anchor="ctr">
                    <a:solidFill>
                      <a:srgbClr val="F3F3F3"/>
                    </a:solidFill>
                  </a:tcPr>
                </a:tc>
                <a:tc>
                  <a:txBody>
                    <a:bodyPr/>
                    <a:lstStyle/>
                    <a:p>
                      <a:r>
                        <a:rPr sz="1250" b="0" i="0">
                          <a:solidFill>
                            <a:srgbClr val="262626"/>
                          </a:solidFill>
                          <a:latin typeface="Calibri"/>
                        </a:rPr>
                        <a:t>L-Arginine as pH adjuster &amp; oral-care active</a:t>
                      </a:r>
                    </a:p>
                  </a:txBody>
                  <a:tcPr marL="64008" marR="64008" marT="36576" marB="36576" anchor="ctr">
                    <a:solidFill>
                      <a:srgbClr val="F3F3F3"/>
                    </a:solidFill>
                  </a:tcPr>
                </a:tc>
                <a:tc>
                  <a:txBody>
                    <a:bodyPr/>
                    <a:lstStyle/>
                    <a:p>
                      <a:r>
                        <a:rPr sz="1250" b="0" i="0">
                          <a:solidFill>
                            <a:srgbClr val="262626"/>
                          </a:solidFill>
                          <a:latin typeface="Calibri"/>
                        </a:rPr>
                        <a:t>Global approval route; existing relationship</a:t>
                      </a:r>
                    </a:p>
                  </a:txBody>
                  <a:tcPr marL="64008" marR="64008" marT="36576" marB="36576" anchor="ctr">
                    <a:solidFill>
                      <a:srgbClr val="F3F3F3"/>
                    </a:solidFill>
                  </a:tcPr>
                </a:tc>
                <a:extLst>
                  <a:ext uri="{0D108BD9-81ED-4DB2-BD59-A6C34878D82A}">
                    <a16:rowId xmlns:a16="http://schemas.microsoft.com/office/drawing/2014/main" val="10006"/>
                  </a:ext>
                </a:extLst>
              </a:tr>
              <a:tr h="822960">
                <a:tc>
                  <a:txBody>
                    <a:bodyPr/>
                    <a:lstStyle/>
                    <a:p>
                      <a:r>
                        <a:rPr sz="1300" b="1" i="0">
                          <a:solidFill>
                            <a:srgbClr val="284F3E"/>
                          </a:solidFill>
                          <a:latin typeface="Calibri"/>
                        </a:rPr>
                        <a:t>DHG Pharma</a:t>
                      </a:r>
                    </a:p>
                    <a:p>
                      <a:r>
                        <a:rPr sz="1200" b="0" i="0">
                          <a:solidFill>
                            <a:srgbClr val="595959"/>
                          </a:solidFill>
                          <a:latin typeface="Calibri"/>
                        </a:rPr>
                        <a:t>Supplements &amp; OTC</a:t>
                      </a:r>
                    </a:p>
                  </a:txBody>
                  <a:tcPr marL="64008" marR="64008" marT="36576" marB="36576" anchor="ctr">
                    <a:solidFill>
                      <a:srgbClr val="FFFFFF"/>
                    </a:solidFill>
                  </a:tcPr>
                </a:tc>
                <a:tc>
                  <a:txBody>
                    <a:bodyPr/>
                    <a:lstStyle/>
                    <a:p>
                      <a:r>
                        <a:rPr sz="1300" b="1" i="0">
                          <a:solidFill>
                            <a:srgbClr val="284F3E"/>
                          </a:solidFill>
                          <a:latin typeface="Calibri"/>
                        </a:rPr>
                        <a:t>Potential</a:t>
                      </a:r>
                    </a:p>
                    <a:p>
                      <a:r>
                        <a:rPr sz="1200" b="0" i="0">
                          <a:solidFill>
                            <a:srgbClr val="595959"/>
                          </a:solidFill>
                          <a:latin typeface="Calibri"/>
                        </a:rPr>
                        <a:t>South</a:t>
                      </a:r>
                    </a:p>
                  </a:txBody>
                  <a:tcPr marL="64008" marR="64008" marT="36576" marB="36576" anchor="ctr">
                    <a:solidFill>
                      <a:srgbClr val="FFFFFF"/>
                    </a:solidFill>
                  </a:tcPr>
                </a:tc>
                <a:tc>
                  <a:txBody>
                    <a:bodyPr/>
                    <a:lstStyle/>
                    <a:p>
                      <a:r>
                        <a:rPr sz="1250" b="0" i="0">
                          <a:solidFill>
                            <a:srgbClr val="262626"/>
                          </a:solidFill>
                          <a:latin typeface="Calibri"/>
                        </a:rPr>
                        <a:t>Reliable raw materials for supplement registration</a:t>
                      </a:r>
                    </a:p>
                  </a:txBody>
                  <a:tcPr marL="64008" marR="64008" marT="36576" marB="36576" anchor="ctr">
                    <a:solidFill>
                      <a:srgbClr val="FFFFFF"/>
                    </a:solidFill>
                  </a:tcPr>
                </a:tc>
                <a:tc>
                  <a:txBody>
                    <a:bodyPr/>
                    <a:lstStyle/>
                    <a:p>
                      <a:r>
                        <a:rPr sz="1250" b="0" i="0">
                          <a:solidFill>
                            <a:srgbClr val="262626"/>
                          </a:solidFill>
                          <a:latin typeface="Calibri"/>
                        </a:rPr>
                        <a:t>Global producer quality &amp; documentation</a:t>
                      </a:r>
                    </a:p>
                  </a:txBody>
                  <a:tcPr marL="64008" marR="64008" marT="36576" marB="36576" anchor="ctr">
                    <a:solidFill>
                      <a:srgbClr val="FFFFFF"/>
                    </a:solidFill>
                  </a:tcPr>
                </a:tc>
                <a:tc>
                  <a:txBody>
                    <a:bodyPr/>
                    <a:lstStyle/>
                    <a:p>
                      <a:r>
                        <a:rPr sz="1250" b="0" i="0">
                          <a:solidFill>
                            <a:srgbClr val="262626"/>
                          </a:solidFill>
                          <a:latin typeface="Calibri"/>
                        </a:rPr>
                        <a:t>Full dossier (COA, specs, certificates); stable supply</a:t>
                      </a:r>
                    </a:p>
                  </a:txBody>
                  <a:tcPr marL="64008" marR="64008" marT="36576" marB="36576" anchor="ctr">
                    <a:solidFill>
                      <a:srgbClr val="FFFFFF"/>
                    </a:solidFill>
                  </a:tcPr>
                </a:tc>
                <a:extLst>
                  <a:ext uri="{0D108BD9-81ED-4DB2-BD59-A6C34878D82A}">
                    <a16:rowId xmlns:a16="http://schemas.microsoft.com/office/drawing/2014/main" val="10007"/>
                  </a:ext>
                </a:extLst>
              </a:tr>
              <a:tr h="822960">
                <a:tc>
                  <a:txBody>
                    <a:bodyPr/>
                    <a:lstStyle/>
                    <a:p>
                      <a:r>
                        <a:rPr sz="1300" b="1" i="0">
                          <a:solidFill>
                            <a:srgbClr val="284F3E"/>
                          </a:solidFill>
                          <a:latin typeface="Calibri"/>
                        </a:rPr>
                        <a:t>Tân Hiệp Phát</a:t>
                      </a:r>
                    </a:p>
                    <a:p>
                      <a:r>
                        <a:rPr sz="1200" b="0" i="0">
                          <a:solidFill>
                            <a:srgbClr val="595959"/>
                          </a:solidFill>
                          <a:latin typeface="Calibri"/>
                        </a:rPr>
                        <a:t>Number 1 energy drink</a:t>
                      </a:r>
                    </a:p>
                  </a:txBody>
                  <a:tcPr marL="64008" marR="64008" marT="36576" marB="36576" anchor="ctr">
                    <a:solidFill>
                      <a:srgbClr val="F3F3F3"/>
                    </a:solidFill>
                  </a:tcPr>
                </a:tc>
                <a:tc>
                  <a:txBody>
                    <a:bodyPr/>
                    <a:lstStyle/>
                    <a:p>
                      <a:r>
                        <a:rPr sz="1300" b="1" i="0">
                          <a:solidFill>
                            <a:srgbClr val="284F3E"/>
                          </a:solidFill>
                          <a:latin typeface="Calibri"/>
                        </a:rPr>
                        <a:t>Potential</a:t>
                      </a:r>
                    </a:p>
                    <a:p>
                      <a:r>
                        <a:rPr sz="1200" b="0" i="0">
                          <a:solidFill>
                            <a:srgbClr val="595959"/>
                          </a:solidFill>
                          <a:latin typeface="Calibri"/>
                        </a:rPr>
                        <a:t>South</a:t>
                      </a:r>
                    </a:p>
                  </a:txBody>
                  <a:tcPr marL="64008" marR="64008" marT="36576" marB="36576" anchor="ctr">
                    <a:solidFill>
                      <a:srgbClr val="F3F3F3"/>
                    </a:solidFill>
                  </a:tcPr>
                </a:tc>
                <a:tc>
                  <a:txBody>
                    <a:bodyPr/>
                    <a:lstStyle/>
                    <a:p>
                      <a:r>
                        <a:rPr sz="1250" b="0" i="0">
                          <a:solidFill>
                            <a:srgbClr val="262626"/>
                          </a:solidFill>
                          <a:latin typeface="Calibri"/>
                        </a:rPr>
                        <a:t>Frequent new variants to defend share</a:t>
                      </a:r>
                    </a:p>
                  </a:txBody>
                  <a:tcPr marL="64008" marR="64008" marT="36576" marB="36576" anchor="ctr">
                    <a:solidFill>
                      <a:srgbClr val="F3F3F3"/>
                    </a:solidFill>
                  </a:tcPr>
                </a:tc>
                <a:tc>
                  <a:txBody>
                    <a:bodyPr/>
                    <a:lstStyle/>
                    <a:p>
                      <a:r>
                        <a:rPr sz="1250" b="0" i="0">
                          <a:solidFill>
                            <a:srgbClr val="262626"/>
                          </a:solidFill>
                          <a:latin typeface="Calibri"/>
                        </a:rPr>
                        <a:t>Functional actives for new SKUs</a:t>
                      </a:r>
                    </a:p>
                  </a:txBody>
                  <a:tcPr marL="64008" marR="64008" marT="36576" marB="36576" anchor="ctr">
                    <a:solidFill>
                      <a:srgbClr val="F3F3F3"/>
                    </a:solidFill>
                  </a:tcPr>
                </a:tc>
                <a:tc>
                  <a:txBody>
                    <a:bodyPr/>
                    <a:lstStyle/>
                    <a:p>
                      <a:r>
                        <a:rPr sz="1250" b="0" i="0">
                          <a:solidFill>
                            <a:srgbClr val="262626"/>
                          </a:solidFill>
                          <a:latin typeface="Calibri"/>
                        </a:rPr>
                        <a:t>Speed-to-market; regulatory dossier ready</a:t>
                      </a:r>
                    </a:p>
                  </a:txBody>
                  <a:tcPr marL="64008" marR="64008" marT="36576" marB="36576" anchor="ctr">
                    <a:solidFill>
                      <a:srgbClr val="F3F3F3"/>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&amp; company public information – hypotheses to be validated. Cosmetic use requires cosmetic-grade documents.</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Value Proposition</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5120640" cy="6263640"/>
          </a:xfrm>
          <a:prstGeom prst="roundRect">
            <a:avLst>
              <a:gd name="adj" fmla="val 4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0080" y="1280160"/>
            <a:ext cx="4754880" cy="457200"/>
          </a:xfrm>
          <a:prstGeom prst="rect">
            <a:avLst/>
          </a:prstGeom>
          <a:noFill/>
        </p:spPr>
        <p:txBody>
          <a:bodyPr wrap="square" lIns="45720" tIns="27432" rIns="45720" bIns="27432" anchor="t"/>
          <a:lstStyle/>
          <a:p>
            <a:pPr algn="l"/>
            <a:r>
              <a:rPr sz="1900" b="1" i="0">
                <a:solidFill>
                  <a:srgbClr val="284F3E"/>
                </a:solidFill>
                <a:latin typeface="Calibri"/>
              </a:rPr>
              <a:t>USP checklist</a:t>
            </a:r>
          </a:p>
        </p:txBody>
      </p:sp>
      <p:sp>
        <p:nvSpPr>
          <p:cNvPr id="10" name="TextBox 9"/>
          <p:cNvSpPr txBox="1"/>
          <p:nvPr/>
        </p:nvSpPr>
        <p:spPr>
          <a:xfrm>
            <a:off x="640080" y="1783080"/>
            <a:ext cx="4754880" cy="365760"/>
          </a:xfrm>
          <a:prstGeom prst="rect">
            <a:avLst/>
          </a:prstGeom>
          <a:noFill/>
        </p:spPr>
        <p:txBody>
          <a:bodyPr wrap="square" lIns="45720" tIns="27432" rIns="45720" bIns="27432" anchor="t"/>
          <a:lstStyle/>
          <a:p>
            <a:pPr algn="l"/>
            <a:r>
              <a:rPr sz="1300" b="1" i="0">
                <a:solidFill>
                  <a:srgbClr val="1E9E57"/>
                </a:solidFill>
                <a:latin typeface="Calibri"/>
              </a:rPr>
              <a:t>Confirmed by CJ BIO public data</a:t>
            </a:r>
          </a:p>
        </p:txBody>
      </p:sp>
      <p:sp>
        <p:nvSpPr>
          <p:cNvPr id="11" name="Oval 10"/>
          <p:cNvSpPr/>
          <p:nvPr/>
        </p:nvSpPr>
        <p:spPr>
          <a:xfrm>
            <a:off x="685800" y="2203703"/>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2" name="TextBox 11"/>
          <p:cNvSpPr txBox="1"/>
          <p:nvPr/>
        </p:nvSpPr>
        <p:spPr>
          <a:xfrm>
            <a:off x="1097280" y="2157984"/>
            <a:ext cx="4389120" cy="384048"/>
          </a:xfrm>
          <a:prstGeom prst="rect">
            <a:avLst/>
          </a:prstGeom>
          <a:noFill/>
        </p:spPr>
        <p:txBody>
          <a:bodyPr wrap="square" lIns="45720" tIns="27432" rIns="45720" bIns="27432" anchor="ctr"/>
          <a:lstStyle/>
          <a:p>
            <a:pPr algn="l"/>
            <a:r>
              <a:rPr sz="1450" b="0" i="0">
                <a:solidFill>
                  <a:srgbClr val="262626"/>
                </a:solidFill>
                <a:latin typeface="Calibri"/>
              </a:rPr>
              <a:t>Natural phosphate alternative, clean label</a:t>
            </a:r>
          </a:p>
        </p:txBody>
      </p:sp>
      <p:sp>
        <p:nvSpPr>
          <p:cNvPr id="13" name="Oval 12"/>
          <p:cNvSpPr/>
          <p:nvPr/>
        </p:nvSpPr>
        <p:spPr>
          <a:xfrm>
            <a:off x="685800" y="261518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4" name="TextBox 13"/>
          <p:cNvSpPr txBox="1"/>
          <p:nvPr/>
        </p:nvSpPr>
        <p:spPr>
          <a:xfrm>
            <a:off x="1097280" y="2569464"/>
            <a:ext cx="4389120" cy="384048"/>
          </a:xfrm>
          <a:prstGeom prst="rect">
            <a:avLst/>
          </a:prstGeom>
          <a:noFill/>
        </p:spPr>
        <p:txBody>
          <a:bodyPr wrap="square" lIns="45720" tIns="27432" rIns="45720" bIns="27432" anchor="ctr"/>
          <a:lstStyle/>
          <a:p>
            <a:pPr algn="l"/>
            <a:r>
              <a:rPr sz="1450" b="0" i="0">
                <a:solidFill>
                  <a:srgbClr val="262626"/>
                </a:solidFill>
                <a:latin typeface="Calibri"/>
              </a:rPr>
              <a:t>E-number free &amp; allergen-free</a:t>
            </a:r>
          </a:p>
        </p:txBody>
      </p:sp>
      <p:sp>
        <p:nvSpPr>
          <p:cNvPr id="15" name="Oval 14"/>
          <p:cNvSpPr/>
          <p:nvPr/>
        </p:nvSpPr>
        <p:spPr>
          <a:xfrm>
            <a:off x="685800" y="302666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6" name="TextBox 15"/>
          <p:cNvSpPr txBox="1"/>
          <p:nvPr/>
        </p:nvSpPr>
        <p:spPr>
          <a:xfrm>
            <a:off x="1097280" y="2980944"/>
            <a:ext cx="4389120" cy="384048"/>
          </a:xfrm>
          <a:prstGeom prst="rect">
            <a:avLst/>
          </a:prstGeom>
          <a:noFill/>
        </p:spPr>
        <p:txBody>
          <a:bodyPr wrap="square" lIns="45720" tIns="27432" rIns="45720" bIns="27432" anchor="ctr"/>
          <a:lstStyle/>
          <a:p>
            <a:pPr algn="l"/>
            <a:r>
              <a:rPr sz="1450" b="0" i="0">
                <a:solidFill>
                  <a:srgbClr val="262626"/>
                </a:solidFill>
                <a:latin typeface="Calibri"/>
              </a:rPr>
              <a:t>High cooking yield, less purge loss</a:t>
            </a:r>
          </a:p>
        </p:txBody>
      </p:sp>
      <p:sp>
        <p:nvSpPr>
          <p:cNvPr id="17" name="Oval 16"/>
          <p:cNvSpPr/>
          <p:nvPr/>
        </p:nvSpPr>
        <p:spPr>
          <a:xfrm>
            <a:off x="685800" y="343814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8" name="TextBox 17"/>
          <p:cNvSpPr txBox="1"/>
          <p:nvPr/>
        </p:nvSpPr>
        <p:spPr>
          <a:xfrm>
            <a:off x="1097280" y="3392424"/>
            <a:ext cx="4389120" cy="384048"/>
          </a:xfrm>
          <a:prstGeom prst="rect">
            <a:avLst/>
          </a:prstGeom>
          <a:noFill/>
        </p:spPr>
        <p:txBody>
          <a:bodyPr wrap="square" lIns="45720" tIns="27432" rIns="45720" bIns="27432" anchor="ctr"/>
          <a:lstStyle/>
          <a:p>
            <a:pPr algn="l"/>
            <a:r>
              <a:rPr sz="1450" b="0" i="0">
                <a:solidFill>
                  <a:srgbClr val="262626"/>
                </a:solidFill>
                <a:latin typeface="Calibri"/>
              </a:rPr>
              <a:t>Moisture retention, texture &amp; taste</a:t>
            </a:r>
          </a:p>
        </p:txBody>
      </p:sp>
      <p:sp>
        <p:nvSpPr>
          <p:cNvPr id="19" name="Oval 18"/>
          <p:cNvSpPr/>
          <p:nvPr/>
        </p:nvSpPr>
        <p:spPr>
          <a:xfrm>
            <a:off x="685800" y="384962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0" name="TextBox 19"/>
          <p:cNvSpPr txBox="1"/>
          <p:nvPr/>
        </p:nvSpPr>
        <p:spPr>
          <a:xfrm>
            <a:off x="1097280" y="3803904"/>
            <a:ext cx="4389120" cy="384048"/>
          </a:xfrm>
          <a:prstGeom prst="rect">
            <a:avLst/>
          </a:prstGeom>
          <a:noFill/>
        </p:spPr>
        <p:txBody>
          <a:bodyPr wrap="square" lIns="45720" tIns="27432" rIns="45720" bIns="27432" anchor="ctr"/>
          <a:lstStyle/>
          <a:p>
            <a:pPr algn="l"/>
            <a:r>
              <a:rPr sz="1450" b="0" i="0">
                <a:solidFill>
                  <a:srgbClr val="262626"/>
                </a:solidFill>
                <a:latin typeface="Calibri"/>
              </a:rPr>
              <a:t>Whole muscle, emulsion, coarse, cold cut, frozen</a:t>
            </a:r>
          </a:p>
        </p:txBody>
      </p:sp>
      <p:sp>
        <p:nvSpPr>
          <p:cNvPr id="21" name="Oval 20"/>
          <p:cNvSpPr/>
          <p:nvPr/>
        </p:nvSpPr>
        <p:spPr>
          <a:xfrm>
            <a:off x="685800" y="426110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2" name="TextBox 21"/>
          <p:cNvSpPr txBox="1"/>
          <p:nvPr/>
        </p:nvSpPr>
        <p:spPr>
          <a:xfrm>
            <a:off x="1097280" y="4215384"/>
            <a:ext cx="4389120" cy="384048"/>
          </a:xfrm>
          <a:prstGeom prst="rect">
            <a:avLst/>
          </a:prstGeom>
          <a:noFill/>
        </p:spPr>
        <p:txBody>
          <a:bodyPr wrap="square" lIns="45720" tIns="27432" rIns="45720" bIns="27432" anchor="ctr"/>
          <a:lstStyle/>
          <a:p>
            <a:pPr algn="l"/>
            <a:r>
              <a:rPr sz="1450" b="0" i="0">
                <a:solidFill>
                  <a:srgbClr val="262626"/>
                </a:solidFill>
                <a:latin typeface="Calibri"/>
              </a:rPr>
              <a:t>Supplied from Indonesia (ASEAN)</a:t>
            </a:r>
          </a:p>
        </p:txBody>
      </p:sp>
      <p:sp>
        <p:nvSpPr>
          <p:cNvPr id="23" name="TextBox 22"/>
          <p:cNvSpPr txBox="1"/>
          <p:nvPr/>
        </p:nvSpPr>
        <p:spPr>
          <a:xfrm>
            <a:off x="640080" y="4736592"/>
            <a:ext cx="4754880" cy="365760"/>
          </a:xfrm>
          <a:prstGeom prst="rect">
            <a:avLst/>
          </a:prstGeom>
          <a:noFill/>
        </p:spPr>
        <p:txBody>
          <a:bodyPr wrap="square" lIns="45720" tIns="27432" rIns="45720" bIns="27432" anchor="t"/>
          <a:lstStyle/>
          <a:p>
            <a:pPr algn="l"/>
            <a:r>
              <a:rPr sz="1300" b="1" i="0">
                <a:solidFill>
                  <a:srgbClr val="C55A11"/>
                </a:solidFill>
                <a:latin typeface="Calibri"/>
              </a:rPr>
              <a:t>To confirm with CJ BIO</a:t>
            </a:r>
          </a:p>
        </p:txBody>
      </p:sp>
      <p:sp>
        <p:nvSpPr>
          <p:cNvPr id="24" name="Oval 23"/>
          <p:cNvSpPr/>
          <p:nvPr/>
        </p:nvSpPr>
        <p:spPr>
          <a:xfrm>
            <a:off x="685800" y="515721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5" name="TextBox 24"/>
          <p:cNvSpPr txBox="1"/>
          <p:nvPr/>
        </p:nvSpPr>
        <p:spPr>
          <a:xfrm>
            <a:off x="1097280" y="5111496"/>
            <a:ext cx="4389120" cy="384048"/>
          </a:xfrm>
          <a:prstGeom prst="rect">
            <a:avLst/>
          </a:prstGeom>
          <a:noFill/>
        </p:spPr>
        <p:txBody>
          <a:bodyPr wrap="square" lIns="45720" tIns="27432" rIns="45720" bIns="27432" anchor="ctr"/>
          <a:lstStyle/>
          <a:p>
            <a:pPr algn="l"/>
            <a:r>
              <a:rPr sz="1450" b="0" i="0">
                <a:solidFill>
                  <a:srgbClr val="262626"/>
                </a:solidFill>
                <a:latin typeface="Calibri"/>
              </a:rPr>
              <a:t>Composition → VN classification &amp; label name</a:t>
            </a:r>
          </a:p>
        </p:txBody>
      </p:sp>
      <p:sp>
        <p:nvSpPr>
          <p:cNvPr id="26" name="Oval 25"/>
          <p:cNvSpPr/>
          <p:nvPr/>
        </p:nvSpPr>
        <p:spPr>
          <a:xfrm>
            <a:off x="685800" y="556869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7" name="TextBox 26"/>
          <p:cNvSpPr txBox="1"/>
          <p:nvPr/>
        </p:nvSpPr>
        <p:spPr>
          <a:xfrm>
            <a:off x="1097280" y="5522976"/>
            <a:ext cx="4389120" cy="384048"/>
          </a:xfrm>
          <a:prstGeom prst="rect">
            <a:avLst/>
          </a:prstGeom>
          <a:noFill/>
        </p:spPr>
        <p:txBody>
          <a:bodyPr wrap="square" lIns="45720" tIns="27432" rIns="45720" bIns="27432" anchor="ctr"/>
          <a:lstStyle/>
          <a:p>
            <a:pPr algn="l"/>
            <a:r>
              <a:rPr sz="1450" b="0" i="0">
                <a:solidFill>
                  <a:srgbClr val="262626"/>
                </a:solidFill>
                <a:latin typeface="Calibri"/>
              </a:rPr>
              <a:t>Halal / Kosher / Non-GMO certificates</a:t>
            </a:r>
          </a:p>
        </p:txBody>
      </p:sp>
      <p:sp>
        <p:nvSpPr>
          <p:cNvPr id="28" name="Oval 27"/>
          <p:cNvSpPr/>
          <p:nvPr/>
        </p:nvSpPr>
        <p:spPr>
          <a:xfrm>
            <a:off x="685800" y="598017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9" name="TextBox 28"/>
          <p:cNvSpPr txBox="1"/>
          <p:nvPr/>
        </p:nvSpPr>
        <p:spPr>
          <a:xfrm>
            <a:off x="1097280" y="5934456"/>
            <a:ext cx="4389120" cy="384048"/>
          </a:xfrm>
          <a:prstGeom prst="rect">
            <a:avLst/>
          </a:prstGeom>
          <a:noFill/>
        </p:spPr>
        <p:txBody>
          <a:bodyPr wrap="square" lIns="45720" tIns="27432" rIns="45720" bIns="27432" anchor="ctr"/>
          <a:lstStyle/>
          <a:p>
            <a:pPr algn="l"/>
            <a:r>
              <a:rPr sz="1450" b="0" i="0">
                <a:solidFill>
                  <a:srgbClr val="262626"/>
                </a:solidFill>
                <a:latin typeface="Calibri"/>
              </a:rPr>
              <a:t>Dosage &amp; cost-in-use benchmarks</a:t>
            </a:r>
          </a:p>
        </p:txBody>
      </p:sp>
      <p:sp>
        <p:nvSpPr>
          <p:cNvPr id="30" name="Oval 29"/>
          <p:cNvSpPr/>
          <p:nvPr/>
        </p:nvSpPr>
        <p:spPr>
          <a:xfrm>
            <a:off x="685800" y="639165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31" name="TextBox 30"/>
          <p:cNvSpPr txBox="1"/>
          <p:nvPr/>
        </p:nvSpPr>
        <p:spPr>
          <a:xfrm>
            <a:off x="1097280" y="6345936"/>
            <a:ext cx="4389120" cy="384048"/>
          </a:xfrm>
          <a:prstGeom prst="rect">
            <a:avLst/>
          </a:prstGeom>
          <a:noFill/>
        </p:spPr>
        <p:txBody>
          <a:bodyPr wrap="square" lIns="45720" tIns="27432" rIns="45720" bIns="27432" anchor="ctr"/>
          <a:lstStyle/>
          <a:p>
            <a:pPr algn="l"/>
            <a:r>
              <a:rPr sz="1450" b="0" i="0">
                <a:solidFill>
                  <a:srgbClr val="262626"/>
                </a:solidFill>
                <a:latin typeface="Calibri"/>
              </a:rPr>
              <a:t>Poultry &amp; seafood performance data</a:t>
            </a:r>
          </a:p>
        </p:txBody>
      </p:sp>
      <p:sp>
        <p:nvSpPr>
          <p:cNvPr id="32" name="Oval 31"/>
          <p:cNvSpPr/>
          <p:nvPr/>
        </p:nvSpPr>
        <p:spPr>
          <a:xfrm>
            <a:off x="685800" y="680313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33" name="TextBox 32"/>
          <p:cNvSpPr txBox="1"/>
          <p:nvPr/>
        </p:nvSpPr>
        <p:spPr>
          <a:xfrm>
            <a:off x="1097280" y="6757416"/>
            <a:ext cx="4389120" cy="384048"/>
          </a:xfrm>
          <a:prstGeom prst="rect">
            <a:avLst/>
          </a:prstGeom>
          <a:noFill/>
        </p:spPr>
        <p:txBody>
          <a:bodyPr wrap="square" lIns="45720" tIns="27432" rIns="45720" bIns="27432" anchor="ctr"/>
          <a:lstStyle/>
          <a:p>
            <a:pPr algn="l"/>
            <a:r>
              <a:rPr sz="1450" b="0" i="0">
                <a:solidFill>
                  <a:srgbClr val="262626"/>
                </a:solidFill>
                <a:latin typeface="Calibri"/>
              </a:rPr>
              <a:t>Shelf life &amp; storage conditions</a:t>
            </a:r>
          </a:p>
        </p:txBody>
      </p:sp>
      <p:sp>
        <p:nvSpPr>
          <p:cNvPr id="34" name="Rounded Rectangle 33"/>
          <p:cNvSpPr/>
          <p:nvPr/>
        </p:nvSpPr>
        <p:spPr>
          <a:xfrm>
            <a:off x="5788152" y="1188720"/>
            <a:ext cx="5943600" cy="1984248"/>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5971032" y="1261872"/>
            <a:ext cx="5577840" cy="411480"/>
          </a:xfrm>
          <a:prstGeom prst="rect">
            <a:avLst/>
          </a:prstGeom>
          <a:noFill/>
        </p:spPr>
        <p:txBody>
          <a:bodyPr wrap="square" lIns="45720" tIns="27432" rIns="45720" bIns="27432" anchor="t"/>
          <a:lstStyle/>
          <a:p>
            <a:pPr algn="l"/>
            <a:r>
              <a:rPr sz="1700" b="1" i="0">
                <a:solidFill>
                  <a:srgbClr val="284F3E"/>
                </a:solidFill>
                <a:latin typeface="Calibri"/>
              </a:rPr>
              <a:t>Gain creators</a:t>
            </a:r>
          </a:p>
        </p:txBody>
      </p:sp>
      <p:sp>
        <p:nvSpPr>
          <p:cNvPr id="36" name="TextBox 35"/>
          <p:cNvSpPr txBox="1"/>
          <p:nvPr/>
        </p:nvSpPr>
        <p:spPr>
          <a:xfrm>
            <a:off x="5971032" y="1691640"/>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Clean-label &amp; premium SKUs at higher price points</a:t>
            </a:r>
          </a:p>
          <a:p>
            <a:pPr marL="182880" indent="-182880" algn="l">
              <a:spcAft>
                <a:spcPts val="500"/>
              </a:spcAft>
              <a:buFont typeface="Arial"/>
              <a:buChar char="•"/>
            </a:pPr>
            <a:r>
              <a:rPr sz="1600" b="0" i="0">
                <a:solidFill>
                  <a:srgbClr val="262626"/>
                </a:solidFill>
                <a:latin typeface="Calibri"/>
              </a:rPr>
              <a:t>Export readiness for demanding buyers</a:t>
            </a:r>
          </a:p>
          <a:p>
            <a:pPr marL="182880" indent="-182880" algn="l">
              <a:spcAft>
                <a:spcPts val="500"/>
              </a:spcAft>
              <a:buFont typeface="Arial"/>
              <a:buChar char="•"/>
            </a:pPr>
            <a:r>
              <a:rPr sz="1600" b="0" i="0">
                <a:solidFill>
                  <a:srgbClr val="262626"/>
                </a:solidFill>
                <a:latin typeface="Calibri"/>
              </a:rPr>
              <a:t>Brand differentiation in modern retail</a:t>
            </a:r>
          </a:p>
        </p:txBody>
      </p:sp>
      <p:sp>
        <p:nvSpPr>
          <p:cNvPr id="37" name="Rounded Rectangle 36"/>
          <p:cNvSpPr/>
          <p:nvPr/>
        </p:nvSpPr>
        <p:spPr>
          <a:xfrm>
            <a:off x="5788152" y="3310128"/>
            <a:ext cx="5943600" cy="1984248"/>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971032" y="3383280"/>
            <a:ext cx="5577840" cy="411480"/>
          </a:xfrm>
          <a:prstGeom prst="rect">
            <a:avLst/>
          </a:prstGeom>
          <a:noFill/>
        </p:spPr>
        <p:txBody>
          <a:bodyPr wrap="square" lIns="45720" tIns="27432" rIns="45720" bIns="27432" anchor="t"/>
          <a:lstStyle/>
          <a:p>
            <a:pPr algn="l"/>
            <a:r>
              <a:rPr sz="1700" b="1" i="0">
                <a:solidFill>
                  <a:srgbClr val="284F3E"/>
                </a:solidFill>
                <a:latin typeface="Calibri"/>
              </a:rPr>
              <a:t>Pain relievers</a:t>
            </a:r>
          </a:p>
        </p:txBody>
      </p:sp>
      <p:sp>
        <p:nvSpPr>
          <p:cNvPr id="39" name="TextBox 38"/>
          <p:cNvSpPr txBox="1"/>
          <p:nvPr/>
        </p:nvSpPr>
        <p:spPr>
          <a:xfrm>
            <a:off x="5971032" y="3813048"/>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Keeps yield &amp; bite when phosphate is removed</a:t>
            </a:r>
          </a:p>
          <a:p>
            <a:pPr marL="182880" indent="-182880" algn="l">
              <a:spcAft>
                <a:spcPts val="500"/>
              </a:spcAft>
              <a:buFont typeface="Arial"/>
              <a:buChar char="•"/>
            </a:pPr>
            <a:r>
              <a:rPr sz="1600" b="0" i="0">
                <a:solidFill>
                  <a:srgbClr val="262626"/>
                </a:solidFill>
                <a:latin typeface="Calibri"/>
              </a:rPr>
              <a:t>Controls purge in vacuum packs &amp; freeze–thaw</a:t>
            </a:r>
          </a:p>
          <a:p>
            <a:pPr marL="182880" indent="-182880" algn="l">
              <a:spcAft>
                <a:spcPts val="500"/>
              </a:spcAft>
              <a:buFont typeface="Arial"/>
              <a:buChar char="•"/>
            </a:pPr>
            <a:r>
              <a:rPr sz="1600" b="0" i="0">
                <a:solidFill>
                  <a:srgbClr val="262626"/>
                </a:solidFill>
                <a:latin typeface="Calibri"/>
              </a:rPr>
              <a:t>Avoids soapy / metallic notes of phosphate overdose</a:t>
            </a:r>
          </a:p>
        </p:txBody>
      </p:sp>
      <p:sp>
        <p:nvSpPr>
          <p:cNvPr id="40" name="Rounded Rectangle 39"/>
          <p:cNvSpPr/>
          <p:nvPr/>
        </p:nvSpPr>
        <p:spPr>
          <a:xfrm>
            <a:off x="5788152" y="5431536"/>
            <a:ext cx="5943600" cy="1984248"/>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5971032" y="5504688"/>
            <a:ext cx="5577840" cy="411480"/>
          </a:xfrm>
          <a:prstGeom prst="rect">
            <a:avLst/>
          </a:prstGeom>
          <a:noFill/>
        </p:spPr>
        <p:txBody>
          <a:bodyPr wrap="square" lIns="45720" tIns="27432" rIns="45720" bIns="27432" anchor="t"/>
          <a:lstStyle/>
          <a:p>
            <a:pPr algn="l"/>
            <a:r>
              <a:rPr sz="1700" b="1" i="0">
                <a:solidFill>
                  <a:srgbClr val="284F3E"/>
                </a:solidFill>
                <a:latin typeface="Calibri"/>
              </a:rPr>
              <a:t>Products &amp; services</a:t>
            </a:r>
          </a:p>
        </p:txBody>
      </p:sp>
      <p:sp>
        <p:nvSpPr>
          <p:cNvPr id="42" name="TextBox 41"/>
          <p:cNvSpPr txBox="1"/>
          <p:nvPr/>
        </p:nvSpPr>
        <p:spPr>
          <a:xfrm>
            <a:off x="5971032" y="5934455"/>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TasteNrich® HYBIND</a:t>
            </a:r>
          </a:p>
          <a:p>
            <a:pPr marL="182880" indent="-182880" algn="l">
              <a:spcAft>
                <a:spcPts val="500"/>
              </a:spcAft>
              <a:buFont typeface="Arial"/>
              <a:buChar char="•"/>
            </a:pPr>
            <a:r>
              <a:rPr sz="1600" b="0" i="0">
                <a:solidFill>
                  <a:srgbClr val="262626"/>
                </a:solidFill>
                <a:latin typeface="Calibri"/>
              </a:rPr>
              <a:t>BJCS application support &amp; trial protocol</a:t>
            </a:r>
          </a:p>
          <a:p>
            <a:pPr marL="182880" indent="-182880" algn="l">
              <a:spcAft>
                <a:spcPts val="500"/>
              </a:spcAft>
              <a:buFont typeface="Arial"/>
              <a:buChar char="•"/>
            </a:pPr>
            <a:r>
              <a:rPr sz="1600" b="0" i="0">
                <a:solidFill>
                  <a:srgbClr val="262626"/>
                </a:solidFill>
                <a:latin typeface="Calibri"/>
              </a:rPr>
              <a:t>Regulatory dossier &amp; label-naming guidance</a:t>
            </a:r>
          </a:p>
        </p:txBody>
      </p:sp>
      <p:sp>
        <p:nvSpPr>
          <p:cNvPr id="43" name="Rounded Rectangle 42"/>
          <p:cNvSpPr/>
          <p:nvPr/>
        </p:nvSpPr>
        <p:spPr>
          <a:xfrm>
            <a:off x="457200" y="7635240"/>
            <a:ext cx="11274552" cy="914400"/>
          </a:xfrm>
          <a:prstGeom prst="roundRect">
            <a:avLst>
              <a:gd name="adj" fmla="val 10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BFE3CC"/>
                </a:solidFill>
                <a:latin typeface="Calibri"/>
              </a:rPr>
              <a:t>TCO logic:  </a:t>
            </a:r>
            <a:r>
              <a:rPr sz="1500" b="0" i="0">
                <a:solidFill>
                  <a:srgbClr val="FFFFFF"/>
                </a:solidFill>
                <a:latin typeface="Calibri"/>
              </a:rPr>
              <a:t>net cost per kg finished product = ingredient cost difference − value of extra cooking yield − premium / export uplift</a:t>
            </a:r>
          </a:p>
          <a:p>
            <a:pPr algn="ctr"/>
            <a:r>
              <a:rPr sz="1400" b="1" i="0">
                <a:solidFill>
                  <a:srgbClr val="BFE3CC"/>
                </a:solidFill>
                <a:latin typeface="Calibri"/>
              </a:rPr>
              <a:t>Sell cost-in-use, not price per kg</a:t>
            </a:r>
          </a:p>
        </p:txBody>
      </p:sp>
      <p:sp>
        <p:nvSpPr>
          <p:cNvPr id="44" name="TextBox 43"/>
          <p:cNvSpPr txBox="1"/>
          <p:nvPr/>
        </p:nvSpPr>
        <p:spPr>
          <a:xfrm>
            <a:off x="457200" y="8668512"/>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cjbio.net – TasteNrich® HYBIND product page (Oct 2026); Ingredients Network; canvas &amp; TCO: BJC Vietnam experience.</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HYBIND – Customer Pain Points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40080" y="132588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balance_w.png"/>
          <p:cNvPicPr>
            <a:picLocks noChangeAspect="1"/>
          </p:cNvPicPr>
          <p:nvPr/>
        </p:nvPicPr>
        <p:blipFill>
          <a:blip r:embed="rId7"/>
          <a:stretch>
            <a:fillRect/>
          </a:stretch>
        </p:blipFill>
        <p:spPr>
          <a:xfrm>
            <a:off x="771753" y="1457553"/>
            <a:ext cx="285292" cy="285292"/>
          </a:xfrm>
          <a:prstGeom prst="rect">
            <a:avLst/>
          </a:prstGeom>
        </p:spPr>
      </p:pic>
      <p:sp>
        <p:nvSpPr>
          <p:cNvPr id="11" name="TextBox 10"/>
          <p:cNvSpPr txBox="1"/>
          <p:nvPr/>
        </p:nvSpPr>
        <p:spPr>
          <a:xfrm>
            <a:off x="1325880" y="1325880"/>
            <a:ext cx="4480560" cy="548640"/>
          </a:xfrm>
          <a:prstGeom prst="rect">
            <a:avLst/>
          </a:prstGeom>
          <a:noFill/>
        </p:spPr>
        <p:txBody>
          <a:bodyPr wrap="square" lIns="45720" tIns="27432" rIns="45720" bIns="27432" anchor="ctr"/>
          <a:lstStyle/>
          <a:p>
            <a:pPr algn="l"/>
            <a:r>
              <a:rPr sz="1800" b="1" i="0">
                <a:solidFill>
                  <a:srgbClr val="284F3E"/>
                </a:solidFill>
                <a:latin typeface="Calibri"/>
              </a:rPr>
              <a:t>Cost &amp; economics</a:t>
            </a:r>
          </a:p>
        </p:txBody>
      </p:sp>
      <p:sp>
        <p:nvSpPr>
          <p:cNvPr id="12" name="TextBox 11"/>
          <p:cNvSpPr txBox="1"/>
          <p:nvPr/>
        </p:nvSpPr>
        <p:spPr>
          <a:xfrm>
            <a:off x="640080" y="1965960"/>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13" name="TextBox 12"/>
          <p:cNvSpPr txBox="1"/>
          <p:nvPr/>
        </p:nvSpPr>
        <p:spPr>
          <a:xfrm>
            <a:off x="640080" y="228600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Higher cost per kg than phosphate</a:t>
            </a:r>
          </a:p>
          <a:p>
            <a:pPr marL="182880" indent="-182880" algn="l">
              <a:spcAft>
                <a:spcPts val="600"/>
              </a:spcAft>
              <a:buFont typeface="Arial"/>
              <a:buChar char="•"/>
            </a:pPr>
            <a:r>
              <a:rPr sz="1500" b="0" i="0">
                <a:solidFill>
                  <a:srgbClr val="262626"/>
                </a:solidFill>
                <a:latin typeface="Calibri"/>
              </a:rPr>
              <a:t>Margin pressure</a:t>
            </a:r>
          </a:p>
          <a:p>
            <a:pPr marL="182880" indent="-182880" algn="l">
              <a:spcAft>
                <a:spcPts val="600"/>
              </a:spcAft>
              <a:buFont typeface="Arial"/>
              <a:buChar char="•"/>
            </a:pPr>
            <a:r>
              <a:rPr sz="1500" b="0" i="0">
                <a:solidFill>
                  <a:srgbClr val="262626"/>
                </a:solidFill>
                <a:latin typeface="Calibri"/>
              </a:rPr>
              <a:t>ROI uncertainty</a:t>
            </a:r>
          </a:p>
        </p:txBody>
      </p:sp>
      <p:sp>
        <p:nvSpPr>
          <p:cNvPr id="14" name="Rounded Rectangle 13"/>
          <p:cNvSpPr/>
          <p:nvPr/>
        </p:nvSpPr>
        <p:spPr>
          <a:xfrm>
            <a:off x="3246120" y="1965960"/>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337560" y="201168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16" name="TextBox 15"/>
          <p:cNvSpPr txBox="1"/>
          <p:nvPr/>
        </p:nvSpPr>
        <p:spPr>
          <a:xfrm>
            <a:off x="3337560" y="233172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Cost-in-use model per kg finished product</a:t>
            </a:r>
          </a:p>
          <a:p>
            <a:pPr marL="182880" indent="-182880" algn="l">
              <a:spcAft>
                <a:spcPts val="600"/>
              </a:spcAft>
              <a:buFont typeface="Arial"/>
              <a:buChar char="•"/>
            </a:pPr>
            <a:r>
              <a:rPr sz="1500" b="0" i="0">
                <a:solidFill>
                  <a:srgbClr val="262626"/>
                </a:solidFill>
                <a:latin typeface="Calibri"/>
              </a:rPr>
              <a:t>Yield gain offsets price gap</a:t>
            </a:r>
          </a:p>
          <a:p>
            <a:pPr marL="182880" indent="-182880" algn="l">
              <a:spcAft>
                <a:spcPts val="600"/>
              </a:spcAft>
              <a:buFont typeface="Arial"/>
              <a:buChar char="•"/>
            </a:pPr>
            <a:r>
              <a:rPr sz="1500" b="0" i="0">
                <a:solidFill>
                  <a:srgbClr val="262626"/>
                </a:solidFill>
                <a:latin typeface="Calibri"/>
              </a:rPr>
              <a:t>Target premium &amp; export SKUs first</a:t>
            </a:r>
          </a:p>
        </p:txBody>
      </p:sp>
      <p:sp>
        <p:nvSpPr>
          <p:cNvPr id="17" name="Rounded Rectangle 16"/>
          <p:cNvSpPr/>
          <p:nvPr/>
        </p:nvSpPr>
        <p:spPr>
          <a:xfrm>
            <a:off x="6245352" y="118872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428232" y="132588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lask_w.png"/>
          <p:cNvPicPr>
            <a:picLocks noChangeAspect="1"/>
          </p:cNvPicPr>
          <p:nvPr/>
        </p:nvPicPr>
        <p:blipFill>
          <a:blip r:embed="rId8"/>
          <a:stretch>
            <a:fillRect/>
          </a:stretch>
        </p:blipFill>
        <p:spPr>
          <a:xfrm>
            <a:off x="6559905" y="1457553"/>
            <a:ext cx="285292" cy="285292"/>
          </a:xfrm>
          <a:prstGeom prst="rect">
            <a:avLst/>
          </a:prstGeom>
        </p:spPr>
      </p:pic>
      <p:sp>
        <p:nvSpPr>
          <p:cNvPr id="20" name="TextBox 19"/>
          <p:cNvSpPr txBox="1"/>
          <p:nvPr/>
        </p:nvSpPr>
        <p:spPr>
          <a:xfrm>
            <a:off x="7114032" y="1325880"/>
            <a:ext cx="4480560" cy="548640"/>
          </a:xfrm>
          <a:prstGeom prst="rect">
            <a:avLst/>
          </a:prstGeom>
          <a:noFill/>
        </p:spPr>
        <p:txBody>
          <a:bodyPr wrap="square" lIns="45720" tIns="27432" rIns="45720" bIns="27432" anchor="ctr"/>
          <a:lstStyle/>
          <a:p>
            <a:pPr algn="l"/>
            <a:r>
              <a:rPr sz="1800" b="1" i="0">
                <a:solidFill>
                  <a:srgbClr val="284F3E"/>
                </a:solidFill>
                <a:latin typeface="Calibri"/>
              </a:rPr>
              <a:t>Technical performance</a:t>
            </a:r>
          </a:p>
        </p:txBody>
      </p:sp>
      <p:sp>
        <p:nvSpPr>
          <p:cNvPr id="21" name="TextBox 20"/>
          <p:cNvSpPr txBox="1"/>
          <p:nvPr/>
        </p:nvSpPr>
        <p:spPr>
          <a:xfrm>
            <a:off x="6428232" y="1965960"/>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22" name="TextBox 21"/>
          <p:cNvSpPr txBox="1"/>
          <p:nvPr/>
        </p:nvSpPr>
        <p:spPr>
          <a:xfrm>
            <a:off x="6428232" y="228600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Water-holding gap vs. phosphate</a:t>
            </a:r>
          </a:p>
          <a:p>
            <a:pPr marL="182880" indent="-182880" algn="l">
              <a:spcAft>
                <a:spcPts val="600"/>
              </a:spcAft>
              <a:buFont typeface="Arial"/>
              <a:buChar char="•"/>
            </a:pPr>
            <a:r>
              <a:rPr sz="1500" b="0" i="0">
                <a:solidFill>
                  <a:srgbClr val="262626"/>
                </a:solidFill>
                <a:latin typeface="Calibri"/>
              </a:rPr>
              <a:t>Purge in vacuum packs, freeze–thaw</a:t>
            </a:r>
          </a:p>
          <a:p>
            <a:pPr marL="182880" indent="-182880" algn="l">
              <a:spcAft>
                <a:spcPts val="600"/>
              </a:spcAft>
              <a:buFont typeface="Arial"/>
              <a:buChar char="•"/>
            </a:pPr>
            <a:r>
              <a:rPr sz="1500" b="0" i="0">
                <a:solidFill>
                  <a:srgbClr val="262626"/>
                </a:solidFill>
                <a:latin typeface="Calibri"/>
              </a:rPr>
              <a:t>Texture: bite &amp; elasticity</a:t>
            </a:r>
          </a:p>
          <a:p>
            <a:pPr marL="182880" indent="-182880" algn="l">
              <a:spcAft>
                <a:spcPts val="600"/>
              </a:spcAft>
              <a:buFont typeface="Arial"/>
              <a:buChar char="•"/>
            </a:pPr>
            <a:r>
              <a:rPr sz="1500" b="0" i="0">
                <a:solidFill>
                  <a:srgbClr val="262626"/>
                </a:solidFill>
                <a:latin typeface="Calibri"/>
              </a:rPr>
              <a:t>Process changes (chopping, pH)</a:t>
            </a:r>
          </a:p>
        </p:txBody>
      </p:sp>
      <p:sp>
        <p:nvSpPr>
          <p:cNvPr id="23" name="Rounded Rectangle 22"/>
          <p:cNvSpPr/>
          <p:nvPr/>
        </p:nvSpPr>
        <p:spPr>
          <a:xfrm>
            <a:off x="9034272" y="1965960"/>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125712" y="201168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25" name="TextBox 24"/>
          <p:cNvSpPr txBox="1"/>
          <p:nvPr/>
        </p:nvSpPr>
        <p:spPr>
          <a:xfrm>
            <a:off x="9125712" y="233172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Lab trial → pilot plant trial</a:t>
            </a:r>
          </a:p>
          <a:p>
            <a:pPr marL="182880" indent="-182880" algn="l">
              <a:spcAft>
                <a:spcPts val="600"/>
              </a:spcAft>
              <a:buFont typeface="Arial"/>
              <a:buChar char="•"/>
            </a:pPr>
            <a:r>
              <a:rPr sz="1500" b="0" i="0">
                <a:solidFill>
                  <a:srgbClr val="262626"/>
                </a:solidFill>
                <a:latin typeface="Calibri"/>
              </a:rPr>
              <a:t>Dosage optimization with CJ data</a:t>
            </a:r>
          </a:p>
          <a:p>
            <a:pPr marL="182880" indent="-182880" algn="l">
              <a:spcAft>
                <a:spcPts val="600"/>
              </a:spcAft>
              <a:buFont typeface="Arial"/>
              <a:buChar char="•"/>
            </a:pPr>
            <a:r>
              <a:rPr sz="1500" b="0" i="0">
                <a:solidFill>
                  <a:srgbClr val="262626"/>
                </a:solidFill>
                <a:latin typeface="Calibri"/>
              </a:rPr>
              <a:t>Meat equipment at BJCS lab</a:t>
            </a:r>
          </a:p>
        </p:txBody>
      </p:sp>
      <p:sp>
        <p:nvSpPr>
          <p:cNvPr id="26" name="Rounded Rectangle 25"/>
          <p:cNvSpPr/>
          <p:nvPr/>
        </p:nvSpPr>
        <p:spPr>
          <a:xfrm>
            <a:off x="457200" y="489204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640080" y="502920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leaf_w.png"/>
          <p:cNvPicPr>
            <a:picLocks noChangeAspect="1"/>
          </p:cNvPicPr>
          <p:nvPr/>
        </p:nvPicPr>
        <p:blipFill>
          <a:blip r:embed="rId9"/>
          <a:stretch>
            <a:fillRect/>
          </a:stretch>
        </p:blipFill>
        <p:spPr>
          <a:xfrm>
            <a:off x="771753" y="5160873"/>
            <a:ext cx="285292" cy="285292"/>
          </a:xfrm>
          <a:prstGeom prst="rect">
            <a:avLst/>
          </a:prstGeom>
        </p:spPr>
      </p:pic>
      <p:sp>
        <p:nvSpPr>
          <p:cNvPr id="29" name="TextBox 28"/>
          <p:cNvSpPr txBox="1"/>
          <p:nvPr/>
        </p:nvSpPr>
        <p:spPr>
          <a:xfrm>
            <a:off x="1325880" y="5029200"/>
            <a:ext cx="4480560" cy="548640"/>
          </a:xfrm>
          <a:prstGeom prst="rect">
            <a:avLst/>
          </a:prstGeom>
          <a:noFill/>
        </p:spPr>
        <p:txBody>
          <a:bodyPr wrap="square" lIns="45720" tIns="27432" rIns="45720" bIns="27432" anchor="ctr"/>
          <a:lstStyle/>
          <a:p>
            <a:pPr algn="l"/>
            <a:r>
              <a:rPr sz="1800" b="1" i="0">
                <a:solidFill>
                  <a:srgbClr val="284F3E"/>
                </a:solidFill>
                <a:latin typeface="Calibri"/>
              </a:rPr>
              <a:t>Sensory</a:t>
            </a:r>
          </a:p>
        </p:txBody>
      </p:sp>
      <p:sp>
        <p:nvSpPr>
          <p:cNvPr id="30" name="TextBox 29"/>
          <p:cNvSpPr txBox="1"/>
          <p:nvPr/>
        </p:nvSpPr>
        <p:spPr>
          <a:xfrm>
            <a:off x="640080" y="5669279"/>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31" name="TextBox 30"/>
          <p:cNvSpPr txBox="1"/>
          <p:nvPr/>
        </p:nvSpPr>
        <p:spPr>
          <a:xfrm>
            <a:off x="640080" y="598932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Fermented off-note or aftertaste</a:t>
            </a:r>
          </a:p>
          <a:p>
            <a:pPr marL="182880" indent="-182880" algn="l">
              <a:spcAft>
                <a:spcPts val="600"/>
              </a:spcAft>
              <a:buFont typeface="Arial"/>
              <a:buChar char="•"/>
            </a:pPr>
            <a:r>
              <a:rPr sz="1500" b="0" i="0">
                <a:solidFill>
                  <a:srgbClr val="262626"/>
                </a:solidFill>
                <a:latin typeface="Calibri"/>
              </a:rPr>
              <a:t>Colour change (pink tone)</a:t>
            </a:r>
          </a:p>
          <a:p>
            <a:pPr marL="182880" indent="-182880" algn="l">
              <a:spcAft>
                <a:spcPts val="600"/>
              </a:spcAft>
              <a:buFont typeface="Arial"/>
              <a:buChar char="•"/>
            </a:pPr>
            <a:r>
              <a:rPr sz="1500" b="0" i="0">
                <a:solidFill>
                  <a:srgbClr val="262626"/>
                </a:solidFill>
                <a:latin typeface="Calibri"/>
              </a:rPr>
              <a:t>Masking of meat flavour</a:t>
            </a:r>
          </a:p>
        </p:txBody>
      </p:sp>
      <p:sp>
        <p:nvSpPr>
          <p:cNvPr id="32" name="Rounded Rectangle 31"/>
          <p:cNvSpPr/>
          <p:nvPr/>
        </p:nvSpPr>
        <p:spPr>
          <a:xfrm>
            <a:off x="3246120" y="5669279"/>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37560" y="571500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34" name="TextBox 33"/>
          <p:cNvSpPr txBox="1"/>
          <p:nvPr/>
        </p:nvSpPr>
        <p:spPr>
          <a:xfrm>
            <a:off x="3337560" y="603504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Blind sensory test vs. current formula</a:t>
            </a:r>
          </a:p>
          <a:p>
            <a:pPr marL="182880" indent="-182880" algn="l">
              <a:spcAft>
                <a:spcPts val="600"/>
              </a:spcAft>
              <a:buFont typeface="Arial"/>
              <a:buChar char="•"/>
            </a:pPr>
            <a:r>
              <a:rPr sz="1500" b="0" i="0">
                <a:solidFill>
                  <a:srgbClr val="262626"/>
                </a:solidFill>
                <a:latin typeface="Calibri"/>
              </a:rPr>
              <a:t>Flavor fine-tuning with BJCS flavor partner (dsm-firmenich)</a:t>
            </a:r>
          </a:p>
        </p:txBody>
      </p:sp>
      <p:sp>
        <p:nvSpPr>
          <p:cNvPr id="35" name="Rounded Rectangle 34"/>
          <p:cNvSpPr/>
          <p:nvPr/>
        </p:nvSpPr>
        <p:spPr>
          <a:xfrm>
            <a:off x="6245352" y="489204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6428232" y="502920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check_w.png"/>
          <p:cNvPicPr>
            <a:picLocks noChangeAspect="1"/>
          </p:cNvPicPr>
          <p:nvPr/>
        </p:nvPicPr>
        <p:blipFill>
          <a:blip r:embed="rId10"/>
          <a:stretch>
            <a:fillRect/>
          </a:stretch>
        </p:blipFill>
        <p:spPr>
          <a:xfrm>
            <a:off x="6559905" y="5160873"/>
            <a:ext cx="285292" cy="285292"/>
          </a:xfrm>
          <a:prstGeom prst="rect">
            <a:avLst/>
          </a:prstGeom>
        </p:spPr>
      </p:pic>
      <p:sp>
        <p:nvSpPr>
          <p:cNvPr id="38" name="TextBox 37"/>
          <p:cNvSpPr txBox="1"/>
          <p:nvPr/>
        </p:nvSpPr>
        <p:spPr>
          <a:xfrm>
            <a:off x="7114032" y="5029200"/>
            <a:ext cx="4480560" cy="548640"/>
          </a:xfrm>
          <a:prstGeom prst="rect">
            <a:avLst/>
          </a:prstGeom>
          <a:noFill/>
        </p:spPr>
        <p:txBody>
          <a:bodyPr wrap="square" lIns="45720" tIns="27432" rIns="45720" bIns="27432" anchor="ctr"/>
          <a:lstStyle/>
          <a:p>
            <a:pPr algn="l"/>
            <a:r>
              <a:rPr sz="1800" b="1" i="0">
                <a:solidFill>
                  <a:srgbClr val="284F3E"/>
                </a:solidFill>
                <a:latin typeface="Calibri"/>
              </a:rPr>
              <a:t>Operations &amp; regulatory</a:t>
            </a:r>
          </a:p>
        </p:txBody>
      </p:sp>
      <p:sp>
        <p:nvSpPr>
          <p:cNvPr id="39" name="TextBox 38"/>
          <p:cNvSpPr txBox="1"/>
          <p:nvPr/>
        </p:nvSpPr>
        <p:spPr>
          <a:xfrm>
            <a:off x="6428232" y="5669279"/>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40" name="TextBox 39"/>
          <p:cNvSpPr txBox="1"/>
          <p:nvPr/>
        </p:nvSpPr>
        <p:spPr>
          <a:xfrm>
            <a:off x="6428232" y="598932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R&amp;D workload for reformulation</a:t>
            </a:r>
          </a:p>
          <a:p>
            <a:pPr marL="182880" indent="-182880" algn="l">
              <a:spcAft>
                <a:spcPts val="600"/>
              </a:spcAft>
              <a:buFont typeface="Arial"/>
              <a:buChar char="•"/>
            </a:pPr>
            <a:r>
              <a:rPr sz="1500" b="0" i="0">
                <a:solidFill>
                  <a:srgbClr val="262626"/>
                </a:solidFill>
                <a:latin typeface="Calibri"/>
              </a:rPr>
              <a:t>Ingredient naming on labels</a:t>
            </a:r>
          </a:p>
          <a:p>
            <a:pPr marL="182880" indent="-182880" algn="l">
              <a:spcAft>
                <a:spcPts val="600"/>
              </a:spcAft>
              <a:buFont typeface="Arial"/>
              <a:buChar char="•"/>
            </a:pPr>
            <a:r>
              <a:rPr sz="1500" b="0" i="0">
                <a:solidFill>
                  <a:srgbClr val="262626"/>
                </a:solidFill>
                <a:latin typeface="Calibri"/>
              </a:rPr>
              <a:t>Import supply continuity</a:t>
            </a:r>
          </a:p>
        </p:txBody>
      </p:sp>
      <p:sp>
        <p:nvSpPr>
          <p:cNvPr id="41" name="Rounded Rectangle 40"/>
          <p:cNvSpPr/>
          <p:nvPr/>
        </p:nvSpPr>
        <p:spPr>
          <a:xfrm>
            <a:off x="9034272" y="5669279"/>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125712" y="571500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43" name="TextBox 42"/>
          <p:cNvSpPr txBox="1"/>
          <p:nvPr/>
        </p:nvSpPr>
        <p:spPr>
          <a:xfrm>
            <a:off x="9125712" y="603504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Turn-key trial protocol with customer R&amp;D</a:t>
            </a:r>
          </a:p>
          <a:p>
            <a:pPr marL="182880" indent="-182880" algn="l">
              <a:spcAft>
                <a:spcPts val="600"/>
              </a:spcAft>
              <a:buFont typeface="Arial"/>
              <a:buChar char="•"/>
            </a:pPr>
            <a:r>
              <a:rPr sz="1500" b="0" i="0">
                <a:solidFill>
                  <a:srgbClr val="262626"/>
                </a:solidFill>
                <a:latin typeface="Calibri"/>
              </a:rPr>
              <a:t>Regulatory &amp; label guidance</a:t>
            </a:r>
          </a:p>
          <a:p>
            <a:pPr marL="182880" indent="-182880" algn="l">
              <a:spcAft>
                <a:spcPts val="600"/>
              </a:spcAft>
              <a:buFont typeface="Arial"/>
              <a:buChar char="•"/>
            </a:pPr>
            <a:r>
              <a:rPr sz="1500" b="0" i="0">
                <a:solidFill>
                  <a:srgbClr val="262626"/>
                </a:solidFill>
                <a:latin typeface="Calibri"/>
              </a:rPr>
              <a:t>Ex-stock inventory in Vietnam</a:t>
            </a:r>
          </a:p>
        </p:txBody>
      </p:sp>
      <p:sp>
        <p:nvSpPr>
          <p:cNvPr id="44" name="TextBox 43"/>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with meat &amp; seafood processors.</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FGAA – Value Proposition</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5120640" cy="6263640"/>
          </a:xfrm>
          <a:prstGeom prst="roundRect">
            <a:avLst>
              <a:gd name="adj" fmla="val 4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40080" y="1280160"/>
            <a:ext cx="4754880" cy="457200"/>
          </a:xfrm>
          <a:prstGeom prst="rect">
            <a:avLst/>
          </a:prstGeom>
          <a:noFill/>
        </p:spPr>
        <p:txBody>
          <a:bodyPr wrap="square" lIns="45720" tIns="27432" rIns="45720" bIns="27432" anchor="t"/>
          <a:lstStyle/>
          <a:p>
            <a:pPr algn="l"/>
            <a:r>
              <a:rPr sz="1900" b="1" i="0">
                <a:solidFill>
                  <a:srgbClr val="284F3E"/>
                </a:solidFill>
                <a:latin typeface="Calibri"/>
              </a:rPr>
              <a:t>USP checklist</a:t>
            </a:r>
          </a:p>
        </p:txBody>
      </p:sp>
      <p:sp>
        <p:nvSpPr>
          <p:cNvPr id="10" name="TextBox 9"/>
          <p:cNvSpPr txBox="1"/>
          <p:nvPr/>
        </p:nvSpPr>
        <p:spPr>
          <a:xfrm>
            <a:off x="640080" y="1783080"/>
            <a:ext cx="4754880" cy="365760"/>
          </a:xfrm>
          <a:prstGeom prst="rect">
            <a:avLst/>
          </a:prstGeom>
          <a:noFill/>
        </p:spPr>
        <p:txBody>
          <a:bodyPr wrap="square" lIns="45720" tIns="27432" rIns="45720" bIns="27432" anchor="t"/>
          <a:lstStyle/>
          <a:p>
            <a:pPr algn="l"/>
            <a:r>
              <a:rPr sz="1300" b="1" i="0">
                <a:solidFill>
                  <a:srgbClr val="1E9E57"/>
                </a:solidFill>
                <a:latin typeface="Calibri"/>
              </a:rPr>
              <a:t>Confirmed by CJ BIO public data</a:t>
            </a:r>
          </a:p>
        </p:txBody>
      </p:sp>
      <p:sp>
        <p:nvSpPr>
          <p:cNvPr id="11" name="Oval 10"/>
          <p:cNvSpPr/>
          <p:nvPr/>
        </p:nvSpPr>
        <p:spPr>
          <a:xfrm>
            <a:off x="685800" y="2203703"/>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2" name="TextBox 11"/>
          <p:cNvSpPr txBox="1"/>
          <p:nvPr/>
        </p:nvSpPr>
        <p:spPr>
          <a:xfrm>
            <a:off x="1097280" y="2157984"/>
            <a:ext cx="4389120" cy="384048"/>
          </a:xfrm>
          <a:prstGeom prst="rect">
            <a:avLst/>
          </a:prstGeom>
          <a:noFill/>
        </p:spPr>
        <p:txBody>
          <a:bodyPr wrap="square" lIns="45720" tIns="27432" rIns="45720" bIns="27432" anchor="ctr"/>
          <a:lstStyle/>
          <a:p>
            <a:pPr algn="l"/>
            <a:r>
              <a:rPr sz="1450" b="0" i="0">
                <a:solidFill>
                  <a:srgbClr val="262626"/>
                </a:solidFill>
                <a:latin typeface="Calibri"/>
              </a:rPr>
              <a:t>Fermented from non-GMO plant material</a:t>
            </a:r>
          </a:p>
        </p:txBody>
      </p:sp>
      <p:sp>
        <p:nvSpPr>
          <p:cNvPr id="13" name="Oval 12"/>
          <p:cNvSpPr/>
          <p:nvPr/>
        </p:nvSpPr>
        <p:spPr>
          <a:xfrm>
            <a:off x="685800" y="261518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4" name="TextBox 13"/>
          <p:cNvSpPr txBox="1"/>
          <p:nvPr/>
        </p:nvSpPr>
        <p:spPr>
          <a:xfrm>
            <a:off x="1097280" y="2569464"/>
            <a:ext cx="4389120" cy="384048"/>
          </a:xfrm>
          <a:prstGeom prst="rect">
            <a:avLst/>
          </a:prstGeom>
          <a:noFill/>
        </p:spPr>
        <p:txBody>
          <a:bodyPr wrap="square" lIns="45720" tIns="27432" rIns="45720" bIns="27432" anchor="ctr"/>
          <a:lstStyle/>
          <a:p>
            <a:pPr algn="l"/>
            <a:r>
              <a:rPr sz="1450" b="0" i="0">
                <a:solidFill>
                  <a:srgbClr val="262626"/>
                </a:solidFill>
                <a:latin typeface="Calibri"/>
              </a:rPr>
              <a:t>Vegan · Non-GMO · non-animal origin</a:t>
            </a:r>
          </a:p>
        </p:txBody>
      </p:sp>
      <p:sp>
        <p:nvSpPr>
          <p:cNvPr id="15" name="Oval 14"/>
          <p:cNvSpPr/>
          <p:nvPr/>
        </p:nvSpPr>
        <p:spPr>
          <a:xfrm>
            <a:off x="685800" y="302666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6" name="TextBox 15"/>
          <p:cNvSpPr txBox="1"/>
          <p:nvPr/>
        </p:nvSpPr>
        <p:spPr>
          <a:xfrm>
            <a:off x="1097280" y="2980944"/>
            <a:ext cx="4389120" cy="384048"/>
          </a:xfrm>
          <a:prstGeom prst="rect">
            <a:avLst/>
          </a:prstGeom>
          <a:noFill/>
        </p:spPr>
        <p:txBody>
          <a:bodyPr wrap="square" lIns="45720" tIns="27432" rIns="45720" bIns="27432" anchor="ctr"/>
          <a:lstStyle/>
          <a:p>
            <a:pPr algn="l"/>
            <a:r>
              <a:rPr sz="1450" b="0" i="0">
                <a:solidFill>
                  <a:srgbClr val="262626"/>
                </a:solidFill>
                <a:latin typeface="Calibri"/>
              </a:rPr>
              <a:t>Arginine: protein building &amp; NO release</a:t>
            </a:r>
          </a:p>
        </p:txBody>
      </p:sp>
      <p:sp>
        <p:nvSpPr>
          <p:cNvPr id="17" name="Oval 16"/>
          <p:cNvSpPr/>
          <p:nvPr/>
        </p:nvSpPr>
        <p:spPr>
          <a:xfrm>
            <a:off x="685800" y="343814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18" name="TextBox 17"/>
          <p:cNvSpPr txBox="1"/>
          <p:nvPr/>
        </p:nvSpPr>
        <p:spPr>
          <a:xfrm>
            <a:off x="1097280" y="3392424"/>
            <a:ext cx="4389120" cy="384048"/>
          </a:xfrm>
          <a:prstGeom prst="rect">
            <a:avLst/>
          </a:prstGeom>
          <a:noFill/>
        </p:spPr>
        <p:txBody>
          <a:bodyPr wrap="square" lIns="45720" tIns="27432" rIns="45720" bIns="27432" anchor="ctr"/>
          <a:lstStyle/>
          <a:p>
            <a:pPr algn="l"/>
            <a:r>
              <a:rPr sz="1450" b="0" i="0">
                <a:solidFill>
                  <a:srgbClr val="262626"/>
                </a:solidFill>
                <a:latin typeface="Calibri"/>
              </a:rPr>
              <a:t>Histidine: muscle &amp; brain metabolism, carnosine</a:t>
            </a:r>
          </a:p>
        </p:txBody>
      </p:sp>
      <p:sp>
        <p:nvSpPr>
          <p:cNvPr id="19" name="Oval 18"/>
          <p:cNvSpPr/>
          <p:nvPr/>
        </p:nvSpPr>
        <p:spPr>
          <a:xfrm>
            <a:off x="685800" y="3849624"/>
            <a:ext cx="292608" cy="29260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0" name="TextBox 19"/>
          <p:cNvSpPr txBox="1"/>
          <p:nvPr/>
        </p:nvSpPr>
        <p:spPr>
          <a:xfrm>
            <a:off x="1097280" y="3803904"/>
            <a:ext cx="4389120" cy="384048"/>
          </a:xfrm>
          <a:prstGeom prst="rect">
            <a:avLst/>
          </a:prstGeom>
          <a:noFill/>
        </p:spPr>
        <p:txBody>
          <a:bodyPr wrap="square" lIns="45720" tIns="27432" rIns="45720" bIns="27432" anchor="ctr"/>
          <a:lstStyle/>
          <a:p>
            <a:pPr algn="l"/>
            <a:r>
              <a:rPr sz="1450" b="0" i="0">
                <a:solidFill>
                  <a:srgbClr val="262626"/>
                </a:solidFill>
                <a:latin typeface="Calibri"/>
              </a:rPr>
              <a:t>Sports, metabolic, beauty &amp; food uses</a:t>
            </a:r>
          </a:p>
        </p:txBody>
      </p:sp>
      <p:sp>
        <p:nvSpPr>
          <p:cNvPr id="21" name="TextBox 20"/>
          <p:cNvSpPr txBox="1"/>
          <p:nvPr/>
        </p:nvSpPr>
        <p:spPr>
          <a:xfrm>
            <a:off x="640080" y="4325112"/>
            <a:ext cx="4754880" cy="365760"/>
          </a:xfrm>
          <a:prstGeom prst="rect">
            <a:avLst/>
          </a:prstGeom>
          <a:noFill/>
        </p:spPr>
        <p:txBody>
          <a:bodyPr wrap="square" lIns="45720" tIns="27432" rIns="45720" bIns="27432" anchor="t"/>
          <a:lstStyle/>
          <a:p>
            <a:pPr algn="l"/>
            <a:r>
              <a:rPr sz="1300" b="1" i="0">
                <a:solidFill>
                  <a:srgbClr val="C55A11"/>
                </a:solidFill>
                <a:latin typeface="Calibri"/>
              </a:rPr>
              <a:t>To confirm with CJ BIO</a:t>
            </a:r>
          </a:p>
        </p:txBody>
      </p:sp>
      <p:sp>
        <p:nvSpPr>
          <p:cNvPr id="22" name="Oval 21"/>
          <p:cNvSpPr/>
          <p:nvPr/>
        </p:nvSpPr>
        <p:spPr>
          <a:xfrm>
            <a:off x="685800" y="474573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3" name="TextBox 22"/>
          <p:cNvSpPr txBox="1"/>
          <p:nvPr/>
        </p:nvSpPr>
        <p:spPr>
          <a:xfrm>
            <a:off x="1097280" y="4700016"/>
            <a:ext cx="4389120" cy="384048"/>
          </a:xfrm>
          <a:prstGeom prst="rect">
            <a:avLst/>
          </a:prstGeom>
          <a:noFill/>
        </p:spPr>
        <p:txBody>
          <a:bodyPr wrap="square" lIns="45720" tIns="27432" rIns="45720" bIns="27432" anchor="ctr"/>
          <a:lstStyle/>
          <a:p>
            <a:pPr algn="l"/>
            <a:r>
              <a:rPr sz="1450" b="0" i="0">
                <a:solidFill>
                  <a:srgbClr val="262626"/>
                </a:solidFill>
                <a:latin typeface="Calibri"/>
              </a:rPr>
              <a:t>Halal / Kosher certificates per SKU</a:t>
            </a:r>
          </a:p>
        </p:txBody>
      </p:sp>
      <p:sp>
        <p:nvSpPr>
          <p:cNvPr id="24" name="Oval 23"/>
          <p:cNvSpPr/>
          <p:nvPr/>
        </p:nvSpPr>
        <p:spPr>
          <a:xfrm>
            <a:off x="685800" y="515721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5" name="TextBox 24"/>
          <p:cNvSpPr txBox="1"/>
          <p:nvPr/>
        </p:nvSpPr>
        <p:spPr>
          <a:xfrm>
            <a:off x="1097280" y="5111496"/>
            <a:ext cx="4389120" cy="384048"/>
          </a:xfrm>
          <a:prstGeom prst="rect">
            <a:avLst/>
          </a:prstGeom>
          <a:noFill/>
        </p:spPr>
        <p:txBody>
          <a:bodyPr wrap="square" lIns="45720" tIns="27432" rIns="45720" bIns="27432" anchor="ctr"/>
          <a:lstStyle/>
          <a:p>
            <a:pPr algn="l"/>
            <a:r>
              <a:rPr sz="1450" b="0" i="0">
                <a:solidFill>
                  <a:srgbClr val="262626"/>
                </a:solidFill>
                <a:latin typeface="Calibri"/>
              </a:rPr>
              <a:t>Purity &amp; heavy-metal specifications</a:t>
            </a:r>
          </a:p>
        </p:txBody>
      </p:sp>
      <p:sp>
        <p:nvSpPr>
          <p:cNvPr id="26" name="Oval 25"/>
          <p:cNvSpPr/>
          <p:nvPr/>
        </p:nvSpPr>
        <p:spPr>
          <a:xfrm>
            <a:off x="685800" y="556869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7" name="TextBox 26"/>
          <p:cNvSpPr txBox="1"/>
          <p:nvPr/>
        </p:nvSpPr>
        <p:spPr>
          <a:xfrm>
            <a:off x="1097280" y="5522976"/>
            <a:ext cx="4389120" cy="384048"/>
          </a:xfrm>
          <a:prstGeom prst="rect">
            <a:avLst/>
          </a:prstGeom>
          <a:noFill/>
        </p:spPr>
        <p:txBody>
          <a:bodyPr wrap="square" lIns="45720" tIns="27432" rIns="45720" bIns="27432" anchor="ctr"/>
          <a:lstStyle/>
          <a:p>
            <a:pPr algn="l"/>
            <a:r>
              <a:rPr sz="1450" b="0" i="0">
                <a:solidFill>
                  <a:srgbClr val="262626"/>
                </a:solidFill>
                <a:latin typeface="Calibri"/>
              </a:rPr>
              <a:t>Production plant &amp; certificate of origin (FTA)</a:t>
            </a:r>
          </a:p>
        </p:txBody>
      </p:sp>
      <p:sp>
        <p:nvSpPr>
          <p:cNvPr id="28" name="Oval 27"/>
          <p:cNvSpPr/>
          <p:nvPr/>
        </p:nvSpPr>
        <p:spPr>
          <a:xfrm>
            <a:off x="685800" y="598017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29" name="TextBox 28"/>
          <p:cNvSpPr txBox="1"/>
          <p:nvPr/>
        </p:nvSpPr>
        <p:spPr>
          <a:xfrm>
            <a:off x="1097280" y="5934456"/>
            <a:ext cx="4389120" cy="384048"/>
          </a:xfrm>
          <a:prstGeom prst="rect">
            <a:avLst/>
          </a:prstGeom>
          <a:noFill/>
        </p:spPr>
        <p:txBody>
          <a:bodyPr wrap="square" lIns="45720" tIns="27432" rIns="45720" bIns="27432" anchor="ctr"/>
          <a:lstStyle/>
          <a:p>
            <a:pPr algn="l"/>
            <a:r>
              <a:rPr sz="1450" b="0" i="0">
                <a:solidFill>
                  <a:srgbClr val="262626"/>
                </a:solidFill>
                <a:latin typeface="Calibri"/>
              </a:rPr>
              <a:t>API (pharma) &amp; cosmetic-grade documents</a:t>
            </a:r>
          </a:p>
        </p:txBody>
      </p:sp>
      <p:sp>
        <p:nvSpPr>
          <p:cNvPr id="30" name="Oval 29"/>
          <p:cNvSpPr/>
          <p:nvPr/>
        </p:nvSpPr>
        <p:spPr>
          <a:xfrm>
            <a:off x="685800" y="6391656"/>
            <a:ext cx="292608" cy="292608"/>
          </a:xfrm>
          <a:prstGeom prst="ellipse">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i="0">
                <a:solidFill>
                  <a:srgbClr val="FFFFFF"/>
                </a:solidFill>
                <a:latin typeface="Calibri"/>
              </a:rPr>
              <a:t>?</a:t>
            </a:r>
          </a:p>
        </p:txBody>
      </p:sp>
      <p:sp>
        <p:nvSpPr>
          <p:cNvPr id="31" name="TextBox 30"/>
          <p:cNvSpPr txBox="1"/>
          <p:nvPr/>
        </p:nvSpPr>
        <p:spPr>
          <a:xfrm>
            <a:off x="1097280" y="6345936"/>
            <a:ext cx="4389120" cy="384048"/>
          </a:xfrm>
          <a:prstGeom prst="rect">
            <a:avLst/>
          </a:prstGeom>
          <a:noFill/>
        </p:spPr>
        <p:txBody>
          <a:bodyPr wrap="square" lIns="45720" tIns="27432" rIns="45720" bIns="27432" anchor="ctr"/>
          <a:lstStyle/>
          <a:p>
            <a:pPr algn="l"/>
            <a:r>
              <a:rPr sz="1450" b="0" i="0">
                <a:solidFill>
                  <a:srgbClr val="262626"/>
                </a:solidFill>
                <a:latin typeface="Calibri"/>
              </a:rPr>
              <a:t>Recommended dosages &amp; claim support</a:t>
            </a:r>
          </a:p>
        </p:txBody>
      </p:sp>
      <p:sp>
        <p:nvSpPr>
          <p:cNvPr id="32" name="Rounded Rectangle 31"/>
          <p:cNvSpPr/>
          <p:nvPr/>
        </p:nvSpPr>
        <p:spPr>
          <a:xfrm>
            <a:off x="5788152" y="1188720"/>
            <a:ext cx="5943600" cy="1984248"/>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971032" y="1261872"/>
            <a:ext cx="5577840" cy="411480"/>
          </a:xfrm>
          <a:prstGeom prst="rect">
            <a:avLst/>
          </a:prstGeom>
          <a:noFill/>
        </p:spPr>
        <p:txBody>
          <a:bodyPr wrap="square" lIns="45720" tIns="27432" rIns="45720" bIns="27432" anchor="t"/>
          <a:lstStyle/>
          <a:p>
            <a:pPr algn="l"/>
            <a:r>
              <a:rPr sz="1700" b="1" i="0">
                <a:solidFill>
                  <a:srgbClr val="284F3E"/>
                </a:solidFill>
                <a:latin typeface="Calibri"/>
              </a:rPr>
              <a:t>Gain creators</a:t>
            </a:r>
          </a:p>
        </p:txBody>
      </p:sp>
      <p:sp>
        <p:nvSpPr>
          <p:cNvPr id="34" name="TextBox 33"/>
          <p:cNvSpPr txBox="1"/>
          <p:nvPr/>
        </p:nvSpPr>
        <p:spPr>
          <a:xfrm>
            <a:off x="5971032" y="1691640"/>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Clean-label, vegan claims for premium &amp; export lines</a:t>
            </a:r>
          </a:p>
          <a:p>
            <a:pPr marL="182880" indent="-182880" algn="l">
              <a:spcAft>
                <a:spcPts val="500"/>
              </a:spcAft>
              <a:buFont typeface="Arial"/>
              <a:buChar char="•"/>
            </a:pPr>
            <a:r>
              <a:rPr sz="1600" b="0" i="0">
                <a:solidFill>
                  <a:srgbClr val="262626"/>
                </a:solidFill>
                <a:latin typeface="Calibri"/>
              </a:rPr>
              <a:t>Easier audits by MNC &amp; modern-retail buyers</a:t>
            </a:r>
          </a:p>
          <a:p>
            <a:pPr marL="182880" indent="-182880" algn="l">
              <a:spcAft>
                <a:spcPts val="500"/>
              </a:spcAft>
              <a:buFont typeface="Arial"/>
              <a:buChar char="•"/>
            </a:pPr>
            <a:r>
              <a:rPr sz="1600" b="0" i="0">
                <a:solidFill>
                  <a:srgbClr val="262626"/>
                </a:solidFill>
                <a:latin typeface="Calibri"/>
              </a:rPr>
              <a:t>Synergistic Arg + Cit concepts for energy / pre-workout</a:t>
            </a:r>
          </a:p>
        </p:txBody>
      </p:sp>
      <p:sp>
        <p:nvSpPr>
          <p:cNvPr id="35" name="Rounded Rectangle 34"/>
          <p:cNvSpPr/>
          <p:nvPr/>
        </p:nvSpPr>
        <p:spPr>
          <a:xfrm>
            <a:off x="5788152" y="3310128"/>
            <a:ext cx="5943600" cy="1984248"/>
          </a:xfrm>
          <a:prstGeom prst="roundRect">
            <a:avLst>
              <a:gd name="adj" fmla="val 5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5971032" y="3383280"/>
            <a:ext cx="5577840" cy="411480"/>
          </a:xfrm>
          <a:prstGeom prst="rect">
            <a:avLst/>
          </a:prstGeom>
          <a:noFill/>
        </p:spPr>
        <p:txBody>
          <a:bodyPr wrap="square" lIns="45720" tIns="27432" rIns="45720" bIns="27432" anchor="t"/>
          <a:lstStyle/>
          <a:p>
            <a:pPr algn="l"/>
            <a:r>
              <a:rPr sz="1700" b="1" i="0">
                <a:solidFill>
                  <a:srgbClr val="284F3E"/>
                </a:solidFill>
                <a:latin typeface="Calibri"/>
              </a:rPr>
              <a:t>Pain relievers</a:t>
            </a:r>
          </a:p>
        </p:txBody>
      </p:sp>
      <p:sp>
        <p:nvSpPr>
          <p:cNvPr id="37" name="TextBox 36"/>
          <p:cNvSpPr txBox="1"/>
          <p:nvPr/>
        </p:nvSpPr>
        <p:spPr>
          <a:xfrm>
            <a:off x="5971032" y="3813048"/>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Removes doubts on purity, residues &amp; origin</a:t>
            </a:r>
          </a:p>
          <a:p>
            <a:pPr marL="182880" indent="-182880" algn="l">
              <a:spcAft>
                <a:spcPts val="500"/>
              </a:spcAft>
              <a:buFont typeface="Arial"/>
              <a:buChar char="•"/>
            </a:pPr>
            <a:r>
              <a:rPr sz="1600" b="0" i="0">
                <a:solidFill>
                  <a:srgbClr val="262626"/>
                </a:solidFill>
                <a:latin typeface="Calibri"/>
              </a:rPr>
              <a:t>Full COA / TDS dossier for product registration</a:t>
            </a:r>
          </a:p>
          <a:p>
            <a:pPr marL="182880" indent="-182880" algn="l">
              <a:spcAft>
                <a:spcPts val="500"/>
              </a:spcAft>
              <a:buFont typeface="Arial"/>
              <a:buChar char="•"/>
            </a:pPr>
            <a:r>
              <a:rPr sz="1600" b="0" i="0">
                <a:solidFill>
                  <a:srgbClr val="262626"/>
                </a:solidFill>
                <a:latin typeface="Calibri"/>
              </a:rPr>
              <a:t>Global supply reliability</a:t>
            </a:r>
          </a:p>
        </p:txBody>
      </p:sp>
      <p:sp>
        <p:nvSpPr>
          <p:cNvPr id="38" name="Rounded Rectangle 37"/>
          <p:cNvSpPr/>
          <p:nvPr/>
        </p:nvSpPr>
        <p:spPr>
          <a:xfrm>
            <a:off x="5788152" y="5431536"/>
            <a:ext cx="5943600" cy="1984248"/>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5971032" y="5504688"/>
            <a:ext cx="5577840" cy="411480"/>
          </a:xfrm>
          <a:prstGeom prst="rect">
            <a:avLst/>
          </a:prstGeom>
          <a:noFill/>
        </p:spPr>
        <p:txBody>
          <a:bodyPr wrap="square" lIns="45720" tIns="27432" rIns="45720" bIns="27432" anchor="t"/>
          <a:lstStyle/>
          <a:p>
            <a:pPr algn="l"/>
            <a:r>
              <a:rPr sz="1700" b="1" i="0">
                <a:solidFill>
                  <a:srgbClr val="284F3E"/>
                </a:solidFill>
                <a:latin typeface="Calibri"/>
              </a:rPr>
              <a:t>Products &amp; services</a:t>
            </a:r>
          </a:p>
        </p:txBody>
      </p:sp>
      <p:sp>
        <p:nvSpPr>
          <p:cNvPr id="40" name="TextBox 39"/>
          <p:cNvSpPr txBox="1"/>
          <p:nvPr/>
        </p:nvSpPr>
        <p:spPr>
          <a:xfrm>
            <a:off x="5971032" y="5934455"/>
            <a:ext cx="5577840" cy="1463040"/>
          </a:xfrm>
          <a:prstGeom prst="rect">
            <a:avLst/>
          </a:prstGeom>
          <a:noFill/>
        </p:spPr>
        <p:txBody>
          <a:bodyPr wrap="square" lIns="45720" tIns="27432" rIns="45720" bIns="27432" anchor="t"/>
          <a:lstStyle/>
          <a:p>
            <a:pPr marL="182880" indent="-182880" algn="l">
              <a:spcAft>
                <a:spcPts val="500"/>
              </a:spcAft>
              <a:buFont typeface="Arial"/>
              <a:buChar char="•"/>
            </a:pPr>
            <a:r>
              <a:rPr sz="1600" b="0" i="0">
                <a:solidFill>
                  <a:srgbClr val="262626"/>
                </a:solidFill>
                <a:latin typeface="Calibri"/>
              </a:rPr>
              <a:t>L-Arginine · L-Citrulline · L-Histidine</a:t>
            </a:r>
          </a:p>
          <a:p>
            <a:pPr marL="182880" indent="-182880" algn="l">
              <a:spcAft>
                <a:spcPts val="500"/>
              </a:spcAft>
              <a:buFont typeface="Arial"/>
              <a:buChar char="•"/>
            </a:pPr>
            <a:r>
              <a:rPr sz="1600" b="0" i="0">
                <a:solidFill>
                  <a:srgbClr val="262626"/>
                </a:solidFill>
                <a:latin typeface="Calibri"/>
              </a:rPr>
              <a:t>Formulation &amp; taste-masking support (BJCS flavors)</a:t>
            </a:r>
          </a:p>
          <a:p>
            <a:pPr marL="182880" indent="-182880" algn="l">
              <a:spcAft>
                <a:spcPts val="500"/>
              </a:spcAft>
              <a:buFont typeface="Arial"/>
              <a:buChar char="•"/>
            </a:pPr>
            <a:r>
              <a:rPr sz="1600" b="0" i="0">
                <a:solidFill>
                  <a:srgbClr val="262626"/>
                </a:solidFill>
                <a:latin typeface="Calibri"/>
              </a:rPr>
              <a:t>Regulatory support for customers' dossiers</a:t>
            </a:r>
          </a:p>
        </p:txBody>
      </p:sp>
      <p:sp>
        <p:nvSpPr>
          <p:cNvPr id="41" name="Rounded Rectangle 40"/>
          <p:cNvSpPr/>
          <p:nvPr/>
        </p:nvSpPr>
        <p:spPr>
          <a:xfrm>
            <a:off x="457200" y="7635240"/>
            <a:ext cx="11274552" cy="914400"/>
          </a:xfrm>
          <a:prstGeom prst="roundRect">
            <a:avLst>
              <a:gd name="adj" fmla="val 10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500" b="1" i="0">
                <a:solidFill>
                  <a:srgbClr val="BFE3CC"/>
                </a:solidFill>
                <a:latin typeface="Calibri"/>
              </a:rPr>
              <a:t>Risk-adjusted value:  </a:t>
            </a:r>
            <a:r>
              <a:rPr sz="1500" b="0" i="0">
                <a:solidFill>
                  <a:srgbClr val="FFFFFF"/>
                </a:solidFill>
                <a:latin typeface="Calibri"/>
              </a:rPr>
              <a:t>documented, premium actives protect brand owners from audit failures, rejections and recalls</a:t>
            </a:r>
          </a:p>
          <a:p>
            <a:pPr algn="ctr"/>
            <a:r>
              <a:rPr sz="1400" b="1" i="0">
                <a:solidFill>
                  <a:srgbClr val="BFE3CC"/>
                </a:solidFill>
                <a:latin typeface="Calibri"/>
              </a:rPr>
              <a:t>Sell a formulation solution, not a commodity</a:t>
            </a:r>
          </a:p>
        </p:txBody>
      </p:sp>
      <p:sp>
        <p:nvSpPr>
          <p:cNvPr id="42" name="TextBox 41"/>
          <p:cNvSpPr txBox="1"/>
          <p:nvPr/>
        </p:nvSpPr>
        <p:spPr>
          <a:xfrm>
            <a:off x="457200" y="8668512"/>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cjbio.net – AMINATURE® product page (Oct 2026); SupplySide Global 2026 listings; canvas: BJC Vietnam experience.</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FGAA – Customer Pain Points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40080" y="132588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leaf_w.png"/>
          <p:cNvPicPr>
            <a:picLocks noChangeAspect="1"/>
          </p:cNvPicPr>
          <p:nvPr/>
        </p:nvPicPr>
        <p:blipFill>
          <a:blip r:embed="rId7"/>
          <a:stretch>
            <a:fillRect/>
          </a:stretch>
        </p:blipFill>
        <p:spPr>
          <a:xfrm>
            <a:off x="771753" y="1457553"/>
            <a:ext cx="285292" cy="285292"/>
          </a:xfrm>
          <a:prstGeom prst="rect">
            <a:avLst/>
          </a:prstGeom>
        </p:spPr>
      </p:pic>
      <p:sp>
        <p:nvSpPr>
          <p:cNvPr id="11" name="TextBox 10"/>
          <p:cNvSpPr txBox="1"/>
          <p:nvPr/>
        </p:nvSpPr>
        <p:spPr>
          <a:xfrm>
            <a:off x="1325880" y="1325880"/>
            <a:ext cx="4480560" cy="548640"/>
          </a:xfrm>
          <a:prstGeom prst="rect">
            <a:avLst/>
          </a:prstGeom>
          <a:noFill/>
        </p:spPr>
        <p:txBody>
          <a:bodyPr wrap="square" lIns="45720" tIns="27432" rIns="45720" bIns="27432" anchor="ctr"/>
          <a:lstStyle/>
          <a:p>
            <a:pPr algn="l"/>
            <a:r>
              <a:rPr sz="1800" b="1" i="0">
                <a:solidFill>
                  <a:srgbClr val="284F3E"/>
                </a:solidFill>
                <a:latin typeface="Calibri"/>
              </a:rPr>
              <a:t>Taste &amp; sensory</a:t>
            </a:r>
          </a:p>
        </p:txBody>
      </p:sp>
      <p:sp>
        <p:nvSpPr>
          <p:cNvPr id="12" name="TextBox 11"/>
          <p:cNvSpPr txBox="1"/>
          <p:nvPr/>
        </p:nvSpPr>
        <p:spPr>
          <a:xfrm>
            <a:off x="640080" y="1965960"/>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13" name="TextBox 12"/>
          <p:cNvSpPr txBox="1"/>
          <p:nvPr/>
        </p:nvSpPr>
        <p:spPr>
          <a:xfrm>
            <a:off x="640080" y="228600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Bitter / metallic notes (Arg, His)</a:t>
            </a:r>
          </a:p>
          <a:p>
            <a:pPr marL="182880" indent="-182880" algn="l">
              <a:spcAft>
                <a:spcPts val="600"/>
              </a:spcAft>
              <a:buFont typeface="Arial"/>
              <a:buChar char="•"/>
            </a:pPr>
            <a:r>
              <a:rPr sz="1500" b="0" i="0">
                <a:solidFill>
                  <a:srgbClr val="262626"/>
                </a:solidFill>
                <a:latin typeface="Calibri"/>
              </a:rPr>
              <a:t>Interference with fruit or dairy flavors</a:t>
            </a:r>
          </a:p>
        </p:txBody>
      </p:sp>
      <p:sp>
        <p:nvSpPr>
          <p:cNvPr id="14" name="Rounded Rectangle 13"/>
          <p:cNvSpPr/>
          <p:nvPr/>
        </p:nvSpPr>
        <p:spPr>
          <a:xfrm>
            <a:off x="3246120" y="1965960"/>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337560" y="201168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16" name="TextBox 15"/>
          <p:cNvSpPr txBox="1"/>
          <p:nvPr/>
        </p:nvSpPr>
        <p:spPr>
          <a:xfrm>
            <a:off x="3337560" y="233172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Taste-masking: pH buffers, natural sweeteners, masking flavors</a:t>
            </a:r>
          </a:p>
          <a:p>
            <a:pPr marL="182880" indent="-182880" algn="l">
              <a:spcAft>
                <a:spcPts val="600"/>
              </a:spcAft>
              <a:buFont typeface="Arial"/>
              <a:buChar char="•"/>
            </a:pPr>
            <a:r>
              <a:rPr sz="1500" b="0" i="0">
                <a:solidFill>
                  <a:srgbClr val="262626"/>
                </a:solidFill>
                <a:latin typeface="Calibri"/>
              </a:rPr>
              <a:t>BJCS flavor partner (dsm-firmenich)</a:t>
            </a:r>
          </a:p>
        </p:txBody>
      </p:sp>
      <p:sp>
        <p:nvSpPr>
          <p:cNvPr id="17" name="Rounded Rectangle 16"/>
          <p:cNvSpPr/>
          <p:nvPr/>
        </p:nvSpPr>
        <p:spPr>
          <a:xfrm>
            <a:off x="6245352" y="118872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428232" y="132588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lask_w.png"/>
          <p:cNvPicPr>
            <a:picLocks noChangeAspect="1"/>
          </p:cNvPicPr>
          <p:nvPr/>
        </p:nvPicPr>
        <p:blipFill>
          <a:blip r:embed="rId8"/>
          <a:stretch>
            <a:fillRect/>
          </a:stretch>
        </p:blipFill>
        <p:spPr>
          <a:xfrm>
            <a:off x="6559905" y="1457553"/>
            <a:ext cx="285292" cy="285292"/>
          </a:xfrm>
          <a:prstGeom prst="rect">
            <a:avLst/>
          </a:prstGeom>
        </p:spPr>
      </p:pic>
      <p:sp>
        <p:nvSpPr>
          <p:cNvPr id="20" name="TextBox 19"/>
          <p:cNvSpPr txBox="1"/>
          <p:nvPr/>
        </p:nvSpPr>
        <p:spPr>
          <a:xfrm>
            <a:off x="7114032" y="1325880"/>
            <a:ext cx="4480560" cy="548640"/>
          </a:xfrm>
          <a:prstGeom prst="rect">
            <a:avLst/>
          </a:prstGeom>
          <a:noFill/>
        </p:spPr>
        <p:txBody>
          <a:bodyPr wrap="square" lIns="45720" tIns="27432" rIns="45720" bIns="27432" anchor="ctr"/>
          <a:lstStyle/>
          <a:p>
            <a:pPr algn="l"/>
            <a:r>
              <a:rPr sz="1800" b="1" i="0">
                <a:solidFill>
                  <a:srgbClr val="284F3E"/>
                </a:solidFill>
                <a:latin typeface="Calibri"/>
              </a:rPr>
              <a:t>Stability &amp; formulation</a:t>
            </a:r>
          </a:p>
        </p:txBody>
      </p:sp>
      <p:sp>
        <p:nvSpPr>
          <p:cNvPr id="21" name="TextBox 20"/>
          <p:cNvSpPr txBox="1"/>
          <p:nvPr/>
        </p:nvSpPr>
        <p:spPr>
          <a:xfrm>
            <a:off x="6428232" y="1965960"/>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22" name="TextBox 21"/>
          <p:cNvSpPr txBox="1"/>
          <p:nvPr/>
        </p:nvSpPr>
        <p:spPr>
          <a:xfrm>
            <a:off x="6428232" y="228600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Solubility at high dose in RTD</a:t>
            </a:r>
          </a:p>
          <a:p>
            <a:pPr marL="182880" indent="-182880" algn="l">
              <a:spcAft>
                <a:spcPts val="600"/>
              </a:spcAft>
              <a:buFont typeface="Arial"/>
              <a:buChar char="•"/>
            </a:pPr>
            <a:r>
              <a:rPr sz="1500" b="0" i="0">
                <a:solidFill>
                  <a:srgbClr val="262626"/>
                </a:solidFill>
                <a:latin typeface="Calibri"/>
              </a:rPr>
              <a:t>Maillard browning in heat treatment</a:t>
            </a:r>
          </a:p>
          <a:p>
            <a:pPr marL="182880" indent="-182880" algn="l">
              <a:spcAft>
                <a:spcPts val="600"/>
              </a:spcAft>
              <a:buFont typeface="Arial"/>
              <a:buChar char="•"/>
            </a:pPr>
            <a:r>
              <a:rPr sz="1500" b="0" i="0">
                <a:solidFill>
                  <a:srgbClr val="262626"/>
                </a:solidFill>
                <a:latin typeface="Calibri"/>
              </a:rPr>
              <a:t>Hygroscopicity &amp; caking in dry blends</a:t>
            </a:r>
          </a:p>
        </p:txBody>
      </p:sp>
      <p:sp>
        <p:nvSpPr>
          <p:cNvPr id="23" name="Rounded Rectangle 22"/>
          <p:cNvSpPr/>
          <p:nvPr/>
        </p:nvSpPr>
        <p:spPr>
          <a:xfrm>
            <a:off x="9034272" y="1965960"/>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9125712" y="201168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25" name="TextBox 24"/>
          <p:cNvSpPr txBox="1"/>
          <p:nvPr/>
        </p:nvSpPr>
        <p:spPr>
          <a:xfrm>
            <a:off x="9125712" y="233172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Dissolution protocol (temperature, order of addition)</a:t>
            </a:r>
          </a:p>
          <a:p>
            <a:pPr marL="182880" indent="-182880" algn="l">
              <a:spcAft>
                <a:spcPts val="600"/>
              </a:spcAft>
              <a:buFont typeface="Arial"/>
              <a:buChar char="•"/>
            </a:pPr>
            <a:r>
              <a:rPr sz="1500" b="0" i="0">
                <a:solidFill>
                  <a:srgbClr val="262626"/>
                </a:solidFill>
                <a:latin typeface="Calibri"/>
              </a:rPr>
              <a:t>Stability trials with customer R&amp;D</a:t>
            </a:r>
          </a:p>
          <a:p>
            <a:pPr marL="182880" indent="-182880" algn="l">
              <a:spcAft>
                <a:spcPts val="600"/>
              </a:spcAft>
              <a:buFont typeface="Arial"/>
              <a:buChar char="•"/>
            </a:pPr>
            <a:r>
              <a:rPr sz="1500" b="0" i="0">
                <a:solidFill>
                  <a:srgbClr val="262626"/>
                </a:solidFill>
                <a:latin typeface="Calibri"/>
              </a:rPr>
              <a:t>Storage &amp; handling guidance</a:t>
            </a:r>
          </a:p>
        </p:txBody>
      </p:sp>
      <p:sp>
        <p:nvSpPr>
          <p:cNvPr id="26" name="Rounded Rectangle 25"/>
          <p:cNvSpPr/>
          <p:nvPr/>
        </p:nvSpPr>
        <p:spPr>
          <a:xfrm>
            <a:off x="457200" y="489204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Oval 26"/>
          <p:cNvSpPr/>
          <p:nvPr/>
        </p:nvSpPr>
        <p:spPr>
          <a:xfrm>
            <a:off x="640080" y="502920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check_w.png"/>
          <p:cNvPicPr>
            <a:picLocks noChangeAspect="1"/>
          </p:cNvPicPr>
          <p:nvPr/>
        </p:nvPicPr>
        <p:blipFill>
          <a:blip r:embed="rId9"/>
          <a:stretch>
            <a:fillRect/>
          </a:stretch>
        </p:blipFill>
        <p:spPr>
          <a:xfrm>
            <a:off x="771753" y="5160873"/>
            <a:ext cx="285292" cy="285292"/>
          </a:xfrm>
          <a:prstGeom prst="rect">
            <a:avLst/>
          </a:prstGeom>
        </p:spPr>
      </p:pic>
      <p:sp>
        <p:nvSpPr>
          <p:cNvPr id="29" name="TextBox 28"/>
          <p:cNvSpPr txBox="1"/>
          <p:nvPr/>
        </p:nvSpPr>
        <p:spPr>
          <a:xfrm>
            <a:off x="1325880" y="5029200"/>
            <a:ext cx="4480560" cy="548640"/>
          </a:xfrm>
          <a:prstGeom prst="rect">
            <a:avLst/>
          </a:prstGeom>
          <a:noFill/>
        </p:spPr>
        <p:txBody>
          <a:bodyPr wrap="square" lIns="45720" tIns="27432" rIns="45720" bIns="27432" anchor="ctr"/>
          <a:lstStyle/>
          <a:p>
            <a:pPr algn="l"/>
            <a:r>
              <a:rPr sz="1800" b="1" i="0">
                <a:solidFill>
                  <a:srgbClr val="284F3E"/>
                </a:solidFill>
                <a:latin typeface="Calibri"/>
              </a:rPr>
              <a:t>Regulatory &amp; quality</a:t>
            </a:r>
          </a:p>
        </p:txBody>
      </p:sp>
      <p:sp>
        <p:nvSpPr>
          <p:cNvPr id="30" name="TextBox 29"/>
          <p:cNvSpPr txBox="1"/>
          <p:nvPr/>
        </p:nvSpPr>
        <p:spPr>
          <a:xfrm>
            <a:off x="640080" y="5669279"/>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31" name="TextBox 30"/>
          <p:cNvSpPr txBox="1"/>
          <p:nvPr/>
        </p:nvSpPr>
        <p:spPr>
          <a:xfrm>
            <a:off x="640080" y="598932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Supplement registration hurdles</a:t>
            </a:r>
          </a:p>
          <a:p>
            <a:pPr marL="182880" indent="-182880" algn="l">
              <a:spcAft>
                <a:spcPts val="600"/>
              </a:spcAft>
              <a:buFont typeface="Arial"/>
              <a:buChar char="•"/>
            </a:pPr>
            <a:r>
              <a:rPr sz="1500" b="0" i="0">
                <a:solidFill>
                  <a:srgbClr val="262626"/>
                </a:solidFill>
                <a:latin typeface="Calibri"/>
              </a:rPr>
              <a:t>Purity, residues, traceability</a:t>
            </a:r>
          </a:p>
          <a:p>
            <a:pPr marL="182880" indent="-182880" algn="l">
              <a:spcAft>
                <a:spcPts val="600"/>
              </a:spcAft>
              <a:buFont typeface="Arial"/>
              <a:buChar char="•"/>
            </a:pPr>
            <a:r>
              <a:rPr sz="1500" b="0" i="0">
                <a:solidFill>
                  <a:srgbClr val="262626"/>
                </a:solidFill>
                <a:latin typeface="Calibri"/>
              </a:rPr>
              <a:t>Brand-owner audits (Halal, Kosher, Vegan)</a:t>
            </a:r>
          </a:p>
        </p:txBody>
      </p:sp>
      <p:sp>
        <p:nvSpPr>
          <p:cNvPr id="32" name="Rounded Rectangle 31"/>
          <p:cNvSpPr/>
          <p:nvPr/>
        </p:nvSpPr>
        <p:spPr>
          <a:xfrm>
            <a:off x="3246120" y="5669279"/>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3337560" y="571500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34" name="TextBox 33"/>
          <p:cNvSpPr txBox="1"/>
          <p:nvPr/>
        </p:nvSpPr>
        <p:spPr>
          <a:xfrm>
            <a:off x="3337560" y="603504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Full COA / TDS / spec dossier from CJ</a:t>
            </a:r>
          </a:p>
          <a:p>
            <a:pPr marL="182880" indent="-182880" algn="l">
              <a:spcAft>
                <a:spcPts val="600"/>
              </a:spcAft>
              <a:buFont typeface="Arial"/>
              <a:buChar char="•"/>
            </a:pPr>
            <a:r>
              <a:rPr sz="1500" b="0" i="0">
                <a:solidFill>
                  <a:srgbClr val="262626"/>
                </a:solidFill>
                <a:latin typeface="Calibri"/>
              </a:rPr>
              <a:t>Certificates per SKU</a:t>
            </a:r>
          </a:p>
          <a:p>
            <a:pPr marL="182880" indent="-182880" algn="l">
              <a:spcAft>
                <a:spcPts val="600"/>
              </a:spcAft>
              <a:buFont typeface="Arial"/>
              <a:buChar char="•"/>
            </a:pPr>
            <a:r>
              <a:rPr sz="1500" b="0" i="0">
                <a:solidFill>
                  <a:srgbClr val="262626"/>
                </a:solidFill>
                <a:latin typeface="Calibri"/>
              </a:rPr>
              <a:t>BJCS support for customer dossiers</a:t>
            </a:r>
          </a:p>
        </p:txBody>
      </p:sp>
      <p:sp>
        <p:nvSpPr>
          <p:cNvPr id="35" name="Rounded Rectangle 34"/>
          <p:cNvSpPr/>
          <p:nvPr/>
        </p:nvSpPr>
        <p:spPr>
          <a:xfrm>
            <a:off x="6245352" y="4892040"/>
            <a:ext cx="5486400" cy="3520440"/>
          </a:xfrm>
          <a:prstGeom prst="roundRect">
            <a:avLst>
              <a:gd name="adj" fmla="val 4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p:cNvSpPr/>
          <p:nvPr/>
        </p:nvSpPr>
        <p:spPr>
          <a:xfrm>
            <a:off x="6428232" y="5029200"/>
            <a:ext cx="548640" cy="54864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balance_w.png"/>
          <p:cNvPicPr>
            <a:picLocks noChangeAspect="1"/>
          </p:cNvPicPr>
          <p:nvPr/>
        </p:nvPicPr>
        <p:blipFill>
          <a:blip r:embed="rId10"/>
          <a:stretch>
            <a:fillRect/>
          </a:stretch>
        </p:blipFill>
        <p:spPr>
          <a:xfrm>
            <a:off x="6559905" y="5160873"/>
            <a:ext cx="285292" cy="285292"/>
          </a:xfrm>
          <a:prstGeom prst="rect">
            <a:avLst/>
          </a:prstGeom>
        </p:spPr>
      </p:pic>
      <p:sp>
        <p:nvSpPr>
          <p:cNvPr id="38" name="TextBox 37"/>
          <p:cNvSpPr txBox="1"/>
          <p:nvPr/>
        </p:nvSpPr>
        <p:spPr>
          <a:xfrm>
            <a:off x="7114032" y="5029200"/>
            <a:ext cx="4480560" cy="548640"/>
          </a:xfrm>
          <a:prstGeom prst="rect">
            <a:avLst/>
          </a:prstGeom>
          <a:noFill/>
        </p:spPr>
        <p:txBody>
          <a:bodyPr wrap="square" lIns="45720" tIns="27432" rIns="45720" bIns="27432" anchor="ctr"/>
          <a:lstStyle/>
          <a:p>
            <a:pPr algn="l"/>
            <a:r>
              <a:rPr sz="1800" b="1" i="0">
                <a:solidFill>
                  <a:srgbClr val="284F3E"/>
                </a:solidFill>
                <a:latin typeface="Calibri"/>
              </a:rPr>
              <a:t>Cost &amp; commercial</a:t>
            </a:r>
          </a:p>
        </p:txBody>
      </p:sp>
      <p:sp>
        <p:nvSpPr>
          <p:cNvPr id="39" name="TextBox 38"/>
          <p:cNvSpPr txBox="1"/>
          <p:nvPr/>
        </p:nvSpPr>
        <p:spPr>
          <a:xfrm>
            <a:off x="6428232" y="5669279"/>
            <a:ext cx="2514600" cy="320040"/>
          </a:xfrm>
          <a:prstGeom prst="rect">
            <a:avLst/>
          </a:prstGeom>
          <a:noFill/>
        </p:spPr>
        <p:txBody>
          <a:bodyPr wrap="square" lIns="45720" tIns="27432" rIns="45720" bIns="27432" anchor="t"/>
          <a:lstStyle/>
          <a:p>
            <a:pPr algn="l"/>
            <a:r>
              <a:rPr sz="1150" b="1" i="0">
                <a:solidFill>
                  <a:srgbClr val="C55A11"/>
                </a:solidFill>
                <a:latin typeface="Calibri"/>
              </a:rPr>
              <a:t>CUSTOMER PAIN</a:t>
            </a:r>
          </a:p>
        </p:txBody>
      </p:sp>
      <p:sp>
        <p:nvSpPr>
          <p:cNvPr id="40" name="TextBox 39"/>
          <p:cNvSpPr txBox="1"/>
          <p:nvPr/>
        </p:nvSpPr>
        <p:spPr>
          <a:xfrm>
            <a:off x="6428232" y="5989320"/>
            <a:ext cx="2514600" cy="233172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Higher price than low-grade sources</a:t>
            </a:r>
          </a:p>
          <a:p>
            <a:pPr marL="182880" indent="-182880" algn="l">
              <a:spcAft>
                <a:spcPts val="600"/>
              </a:spcAft>
              <a:buFont typeface="Arial"/>
              <a:buChar char="•"/>
            </a:pPr>
            <a:r>
              <a:rPr sz="1500" b="0" i="0">
                <a:solidFill>
                  <a:srgbClr val="262626"/>
                </a:solidFill>
                <a:latin typeface="Calibri"/>
              </a:rPr>
              <a:t>Effective dose vs. retail price</a:t>
            </a:r>
          </a:p>
        </p:txBody>
      </p:sp>
      <p:sp>
        <p:nvSpPr>
          <p:cNvPr id="41" name="Rounded Rectangle 40"/>
          <p:cNvSpPr/>
          <p:nvPr/>
        </p:nvSpPr>
        <p:spPr>
          <a:xfrm>
            <a:off x="9034272" y="5669279"/>
            <a:ext cx="2560320" cy="2606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125712" y="5715000"/>
            <a:ext cx="2377440" cy="320040"/>
          </a:xfrm>
          <a:prstGeom prst="rect">
            <a:avLst/>
          </a:prstGeom>
          <a:noFill/>
        </p:spPr>
        <p:txBody>
          <a:bodyPr wrap="square" lIns="45720" tIns="27432" rIns="45720" bIns="27432" anchor="t"/>
          <a:lstStyle/>
          <a:p>
            <a:pPr algn="l"/>
            <a:r>
              <a:rPr sz="1150" b="1" i="0">
                <a:solidFill>
                  <a:srgbClr val="1E9E57"/>
                </a:solidFill>
                <a:latin typeface="Calibri"/>
              </a:rPr>
              <a:t>OUR RESPONSE</a:t>
            </a:r>
          </a:p>
        </p:txBody>
      </p:sp>
      <p:sp>
        <p:nvSpPr>
          <p:cNvPr id="43" name="TextBox 42"/>
          <p:cNvSpPr txBox="1"/>
          <p:nvPr/>
        </p:nvSpPr>
        <p:spPr>
          <a:xfrm>
            <a:off x="9125712" y="6035040"/>
            <a:ext cx="2395728" cy="2194560"/>
          </a:xfrm>
          <a:prstGeom prst="rect">
            <a:avLst/>
          </a:prstGeom>
          <a:noFill/>
        </p:spPr>
        <p:txBody>
          <a:bodyPr wrap="square" lIns="45720" tIns="27432" rIns="45720" bIns="27432" anchor="t"/>
          <a:lstStyle/>
          <a:p>
            <a:pPr marL="182880" indent="-182880" algn="l">
              <a:spcAft>
                <a:spcPts val="600"/>
              </a:spcAft>
              <a:buFont typeface="Arial"/>
              <a:buChar char="•"/>
            </a:pPr>
            <a:r>
              <a:rPr sz="1500" b="0" i="0">
                <a:solidFill>
                  <a:srgbClr val="262626"/>
                </a:solidFill>
                <a:latin typeface="Calibri"/>
              </a:rPr>
              <a:t>Value positioning: fermented, vegan, clean label</a:t>
            </a:r>
          </a:p>
          <a:p>
            <a:pPr marL="182880" indent="-182880" algn="l">
              <a:spcAft>
                <a:spcPts val="600"/>
              </a:spcAft>
              <a:buFont typeface="Arial"/>
              <a:buChar char="•"/>
            </a:pPr>
            <a:r>
              <a:rPr sz="1500" b="0" i="0">
                <a:solidFill>
                  <a:srgbClr val="262626"/>
                </a:solidFill>
                <a:latin typeface="Calibri"/>
              </a:rPr>
              <a:t>Dose-efficient Arg + Cit combinations</a:t>
            </a:r>
          </a:p>
          <a:p>
            <a:pPr marL="182880" indent="-182880" algn="l">
              <a:spcAft>
                <a:spcPts val="600"/>
              </a:spcAft>
              <a:buFont typeface="Arial"/>
              <a:buChar char="•"/>
            </a:pPr>
            <a:r>
              <a:rPr sz="1500" b="0" i="0">
                <a:solidFill>
                  <a:srgbClr val="262626"/>
                </a:solidFill>
                <a:latin typeface="Calibri"/>
              </a:rPr>
              <a:t>Focus on premium SKUs</a:t>
            </a:r>
          </a:p>
        </p:txBody>
      </p:sp>
      <p:sp>
        <p:nvSpPr>
          <p:cNvPr id="44" name="TextBox 43"/>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experience with supplement, beverage &amp; personal-care manufacturers.</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Account Approach &amp; Trials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TextBox 7"/>
          <p:cNvSpPr txBox="1"/>
          <p:nvPr/>
        </p:nvSpPr>
        <p:spPr>
          <a:xfrm>
            <a:off x="457200" y="1188720"/>
            <a:ext cx="4572000" cy="457200"/>
          </a:xfrm>
          <a:prstGeom prst="rect">
            <a:avLst/>
          </a:prstGeom>
          <a:noFill/>
        </p:spPr>
        <p:txBody>
          <a:bodyPr wrap="square" lIns="45720" tIns="27432" rIns="45720" bIns="27432" anchor="t"/>
          <a:lstStyle/>
          <a:p>
            <a:pPr algn="l"/>
            <a:r>
              <a:rPr sz="1800" b="1" i="0">
                <a:solidFill>
                  <a:srgbClr val="284F3E"/>
                </a:solidFill>
                <a:latin typeface="Calibri"/>
              </a:rPr>
              <a:t>Decision map at each account</a:t>
            </a:r>
          </a:p>
        </p:txBody>
      </p:sp>
      <p:sp>
        <p:nvSpPr>
          <p:cNvPr id="9" name="Rounded Rectangle 8"/>
          <p:cNvSpPr/>
          <p:nvPr/>
        </p:nvSpPr>
        <p:spPr>
          <a:xfrm>
            <a:off x="457200" y="1737360"/>
            <a:ext cx="4572000" cy="1463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621792" y="1965960"/>
            <a:ext cx="640080" cy="64008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user_w.png"/>
          <p:cNvPicPr>
            <a:picLocks noChangeAspect="1"/>
          </p:cNvPicPr>
          <p:nvPr/>
        </p:nvPicPr>
        <p:blipFill>
          <a:blip r:embed="rId7"/>
          <a:stretch>
            <a:fillRect/>
          </a:stretch>
        </p:blipFill>
        <p:spPr>
          <a:xfrm>
            <a:off x="775411" y="2119579"/>
            <a:ext cx="332841" cy="332841"/>
          </a:xfrm>
          <a:prstGeom prst="rect">
            <a:avLst/>
          </a:prstGeom>
        </p:spPr>
      </p:pic>
      <p:sp>
        <p:nvSpPr>
          <p:cNvPr id="12" name="TextBox 11"/>
          <p:cNvSpPr txBox="1"/>
          <p:nvPr/>
        </p:nvSpPr>
        <p:spPr>
          <a:xfrm>
            <a:off x="1417320" y="1828800"/>
            <a:ext cx="3520440" cy="411480"/>
          </a:xfrm>
          <a:prstGeom prst="rect">
            <a:avLst/>
          </a:prstGeom>
          <a:noFill/>
        </p:spPr>
        <p:txBody>
          <a:bodyPr wrap="square" lIns="45720" tIns="27432" rIns="45720" bIns="27432" anchor="t"/>
          <a:lstStyle/>
          <a:p>
            <a:pPr algn="l"/>
            <a:r>
              <a:rPr sz="1600" b="1" i="0">
                <a:solidFill>
                  <a:srgbClr val="284F3E"/>
                </a:solidFill>
                <a:latin typeface="Calibri"/>
              </a:rPr>
              <a:t>Economic buyer</a:t>
            </a:r>
            <a:r>
              <a:rPr sz="1300" b="0" i="0">
                <a:solidFill>
                  <a:srgbClr val="595959"/>
                </a:solidFill>
                <a:latin typeface="Calibri"/>
              </a:rPr>
              <a:t>  ·  Plant director / owner</a:t>
            </a:r>
          </a:p>
        </p:txBody>
      </p:sp>
      <p:sp>
        <p:nvSpPr>
          <p:cNvPr id="13" name="TextBox 12"/>
          <p:cNvSpPr txBox="1"/>
          <p:nvPr/>
        </p:nvSpPr>
        <p:spPr>
          <a:xfrm>
            <a:off x="1417320" y="2286000"/>
            <a:ext cx="3520440" cy="868680"/>
          </a:xfrm>
          <a:prstGeom prst="rect">
            <a:avLst/>
          </a:prstGeom>
          <a:noFill/>
        </p:spPr>
        <p:txBody>
          <a:bodyPr wrap="square" lIns="45720" tIns="27432" rIns="45720" bIns="27432" anchor="t"/>
          <a:lstStyle/>
          <a:p>
            <a:pPr algn="l"/>
            <a:r>
              <a:rPr sz="1400" b="0" i="0">
                <a:solidFill>
                  <a:srgbClr val="262626"/>
                </a:solidFill>
                <a:latin typeface="Calibri"/>
              </a:rPr>
              <a:t>Cost per kg finished product, yield, payback</a:t>
            </a:r>
          </a:p>
        </p:txBody>
      </p:sp>
      <p:sp>
        <p:nvSpPr>
          <p:cNvPr id="14" name="Rounded Rectangle 13"/>
          <p:cNvSpPr/>
          <p:nvPr/>
        </p:nvSpPr>
        <p:spPr>
          <a:xfrm>
            <a:off x="457200" y="3337560"/>
            <a:ext cx="4572000" cy="1463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21792" y="3566160"/>
            <a:ext cx="640080" cy="64008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flask_w.png"/>
          <p:cNvPicPr>
            <a:picLocks noChangeAspect="1"/>
          </p:cNvPicPr>
          <p:nvPr/>
        </p:nvPicPr>
        <p:blipFill>
          <a:blip r:embed="rId8"/>
          <a:stretch>
            <a:fillRect/>
          </a:stretch>
        </p:blipFill>
        <p:spPr>
          <a:xfrm>
            <a:off x="775411" y="3719779"/>
            <a:ext cx="332841" cy="332841"/>
          </a:xfrm>
          <a:prstGeom prst="rect">
            <a:avLst/>
          </a:prstGeom>
        </p:spPr>
      </p:pic>
      <p:sp>
        <p:nvSpPr>
          <p:cNvPr id="17" name="TextBox 16"/>
          <p:cNvSpPr txBox="1"/>
          <p:nvPr/>
        </p:nvSpPr>
        <p:spPr>
          <a:xfrm>
            <a:off x="1417320" y="3429000"/>
            <a:ext cx="3520440" cy="411480"/>
          </a:xfrm>
          <a:prstGeom prst="rect">
            <a:avLst/>
          </a:prstGeom>
          <a:noFill/>
        </p:spPr>
        <p:txBody>
          <a:bodyPr wrap="square" lIns="45720" tIns="27432" rIns="45720" bIns="27432" anchor="t"/>
          <a:lstStyle/>
          <a:p>
            <a:pPr algn="l"/>
            <a:r>
              <a:rPr sz="1600" b="1" i="0">
                <a:solidFill>
                  <a:srgbClr val="284F3E"/>
                </a:solidFill>
                <a:latin typeface="Calibri"/>
              </a:rPr>
              <a:t>User buyer</a:t>
            </a:r>
            <a:r>
              <a:rPr sz="1300" b="0" i="0">
                <a:solidFill>
                  <a:srgbClr val="595959"/>
                </a:solidFill>
                <a:latin typeface="Calibri"/>
              </a:rPr>
              <a:t>  ·  R&amp;D / product development</a:t>
            </a:r>
          </a:p>
        </p:txBody>
      </p:sp>
      <p:sp>
        <p:nvSpPr>
          <p:cNvPr id="18" name="TextBox 17"/>
          <p:cNvSpPr txBox="1"/>
          <p:nvPr/>
        </p:nvSpPr>
        <p:spPr>
          <a:xfrm>
            <a:off x="1417320" y="3886200"/>
            <a:ext cx="3520440" cy="868680"/>
          </a:xfrm>
          <a:prstGeom prst="rect">
            <a:avLst/>
          </a:prstGeom>
          <a:noFill/>
        </p:spPr>
        <p:txBody>
          <a:bodyPr wrap="square" lIns="45720" tIns="27432" rIns="45720" bIns="27432" anchor="t"/>
          <a:lstStyle/>
          <a:p>
            <a:pPr algn="l"/>
            <a:r>
              <a:rPr sz="1400" b="0" i="0">
                <a:solidFill>
                  <a:srgbClr val="262626"/>
                </a:solidFill>
                <a:latin typeface="Calibri"/>
              </a:rPr>
              <a:t>Water holding, texture, freeze–thaw, taste, solubility</a:t>
            </a:r>
          </a:p>
        </p:txBody>
      </p:sp>
      <p:sp>
        <p:nvSpPr>
          <p:cNvPr id="19" name="Rounded Rectangle 18"/>
          <p:cNvSpPr/>
          <p:nvPr/>
        </p:nvSpPr>
        <p:spPr>
          <a:xfrm>
            <a:off x="457200" y="4937760"/>
            <a:ext cx="4572000" cy="1463040"/>
          </a:xfrm>
          <a:prstGeom prst="roundRect">
            <a:avLst>
              <a:gd name="adj" fmla="val 6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Oval 19"/>
          <p:cNvSpPr/>
          <p:nvPr/>
        </p:nvSpPr>
        <p:spPr>
          <a:xfrm>
            <a:off x="621792" y="5166360"/>
            <a:ext cx="640080" cy="64008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check_w.png"/>
          <p:cNvPicPr>
            <a:picLocks noChangeAspect="1"/>
          </p:cNvPicPr>
          <p:nvPr/>
        </p:nvPicPr>
        <p:blipFill>
          <a:blip r:embed="rId9"/>
          <a:stretch>
            <a:fillRect/>
          </a:stretch>
        </p:blipFill>
        <p:spPr>
          <a:xfrm>
            <a:off x="775411" y="5319979"/>
            <a:ext cx="332841" cy="332841"/>
          </a:xfrm>
          <a:prstGeom prst="rect">
            <a:avLst/>
          </a:prstGeom>
        </p:spPr>
      </p:pic>
      <p:sp>
        <p:nvSpPr>
          <p:cNvPr id="22" name="TextBox 21"/>
          <p:cNvSpPr txBox="1"/>
          <p:nvPr/>
        </p:nvSpPr>
        <p:spPr>
          <a:xfrm>
            <a:off x="1417320" y="5029200"/>
            <a:ext cx="3520440" cy="411480"/>
          </a:xfrm>
          <a:prstGeom prst="rect">
            <a:avLst/>
          </a:prstGeom>
          <a:noFill/>
        </p:spPr>
        <p:txBody>
          <a:bodyPr wrap="square" lIns="45720" tIns="27432" rIns="45720" bIns="27432" anchor="t"/>
          <a:lstStyle/>
          <a:p>
            <a:pPr algn="l"/>
            <a:r>
              <a:rPr sz="1600" b="1" i="0">
                <a:solidFill>
                  <a:srgbClr val="284F3E"/>
                </a:solidFill>
                <a:latin typeface="Calibri"/>
              </a:rPr>
              <a:t>Technical buyer</a:t>
            </a:r>
            <a:r>
              <a:rPr sz="1300" b="0" i="0">
                <a:solidFill>
                  <a:srgbClr val="595959"/>
                </a:solidFill>
                <a:latin typeface="Calibri"/>
              </a:rPr>
              <a:t>  ·  QA / QC &amp; regulatory</a:t>
            </a:r>
          </a:p>
        </p:txBody>
      </p:sp>
      <p:sp>
        <p:nvSpPr>
          <p:cNvPr id="23" name="TextBox 22"/>
          <p:cNvSpPr txBox="1"/>
          <p:nvPr/>
        </p:nvSpPr>
        <p:spPr>
          <a:xfrm>
            <a:off x="1417320" y="5486400"/>
            <a:ext cx="3520440" cy="868680"/>
          </a:xfrm>
          <a:prstGeom prst="rect">
            <a:avLst/>
          </a:prstGeom>
          <a:noFill/>
        </p:spPr>
        <p:txBody>
          <a:bodyPr wrap="square" lIns="45720" tIns="27432" rIns="45720" bIns="27432" anchor="t"/>
          <a:lstStyle/>
          <a:p>
            <a:pPr algn="l"/>
            <a:r>
              <a:rPr sz="1400" b="0" i="0">
                <a:solidFill>
                  <a:srgbClr val="262626"/>
                </a:solidFill>
                <a:latin typeface="Calibri"/>
              </a:rPr>
              <a:t>Legal status, microbiology, Halal / Kosher / Non-GMO documents</a:t>
            </a:r>
          </a:p>
        </p:txBody>
      </p:sp>
      <p:sp>
        <p:nvSpPr>
          <p:cNvPr id="24" name="TextBox 23"/>
          <p:cNvSpPr txBox="1"/>
          <p:nvPr/>
        </p:nvSpPr>
        <p:spPr>
          <a:xfrm>
            <a:off x="5349240" y="1188720"/>
            <a:ext cx="6400800" cy="457200"/>
          </a:xfrm>
          <a:prstGeom prst="rect">
            <a:avLst/>
          </a:prstGeom>
          <a:noFill/>
        </p:spPr>
        <p:txBody>
          <a:bodyPr wrap="square" lIns="45720" tIns="27432" rIns="45720" bIns="27432" anchor="t"/>
          <a:lstStyle/>
          <a:p>
            <a:pPr algn="l"/>
            <a:r>
              <a:rPr sz="1800" b="1" i="0">
                <a:solidFill>
                  <a:srgbClr val="284F3E"/>
                </a:solidFill>
                <a:latin typeface="Calibri"/>
              </a:rPr>
              <a:t>HYBIND trial protocol</a:t>
            </a:r>
          </a:p>
        </p:txBody>
      </p:sp>
      <p:sp>
        <p:nvSpPr>
          <p:cNvPr id="25" name="Pentagon 24"/>
          <p:cNvSpPr/>
          <p:nvPr/>
        </p:nvSpPr>
        <p:spPr>
          <a:xfrm>
            <a:off x="5349240" y="1691640"/>
            <a:ext cx="2176272" cy="640080"/>
          </a:xfrm>
          <a:prstGeom prst="homePlat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1</a:t>
            </a:r>
          </a:p>
        </p:txBody>
      </p:sp>
      <p:sp>
        <p:nvSpPr>
          <p:cNvPr id="26" name="TextBox 25"/>
          <p:cNvSpPr txBox="1"/>
          <p:nvPr/>
        </p:nvSpPr>
        <p:spPr>
          <a:xfrm>
            <a:off x="5394959" y="2377440"/>
            <a:ext cx="2011680" cy="1234440"/>
          </a:xfrm>
          <a:prstGeom prst="rect">
            <a:avLst/>
          </a:prstGeom>
          <a:noFill/>
        </p:spPr>
        <p:txBody>
          <a:bodyPr wrap="square" lIns="45720" tIns="27432" rIns="45720" bIns="27432" anchor="t"/>
          <a:lstStyle/>
          <a:p>
            <a:pPr algn="l"/>
            <a:r>
              <a:rPr sz="1450" b="1" i="0">
                <a:solidFill>
                  <a:srgbClr val="284F3E"/>
                </a:solidFill>
                <a:latin typeface="Calibri"/>
              </a:rPr>
              <a:t>Lab-scale trial</a:t>
            </a:r>
          </a:p>
          <a:p>
            <a:pPr algn="l"/>
            <a:r>
              <a:rPr sz="1350" b="0" i="0">
                <a:solidFill>
                  <a:srgbClr val="262626"/>
                </a:solidFill>
                <a:latin typeface="Calibri"/>
              </a:rPr>
              <a:t>Solubility, pH, water-holding with customer R&amp;D</a:t>
            </a:r>
          </a:p>
        </p:txBody>
      </p:sp>
      <p:sp>
        <p:nvSpPr>
          <p:cNvPr id="27" name="Chevron 26"/>
          <p:cNvSpPr/>
          <p:nvPr/>
        </p:nvSpPr>
        <p:spPr>
          <a:xfrm>
            <a:off x="7452359" y="1691640"/>
            <a:ext cx="2176272" cy="640080"/>
          </a:xfrm>
          <a:prstGeom prst="chevron">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2</a:t>
            </a:r>
          </a:p>
        </p:txBody>
      </p:sp>
      <p:sp>
        <p:nvSpPr>
          <p:cNvPr id="28" name="TextBox 27"/>
          <p:cNvSpPr txBox="1"/>
          <p:nvPr/>
        </p:nvSpPr>
        <p:spPr>
          <a:xfrm>
            <a:off x="7498079" y="2377440"/>
            <a:ext cx="2011680" cy="1234440"/>
          </a:xfrm>
          <a:prstGeom prst="rect">
            <a:avLst/>
          </a:prstGeom>
          <a:noFill/>
        </p:spPr>
        <p:txBody>
          <a:bodyPr wrap="square" lIns="45720" tIns="27432" rIns="45720" bIns="27432" anchor="t"/>
          <a:lstStyle/>
          <a:p>
            <a:pPr algn="l"/>
            <a:r>
              <a:rPr sz="1450" b="1" i="0">
                <a:solidFill>
                  <a:srgbClr val="284F3E"/>
                </a:solidFill>
                <a:latin typeface="Calibri"/>
              </a:rPr>
              <a:t>Pilot / plant trial</a:t>
            </a:r>
          </a:p>
          <a:p>
            <a:pPr algn="l"/>
            <a:r>
              <a:rPr sz="1350" b="0" i="0">
                <a:solidFill>
                  <a:srgbClr val="262626"/>
                </a:solidFill>
                <a:latin typeface="Calibri"/>
              </a:rPr>
              <a:t>Dosage optimization; texture &amp; yield on the real line</a:t>
            </a:r>
          </a:p>
        </p:txBody>
      </p:sp>
      <p:sp>
        <p:nvSpPr>
          <p:cNvPr id="29" name="Chevron 28"/>
          <p:cNvSpPr/>
          <p:nvPr/>
        </p:nvSpPr>
        <p:spPr>
          <a:xfrm>
            <a:off x="9555480" y="1691640"/>
            <a:ext cx="2176272" cy="640080"/>
          </a:xfrm>
          <a:prstGeom prst="chevron">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3</a:t>
            </a:r>
          </a:p>
        </p:txBody>
      </p:sp>
      <p:sp>
        <p:nvSpPr>
          <p:cNvPr id="30" name="TextBox 29"/>
          <p:cNvSpPr txBox="1"/>
          <p:nvPr/>
        </p:nvSpPr>
        <p:spPr>
          <a:xfrm>
            <a:off x="9601200" y="2377440"/>
            <a:ext cx="2011680" cy="1234440"/>
          </a:xfrm>
          <a:prstGeom prst="rect">
            <a:avLst/>
          </a:prstGeom>
          <a:noFill/>
        </p:spPr>
        <p:txBody>
          <a:bodyPr wrap="square" lIns="45720" tIns="27432" rIns="45720" bIns="27432" anchor="t"/>
          <a:lstStyle/>
          <a:p>
            <a:pPr algn="l"/>
            <a:r>
              <a:rPr sz="1450" b="1" i="0">
                <a:solidFill>
                  <a:srgbClr val="284F3E"/>
                </a:solidFill>
                <a:latin typeface="Calibri"/>
              </a:rPr>
              <a:t>Blind sensory test</a:t>
            </a:r>
          </a:p>
          <a:p>
            <a:pPr algn="l"/>
            <a:r>
              <a:rPr sz="1350" b="0" i="0">
                <a:solidFill>
                  <a:srgbClr val="262626"/>
                </a:solidFill>
                <a:latin typeface="Calibri"/>
              </a:rPr>
              <a:t>Prove consumers cannot tell the difference</a:t>
            </a:r>
          </a:p>
        </p:txBody>
      </p:sp>
      <p:sp>
        <p:nvSpPr>
          <p:cNvPr id="31" name="TextBox 30"/>
          <p:cNvSpPr txBox="1"/>
          <p:nvPr/>
        </p:nvSpPr>
        <p:spPr>
          <a:xfrm>
            <a:off x="5349240" y="3703320"/>
            <a:ext cx="6400800" cy="457200"/>
          </a:xfrm>
          <a:prstGeom prst="rect">
            <a:avLst/>
          </a:prstGeom>
          <a:noFill/>
        </p:spPr>
        <p:txBody>
          <a:bodyPr wrap="square" lIns="45720" tIns="27432" rIns="45720" bIns="27432" anchor="t"/>
          <a:lstStyle/>
          <a:p>
            <a:pPr algn="l"/>
            <a:r>
              <a:rPr sz="1800" b="1" i="0">
                <a:solidFill>
                  <a:srgbClr val="284F3E"/>
                </a:solidFill>
                <a:latin typeface="Calibri"/>
              </a:rPr>
              <a:t>FGAA co-development</a:t>
            </a:r>
          </a:p>
        </p:txBody>
      </p:sp>
      <p:sp>
        <p:nvSpPr>
          <p:cNvPr id="32" name="Pentagon 31"/>
          <p:cNvSpPr/>
          <p:nvPr/>
        </p:nvSpPr>
        <p:spPr>
          <a:xfrm>
            <a:off x="5349240" y="4206240"/>
            <a:ext cx="2176272" cy="640080"/>
          </a:xfrm>
          <a:prstGeom prst="homePlat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1</a:t>
            </a:r>
          </a:p>
        </p:txBody>
      </p:sp>
      <p:sp>
        <p:nvSpPr>
          <p:cNvPr id="33" name="TextBox 32"/>
          <p:cNvSpPr txBox="1"/>
          <p:nvPr/>
        </p:nvSpPr>
        <p:spPr>
          <a:xfrm>
            <a:off x="5394959" y="4892040"/>
            <a:ext cx="2011680" cy="1234440"/>
          </a:xfrm>
          <a:prstGeom prst="rect">
            <a:avLst/>
          </a:prstGeom>
          <a:noFill/>
        </p:spPr>
        <p:txBody>
          <a:bodyPr wrap="square" lIns="45720" tIns="27432" rIns="45720" bIns="27432" anchor="t"/>
          <a:lstStyle/>
          <a:p>
            <a:pPr algn="l"/>
            <a:r>
              <a:rPr sz="1450" b="1" i="0">
                <a:solidFill>
                  <a:srgbClr val="284F3E"/>
                </a:solidFill>
                <a:latin typeface="Calibri"/>
              </a:rPr>
              <a:t>Concept &amp; ingredient matching</a:t>
            </a:r>
          </a:p>
          <a:p>
            <a:pPr algn="l"/>
            <a:r>
              <a:rPr sz="1350" b="0" i="0">
                <a:solidFill>
                  <a:srgbClr val="262626"/>
                </a:solidFill>
                <a:latin typeface="Calibri"/>
              </a:rPr>
              <a:t>Format, claim, target dose</a:t>
            </a:r>
          </a:p>
        </p:txBody>
      </p:sp>
      <p:sp>
        <p:nvSpPr>
          <p:cNvPr id="34" name="Chevron 33"/>
          <p:cNvSpPr/>
          <p:nvPr/>
        </p:nvSpPr>
        <p:spPr>
          <a:xfrm>
            <a:off x="7452359" y="4206240"/>
            <a:ext cx="2176272" cy="640080"/>
          </a:xfrm>
          <a:prstGeom prst="chevron">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2</a:t>
            </a:r>
          </a:p>
        </p:txBody>
      </p:sp>
      <p:sp>
        <p:nvSpPr>
          <p:cNvPr id="35" name="TextBox 34"/>
          <p:cNvSpPr txBox="1"/>
          <p:nvPr/>
        </p:nvSpPr>
        <p:spPr>
          <a:xfrm>
            <a:off x="7498079" y="4892040"/>
            <a:ext cx="2011680" cy="1234440"/>
          </a:xfrm>
          <a:prstGeom prst="rect">
            <a:avLst/>
          </a:prstGeom>
          <a:noFill/>
        </p:spPr>
        <p:txBody>
          <a:bodyPr wrap="square" lIns="45720" tIns="27432" rIns="45720" bIns="27432" anchor="t"/>
          <a:lstStyle/>
          <a:p>
            <a:pPr algn="l"/>
            <a:r>
              <a:rPr sz="1450" b="1" i="0">
                <a:solidFill>
                  <a:srgbClr val="284F3E"/>
                </a:solidFill>
                <a:latin typeface="Calibri"/>
              </a:rPr>
              <a:t>Taste &amp; stability optimization</a:t>
            </a:r>
          </a:p>
          <a:p>
            <a:pPr algn="l"/>
            <a:r>
              <a:rPr sz="1350" b="0" i="0">
                <a:solidFill>
                  <a:srgbClr val="262626"/>
                </a:solidFill>
                <a:latin typeface="Calibri"/>
              </a:rPr>
              <a:t>Masking, buffers, dissolution, shelf life</a:t>
            </a:r>
          </a:p>
        </p:txBody>
      </p:sp>
      <p:sp>
        <p:nvSpPr>
          <p:cNvPr id="36" name="Chevron 35"/>
          <p:cNvSpPr/>
          <p:nvPr/>
        </p:nvSpPr>
        <p:spPr>
          <a:xfrm>
            <a:off x="9555480" y="4206240"/>
            <a:ext cx="2176272" cy="640080"/>
          </a:xfrm>
          <a:prstGeom prst="chevron">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600" b="1" i="0">
                <a:solidFill>
                  <a:srgbClr val="FFFFFF"/>
                </a:solidFill>
                <a:latin typeface="Calibri"/>
              </a:rPr>
              <a:t>3</a:t>
            </a:r>
          </a:p>
        </p:txBody>
      </p:sp>
      <p:sp>
        <p:nvSpPr>
          <p:cNvPr id="37" name="TextBox 36"/>
          <p:cNvSpPr txBox="1"/>
          <p:nvPr/>
        </p:nvSpPr>
        <p:spPr>
          <a:xfrm>
            <a:off x="9601200" y="4892040"/>
            <a:ext cx="2011680" cy="1234440"/>
          </a:xfrm>
          <a:prstGeom prst="rect">
            <a:avLst/>
          </a:prstGeom>
          <a:noFill/>
        </p:spPr>
        <p:txBody>
          <a:bodyPr wrap="square" lIns="45720" tIns="27432" rIns="45720" bIns="27432" anchor="t"/>
          <a:lstStyle/>
          <a:p>
            <a:pPr algn="l"/>
            <a:r>
              <a:rPr sz="1450" b="1" i="0">
                <a:solidFill>
                  <a:srgbClr val="284F3E"/>
                </a:solidFill>
                <a:latin typeface="Calibri"/>
              </a:rPr>
              <a:t>Commercial scale-up</a:t>
            </a:r>
          </a:p>
          <a:p>
            <a:pPr algn="l"/>
            <a:r>
              <a:rPr sz="1350" b="0" i="0">
                <a:solidFill>
                  <a:srgbClr val="262626"/>
                </a:solidFill>
                <a:latin typeface="Calibri"/>
              </a:rPr>
              <a:t>Technical support from lab to full production</a:t>
            </a:r>
          </a:p>
        </p:txBody>
      </p:sp>
      <p:sp>
        <p:nvSpPr>
          <p:cNvPr id="38" name="Rounded Rectangle 37"/>
          <p:cNvSpPr/>
          <p:nvPr/>
        </p:nvSpPr>
        <p:spPr>
          <a:xfrm>
            <a:off x="457200" y="6675120"/>
            <a:ext cx="11274552" cy="1828800"/>
          </a:xfrm>
          <a:prstGeom prst="roundRect">
            <a:avLst>
              <a:gd name="adj" fmla="val 6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731520" y="6748272"/>
            <a:ext cx="10789920" cy="411480"/>
          </a:xfrm>
          <a:prstGeom prst="rect">
            <a:avLst/>
          </a:prstGeom>
          <a:noFill/>
        </p:spPr>
        <p:txBody>
          <a:bodyPr wrap="square" lIns="45720" tIns="27432" rIns="45720" bIns="27432" anchor="t"/>
          <a:lstStyle/>
          <a:p>
            <a:pPr algn="l"/>
            <a:r>
              <a:rPr sz="1500" b="1" i="0">
                <a:solidFill>
                  <a:srgbClr val="BFE3CC"/>
                </a:solidFill>
                <a:latin typeface="Calibri"/>
              </a:rPr>
              <a:t>SPIN discovery – example need-payoff question</a:t>
            </a:r>
          </a:p>
        </p:txBody>
      </p:sp>
      <p:sp>
        <p:nvSpPr>
          <p:cNvPr id="40" name="TextBox 39"/>
          <p:cNvSpPr txBox="1"/>
          <p:nvPr/>
        </p:nvSpPr>
        <p:spPr>
          <a:xfrm>
            <a:off x="731520" y="7178040"/>
            <a:ext cx="10789920" cy="1234440"/>
          </a:xfrm>
          <a:prstGeom prst="rect">
            <a:avLst/>
          </a:prstGeom>
          <a:noFill/>
        </p:spPr>
        <p:txBody>
          <a:bodyPr wrap="square" lIns="45720" tIns="27432" rIns="45720" bIns="27432" anchor="ctr"/>
          <a:lstStyle/>
          <a:p>
            <a:pPr algn="l"/>
            <a:r>
              <a:rPr sz="1700" b="0" i="1">
                <a:solidFill>
                  <a:srgbClr val="FFFFFF"/>
                </a:solidFill>
                <a:latin typeface="Calibri"/>
              </a:rPr>
              <a:t>"If a natural solution matched your current phosphate yield and removed additive codes from your label, how would that change your premium and export lines?"</a:t>
            </a:r>
          </a:p>
        </p:txBody>
      </p:sp>
      <p:sp>
        <p:nvSpPr>
          <p:cNvPr id="41" name="TextBox 40"/>
          <p:cNvSpPr txBox="1"/>
          <p:nvPr/>
        </p:nvSpPr>
        <p:spPr>
          <a:xfrm>
            <a:off x="457200" y="864108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sales methodology (strategic account management, SPIN, structured trials).</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Competition &amp; CJ Positioning</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Oval 7"/>
          <p:cNvSpPr/>
          <p:nvPr/>
        </p:nvSpPr>
        <p:spPr>
          <a:xfrm>
            <a:off x="457200" y="118872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meat_w.png"/>
          <p:cNvPicPr>
            <a:picLocks noChangeAspect="1"/>
          </p:cNvPicPr>
          <p:nvPr/>
        </p:nvPicPr>
        <p:blipFill>
          <a:blip r:embed="rId7"/>
          <a:stretch>
            <a:fillRect/>
          </a:stretch>
        </p:blipFill>
        <p:spPr>
          <a:xfrm>
            <a:off x="599846" y="1331366"/>
            <a:ext cx="309067" cy="309067"/>
          </a:xfrm>
          <a:prstGeom prst="rect">
            <a:avLst/>
          </a:prstGeom>
        </p:spPr>
      </p:pic>
      <p:sp>
        <p:nvSpPr>
          <p:cNvPr id="10" name="TextBox 9"/>
          <p:cNvSpPr txBox="1"/>
          <p:nvPr/>
        </p:nvSpPr>
        <p:spPr>
          <a:xfrm>
            <a:off x="1188720" y="1207008"/>
            <a:ext cx="4754880" cy="548640"/>
          </a:xfrm>
          <a:prstGeom prst="rect">
            <a:avLst/>
          </a:prstGeom>
          <a:noFill/>
        </p:spPr>
        <p:txBody>
          <a:bodyPr wrap="square" lIns="45720" tIns="27432" rIns="45720" bIns="27432" anchor="ctr"/>
          <a:lstStyle/>
          <a:p>
            <a:pPr algn="l"/>
            <a:r>
              <a:rPr sz="2000" b="1" i="0">
                <a:solidFill>
                  <a:srgbClr val="284F3E"/>
                </a:solidFill>
                <a:latin typeface="Calibri"/>
              </a:rPr>
              <a:t>Phosphate replacement – HYBIND</a:t>
            </a:r>
          </a:p>
        </p:txBody>
      </p:sp>
      <p:sp>
        <p:nvSpPr>
          <p:cNvPr id="11" name="Rounded Rectangle 10"/>
          <p:cNvSpPr/>
          <p:nvPr/>
        </p:nvSpPr>
        <p:spPr>
          <a:xfrm>
            <a:off x="457200" y="1920240"/>
            <a:ext cx="5486400" cy="1737360"/>
          </a:xfrm>
          <a:prstGeom prst="roundRect">
            <a:avLst>
              <a:gd name="adj" fmla="val 6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40080" y="2011680"/>
            <a:ext cx="5120640" cy="411480"/>
          </a:xfrm>
          <a:prstGeom prst="rect">
            <a:avLst/>
          </a:prstGeom>
          <a:noFill/>
        </p:spPr>
        <p:txBody>
          <a:bodyPr wrap="square" lIns="45720" tIns="27432" rIns="45720" bIns="27432" anchor="t"/>
          <a:lstStyle/>
          <a:p>
            <a:pPr algn="l"/>
            <a:r>
              <a:rPr sz="1650" b="1" i="0">
                <a:solidFill>
                  <a:srgbClr val="284F3E"/>
                </a:solidFill>
                <a:latin typeface="Calibri"/>
              </a:rPr>
              <a:t>Conventional phosphates (STPP &amp; blends)</a:t>
            </a:r>
          </a:p>
        </p:txBody>
      </p:sp>
      <p:sp>
        <p:nvSpPr>
          <p:cNvPr id="13" name="TextBox 12"/>
          <p:cNvSpPr txBox="1"/>
          <p:nvPr/>
        </p:nvSpPr>
        <p:spPr>
          <a:xfrm>
            <a:off x="640080" y="245059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Proven yield, lowest cost per kg</a:t>
            </a:r>
          </a:p>
          <a:p>
            <a:pPr algn="l">
              <a:spcAft>
                <a:spcPts val="400"/>
              </a:spcAft>
            </a:pPr>
            <a:r>
              <a:rPr sz="1500" b="1" i="0">
                <a:solidFill>
                  <a:srgbClr val="C55A11"/>
                </a:solidFill>
                <a:latin typeface="Calibri"/>
              </a:rPr>
              <a:t>–  </a:t>
            </a:r>
            <a:r>
              <a:rPr sz="1500" b="0" i="0">
                <a:solidFill>
                  <a:srgbClr val="262626"/>
                </a:solidFill>
                <a:latin typeface="Calibri"/>
              </a:rPr>
              <a:t>Labeled additives (INS 450–452); clean-label &amp; buyer pressure</a:t>
            </a:r>
          </a:p>
        </p:txBody>
      </p:sp>
      <p:sp>
        <p:nvSpPr>
          <p:cNvPr id="14" name="Rounded Rectangle 13"/>
          <p:cNvSpPr/>
          <p:nvPr/>
        </p:nvSpPr>
        <p:spPr>
          <a:xfrm>
            <a:off x="457200" y="3794760"/>
            <a:ext cx="5486400" cy="1737360"/>
          </a:xfrm>
          <a:prstGeom prst="roundRect">
            <a:avLst>
              <a:gd name="adj" fmla="val 6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40080" y="3886200"/>
            <a:ext cx="5120640" cy="411480"/>
          </a:xfrm>
          <a:prstGeom prst="rect">
            <a:avLst/>
          </a:prstGeom>
          <a:noFill/>
        </p:spPr>
        <p:txBody>
          <a:bodyPr wrap="square" lIns="45720" tIns="27432" rIns="45720" bIns="27432" anchor="t"/>
          <a:lstStyle/>
          <a:p>
            <a:pPr algn="l"/>
            <a:r>
              <a:rPr sz="1650" b="1" i="0">
                <a:solidFill>
                  <a:srgbClr val="284F3E"/>
                </a:solidFill>
                <a:latin typeface="Calibri"/>
              </a:rPr>
              <a:t>Other phosphate-free systems</a:t>
            </a:r>
          </a:p>
        </p:txBody>
      </p:sp>
      <p:sp>
        <p:nvSpPr>
          <p:cNvPr id="16" name="TextBox 15"/>
          <p:cNvSpPr txBox="1"/>
          <p:nvPr/>
        </p:nvSpPr>
        <p:spPr>
          <a:xfrm>
            <a:off x="640080" y="432511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Clean label (fibers, starches, proteins, carbonate blends)</a:t>
            </a:r>
          </a:p>
          <a:p>
            <a:pPr algn="l">
              <a:spcAft>
                <a:spcPts val="400"/>
              </a:spcAft>
            </a:pPr>
            <a:r>
              <a:rPr sz="1500" b="1" i="0">
                <a:solidFill>
                  <a:srgbClr val="C55A11"/>
                </a:solidFill>
                <a:latin typeface="Calibri"/>
              </a:rPr>
              <a:t>–  </a:t>
            </a:r>
            <a:r>
              <a:rPr sz="1500" b="0" i="0">
                <a:solidFill>
                  <a:srgbClr val="262626"/>
                </a:solidFill>
                <a:latin typeface="Calibri"/>
              </a:rPr>
              <a:t>Often partial functionality; may affect texture / taste or need reformulation</a:t>
            </a:r>
          </a:p>
        </p:txBody>
      </p:sp>
      <p:sp>
        <p:nvSpPr>
          <p:cNvPr id="17" name="Rounded Rectangle 16"/>
          <p:cNvSpPr/>
          <p:nvPr/>
        </p:nvSpPr>
        <p:spPr>
          <a:xfrm>
            <a:off x="457200" y="5669280"/>
            <a:ext cx="5486400" cy="1737360"/>
          </a:xfrm>
          <a:prstGeom prst="roundRect">
            <a:avLst>
              <a:gd name="adj" fmla="val 6000"/>
            </a:avLst>
          </a:prstGeom>
          <a:solidFill>
            <a:srgbClr val="EAF5EE"/>
          </a:solidFill>
          <a:ln w="2540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40080" y="5760720"/>
            <a:ext cx="5120640" cy="411480"/>
          </a:xfrm>
          <a:prstGeom prst="rect">
            <a:avLst/>
          </a:prstGeom>
          <a:noFill/>
        </p:spPr>
        <p:txBody>
          <a:bodyPr wrap="square" lIns="45720" tIns="27432" rIns="45720" bIns="27432" anchor="t"/>
          <a:lstStyle/>
          <a:p>
            <a:pPr algn="l"/>
            <a:r>
              <a:rPr sz="1650" b="1" i="0">
                <a:solidFill>
                  <a:srgbClr val="1E9E57"/>
                </a:solidFill>
                <a:latin typeface="Calibri"/>
              </a:rPr>
              <a:t>TasteNrich® HYBIND – CJ BIO</a:t>
            </a:r>
          </a:p>
        </p:txBody>
      </p:sp>
      <p:sp>
        <p:nvSpPr>
          <p:cNvPr id="19" name="TextBox 18"/>
          <p:cNvSpPr txBox="1"/>
          <p:nvPr/>
        </p:nvSpPr>
        <p:spPr>
          <a:xfrm>
            <a:off x="640080" y="619963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Natural, E-number-free &amp; allergen-free; high cooking yield, low purge, better texture &amp; taste; ASEAN supply</a:t>
            </a:r>
          </a:p>
          <a:p>
            <a:pPr algn="l">
              <a:spcAft>
                <a:spcPts val="400"/>
              </a:spcAft>
            </a:pPr>
            <a:r>
              <a:rPr sz="1500" b="1" i="0">
                <a:solidFill>
                  <a:srgbClr val="284F3E"/>
                </a:solidFill>
                <a:latin typeface="Calibri"/>
              </a:rPr>
              <a:t>→  </a:t>
            </a:r>
            <a:r>
              <a:rPr sz="1500" b="1" i="0">
                <a:solidFill>
                  <a:srgbClr val="262626"/>
                </a:solidFill>
                <a:latin typeface="Calibri"/>
              </a:rPr>
              <a:t>Win on cost-in-use &amp; label benefit</a:t>
            </a:r>
          </a:p>
        </p:txBody>
      </p:sp>
      <p:sp>
        <p:nvSpPr>
          <p:cNvPr id="20" name="Oval 19"/>
          <p:cNvSpPr/>
          <p:nvPr/>
        </p:nvSpPr>
        <p:spPr>
          <a:xfrm>
            <a:off x="6245352" y="1188720"/>
            <a:ext cx="594360" cy="59436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pills_w.png"/>
          <p:cNvPicPr>
            <a:picLocks noChangeAspect="1"/>
          </p:cNvPicPr>
          <p:nvPr/>
        </p:nvPicPr>
        <p:blipFill>
          <a:blip r:embed="rId8"/>
          <a:stretch>
            <a:fillRect/>
          </a:stretch>
        </p:blipFill>
        <p:spPr>
          <a:xfrm>
            <a:off x="6387998" y="1331366"/>
            <a:ext cx="309067" cy="309067"/>
          </a:xfrm>
          <a:prstGeom prst="rect">
            <a:avLst/>
          </a:prstGeom>
        </p:spPr>
      </p:pic>
      <p:sp>
        <p:nvSpPr>
          <p:cNvPr id="22" name="TextBox 21"/>
          <p:cNvSpPr txBox="1"/>
          <p:nvPr/>
        </p:nvSpPr>
        <p:spPr>
          <a:xfrm>
            <a:off x="6976872" y="1207008"/>
            <a:ext cx="4754880" cy="548640"/>
          </a:xfrm>
          <a:prstGeom prst="rect">
            <a:avLst/>
          </a:prstGeom>
          <a:noFill/>
        </p:spPr>
        <p:txBody>
          <a:bodyPr wrap="square" lIns="45720" tIns="27432" rIns="45720" bIns="27432" anchor="ctr"/>
          <a:lstStyle/>
          <a:p>
            <a:pPr algn="l"/>
            <a:r>
              <a:rPr sz="2000" b="1" i="0">
                <a:solidFill>
                  <a:srgbClr val="284F3E"/>
                </a:solidFill>
                <a:latin typeface="Calibri"/>
              </a:rPr>
              <a:t>Amino acids – FGAA</a:t>
            </a:r>
          </a:p>
        </p:txBody>
      </p:sp>
      <p:sp>
        <p:nvSpPr>
          <p:cNvPr id="23" name="Rounded Rectangle 22"/>
          <p:cNvSpPr/>
          <p:nvPr/>
        </p:nvSpPr>
        <p:spPr>
          <a:xfrm>
            <a:off x="6245352" y="1920240"/>
            <a:ext cx="5486400" cy="1737360"/>
          </a:xfrm>
          <a:prstGeom prst="roundRect">
            <a:avLst>
              <a:gd name="adj" fmla="val 6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28232" y="2011680"/>
            <a:ext cx="5120640" cy="411480"/>
          </a:xfrm>
          <a:prstGeom prst="rect">
            <a:avLst/>
          </a:prstGeom>
          <a:noFill/>
        </p:spPr>
        <p:txBody>
          <a:bodyPr wrap="square" lIns="45720" tIns="27432" rIns="45720" bIns="27432" anchor="t"/>
          <a:lstStyle/>
          <a:p>
            <a:pPr algn="l"/>
            <a:r>
              <a:rPr sz="1650" b="1" i="0">
                <a:solidFill>
                  <a:srgbClr val="284F3E"/>
                </a:solidFill>
                <a:latin typeface="Calibri"/>
              </a:rPr>
              <a:t>Japanese premium producers</a:t>
            </a:r>
          </a:p>
        </p:txBody>
      </p:sp>
      <p:sp>
        <p:nvSpPr>
          <p:cNvPr id="25" name="TextBox 24"/>
          <p:cNvSpPr txBox="1"/>
          <p:nvPr/>
        </p:nvSpPr>
        <p:spPr>
          <a:xfrm>
            <a:off x="6428232" y="245059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High quality &amp; brand trust</a:t>
            </a:r>
          </a:p>
          <a:p>
            <a:pPr algn="l">
              <a:spcAft>
                <a:spcPts val="400"/>
              </a:spcAft>
            </a:pPr>
            <a:r>
              <a:rPr sz="1500" b="1" i="0">
                <a:solidFill>
                  <a:srgbClr val="C55A11"/>
                </a:solidFill>
                <a:latin typeface="Calibri"/>
              </a:rPr>
              <a:t>–  </a:t>
            </a:r>
            <a:r>
              <a:rPr sz="1500" b="0" i="0">
                <a:solidFill>
                  <a:srgbClr val="262626"/>
                </a:solidFill>
                <a:latin typeface="Calibri"/>
              </a:rPr>
              <a:t>Premium price</a:t>
            </a:r>
          </a:p>
        </p:txBody>
      </p:sp>
      <p:sp>
        <p:nvSpPr>
          <p:cNvPr id="26" name="Rounded Rectangle 25"/>
          <p:cNvSpPr/>
          <p:nvPr/>
        </p:nvSpPr>
        <p:spPr>
          <a:xfrm>
            <a:off x="6245352" y="3794760"/>
            <a:ext cx="5486400" cy="1737360"/>
          </a:xfrm>
          <a:prstGeom prst="roundRect">
            <a:avLst>
              <a:gd name="adj" fmla="val 6000"/>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428232" y="3886200"/>
            <a:ext cx="5120640" cy="411480"/>
          </a:xfrm>
          <a:prstGeom prst="rect">
            <a:avLst/>
          </a:prstGeom>
          <a:noFill/>
        </p:spPr>
        <p:txBody>
          <a:bodyPr wrap="square" lIns="45720" tIns="27432" rIns="45720" bIns="27432" anchor="t"/>
          <a:lstStyle/>
          <a:p>
            <a:pPr algn="l"/>
            <a:r>
              <a:rPr sz="1650" b="1" i="0">
                <a:solidFill>
                  <a:srgbClr val="284F3E"/>
                </a:solidFill>
                <a:latin typeface="Calibri"/>
              </a:rPr>
              <a:t>Chinese commodity producers</a:t>
            </a:r>
          </a:p>
        </p:txBody>
      </p:sp>
      <p:sp>
        <p:nvSpPr>
          <p:cNvPr id="28" name="TextBox 27"/>
          <p:cNvSpPr txBox="1"/>
          <p:nvPr/>
        </p:nvSpPr>
        <p:spPr>
          <a:xfrm>
            <a:off x="6428232" y="432511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Price-competitive</a:t>
            </a:r>
          </a:p>
          <a:p>
            <a:pPr algn="l">
              <a:spcAft>
                <a:spcPts val="400"/>
              </a:spcAft>
            </a:pPr>
            <a:r>
              <a:rPr sz="1500" b="1" i="0">
                <a:solidFill>
                  <a:srgbClr val="C55A11"/>
                </a:solidFill>
                <a:latin typeface="Calibri"/>
              </a:rPr>
              <a:t>–  </a:t>
            </a:r>
            <a:r>
              <a:rPr sz="1500" b="0" i="0">
                <a:solidFill>
                  <a:srgbClr val="262626"/>
                </a:solidFill>
                <a:latin typeface="Calibri"/>
              </a:rPr>
              <a:t>Variable consistency; supply-continuity risk</a:t>
            </a:r>
          </a:p>
        </p:txBody>
      </p:sp>
      <p:sp>
        <p:nvSpPr>
          <p:cNvPr id="29" name="Rounded Rectangle 28"/>
          <p:cNvSpPr/>
          <p:nvPr/>
        </p:nvSpPr>
        <p:spPr>
          <a:xfrm>
            <a:off x="6245352" y="5669280"/>
            <a:ext cx="5486400" cy="1737360"/>
          </a:xfrm>
          <a:prstGeom prst="roundRect">
            <a:avLst>
              <a:gd name="adj" fmla="val 6000"/>
            </a:avLst>
          </a:prstGeom>
          <a:solidFill>
            <a:srgbClr val="EAF5EE"/>
          </a:solidFill>
          <a:ln w="2540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428232" y="5760720"/>
            <a:ext cx="5120640" cy="411480"/>
          </a:xfrm>
          <a:prstGeom prst="rect">
            <a:avLst/>
          </a:prstGeom>
          <a:noFill/>
        </p:spPr>
        <p:txBody>
          <a:bodyPr wrap="square" lIns="45720" tIns="27432" rIns="45720" bIns="27432" anchor="t"/>
          <a:lstStyle/>
          <a:p>
            <a:pPr algn="l"/>
            <a:r>
              <a:rPr sz="1650" b="1" i="0">
                <a:solidFill>
                  <a:srgbClr val="1E9E57"/>
                </a:solidFill>
                <a:latin typeface="Calibri"/>
              </a:rPr>
              <a:t>AMINATURE® – CJ BIO</a:t>
            </a:r>
          </a:p>
        </p:txBody>
      </p:sp>
      <p:sp>
        <p:nvSpPr>
          <p:cNvPr id="31" name="TextBox 30"/>
          <p:cNvSpPr txBox="1"/>
          <p:nvPr/>
        </p:nvSpPr>
        <p:spPr>
          <a:xfrm>
            <a:off x="6428232" y="6199632"/>
            <a:ext cx="5120640" cy="1170432"/>
          </a:xfrm>
          <a:prstGeom prst="rect">
            <a:avLst/>
          </a:prstGeom>
          <a:noFill/>
        </p:spPr>
        <p:txBody>
          <a:bodyPr wrap="square" lIns="45720" tIns="27432" rIns="45720" bIns="27432" anchor="t"/>
          <a:lstStyle/>
          <a:p>
            <a:pPr algn="l">
              <a:spcAft>
                <a:spcPts val="400"/>
              </a:spcAft>
            </a:pPr>
            <a:r>
              <a:rPr sz="1500" b="1" i="0">
                <a:solidFill>
                  <a:srgbClr val="1E9E57"/>
                </a:solidFill>
                <a:latin typeface="Calibri"/>
              </a:rPr>
              <a:t>+  </a:t>
            </a:r>
            <a:r>
              <a:rPr sz="1500" b="0" i="0">
                <a:solidFill>
                  <a:srgbClr val="262626"/>
                </a:solidFill>
                <a:latin typeface="Calibri"/>
              </a:rPr>
              <a:t>Fermented from non-GMO plant material; vegan; global scale &amp; consistent quality</a:t>
            </a:r>
          </a:p>
          <a:p>
            <a:pPr algn="l">
              <a:spcAft>
                <a:spcPts val="400"/>
              </a:spcAft>
            </a:pPr>
            <a:r>
              <a:rPr sz="1500" b="1" i="0">
                <a:solidFill>
                  <a:srgbClr val="284F3E"/>
                </a:solidFill>
                <a:latin typeface="Calibri"/>
              </a:rPr>
              <a:t>→  </a:t>
            </a:r>
            <a:r>
              <a:rPr sz="1500" b="1" i="0">
                <a:solidFill>
                  <a:srgbClr val="262626"/>
                </a:solidFill>
                <a:latin typeface="Calibri"/>
              </a:rPr>
              <a:t>Win on quality, reliability &amp; clean-label story</a:t>
            </a:r>
          </a:p>
        </p:txBody>
      </p:sp>
      <p:sp>
        <p:nvSpPr>
          <p:cNvPr id="32" name="Rounded Rectangle 31"/>
          <p:cNvSpPr/>
          <p:nvPr/>
        </p:nvSpPr>
        <p:spPr>
          <a:xfrm>
            <a:off x="457200" y="7635240"/>
            <a:ext cx="11274552" cy="868680"/>
          </a:xfrm>
          <a:prstGeom prst="roundRect">
            <a:avLst>
              <a:gd name="adj" fmla="val 10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BFE3CC"/>
                </a:solidFill>
                <a:latin typeface="Calibri"/>
              </a:rPr>
              <a:t>Our selling approach: </a:t>
            </a:r>
            <a:r>
              <a:rPr sz="1700" b="0" i="0">
                <a:solidFill>
                  <a:srgbClr val="FFFFFF"/>
                </a:solidFill>
                <a:latin typeface="Calibri"/>
              </a:rPr>
              <a:t>sell value (cost-in-use, label, claims) and prove it with application trials — not price per kg</a:t>
            </a:r>
          </a:p>
        </p:txBody>
      </p:sp>
      <p:sp>
        <p:nvSpPr>
          <p:cNvPr id="33" name="TextBox 32"/>
          <p:cNvSpPr txBox="1"/>
          <p:nvPr/>
        </p:nvSpPr>
        <p:spPr>
          <a:xfrm>
            <a:off x="457200" y="8613648"/>
            <a:ext cx="11247120" cy="320040"/>
          </a:xfrm>
          <a:prstGeom prst="rect">
            <a:avLst/>
          </a:prstGeom>
          <a:noFill/>
        </p:spPr>
        <p:txBody>
          <a:bodyPr wrap="square" lIns="45720" tIns="27432" rIns="45720" bIns="27432" anchor="t"/>
          <a:lstStyle/>
          <a:p>
            <a:pPr algn="l"/>
            <a:r>
              <a:rPr sz="1000" b="0" i="1">
                <a:solidFill>
                  <a:srgbClr val="595959"/>
                </a:solidFill>
                <a:latin typeface="Calibri"/>
              </a:rPr>
              <a:t>Sources: BJC Vietnam experience; cjbio.net product pages (Oct 2026); Nutrition Insight (Apr 2018) on China supply risk.</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Go-to-Market Roadmap</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Pentagon 7"/>
          <p:cNvSpPr/>
          <p:nvPr/>
        </p:nvSpPr>
        <p:spPr>
          <a:xfrm>
            <a:off x="457200" y="1234440"/>
            <a:ext cx="2926080" cy="914400"/>
          </a:xfrm>
          <a:prstGeom prst="homePlat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1  ONBOARD</a:t>
            </a:r>
          </a:p>
          <a:p>
            <a:pPr algn="ctr"/>
            <a:r>
              <a:rPr sz="1350" b="0" i="0">
                <a:solidFill>
                  <a:srgbClr val="FFFFFF"/>
                </a:solidFill>
                <a:latin typeface="Calibri"/>
              </a:rPr>
              <a:t>Oct – Dec 2026</a:t>
            </a:r>
          </a:p>
        </p:txBody>
      </p:sp>
      <p:sp>
        <p:nvSpPr>
          <p:cNvPr id="9" name="Rounded Rectangle 8"/>
          <p:cNvSpPr/>
          <p:nvPr/>
        </p:nvSpPr>
        <p:spPr>
          <a:xfrm>
            <a:off x="457200" y="2331720"/>
            <a:ext cx="2670048" cy="38862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66928" y="2468880"/>
            <a:ext cx="2468880" cy="370332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Distribution agreement &amp; NDA</a:t>
            </a:r>
          </a:p>
          <a:p>
            <a:pPr marL="182880" indent="-182880" algn="l">
              <a:spcAft>
                <a:spcPts val="800"/>
              </a:spcAft>
              <a:buFont typeface="Arial"/>
              <a:buChar char="•"/>
            </a:pPr>
            <a:r>
              <a:rPr sz="1500" b="0" i="0">
                <a:solidFill>
                  <a:srgbClr val="262626"/>
                </a:solidFill>
                <a:latin typeface="Calibri"/>
              </a:rPr>
              <a:t>CJ product training for BJCS team</a:t>
            </a:r>
          </a:p>
          <a:p>
            <a:pPr marL="182880" indent="-182880" algn="l">
              <a:spcAft>
                <a:spcPts val="800"/>
              </a:spcAft>
              <a:buFont typeface="Arial"/>
              <a:buChar char="•"/>
            </a:pPr>
            <a:r>
              <a:rPr sz="1500" b="0" i="0">
                <a:solidFill>
                  <a:srgbClr val="262626"/>
                </a:solidFill>
                <a:latin typeface="Calibri"/>
              </a:rPr>
              <a:t>Confirm HYBIND classification &amp; certificates</a:t>
            </a:r>
          </a:p>
          <a:p>
            <a:pPr marL="182880" indent="-182880" algn="l">
              <a:spcAft>
                <a:spcPts val="800"/>
              </a:spcAft>
              <a:buFont typeface="Arial"/>
              <a:buChar char="•"/>
            </a:pPr>
            <a:r>
              <a:rPr sz="1500" b="0" i="0">
                <a:solidFill>
                  <a:srgbClr val="262626"/>
                </a:solidFill>
                <a:latin typeface="Calibri"/>
              </a:rPr>
              <a:t>Declaration dossiers, sub-labels</a:t>
            </a:r>
          </a:p>
          <a:p>
            <a:pPr marL="182880" indent="-182880" algn="l">
              <a:spcAft>
                <a:spcPts val="800"/>
              </a:spcAft>
              <a:buFont typeface="Arial"/>
              <a:buChar char="•"/>
            </a:pPr>
            <a:r>
              <a:rPr sz="1500" b="0" i="0">
                <a:solidFill>
                  <a:srgbClr val="262626"/>
                </a:solidFill>
                <a:latin typeface="Calibri"/>
              </a:rPr>
              <a:t>Price, MOQ, lead time</a:t>
            </a:r>
          </a:p>
        </p:txBody>
      </p:sp>
      <p:sp>
        <p:nvSpPr>
          <p:cNvPr id="11" name="Chevron 10"/>
          <p:cNvSpPr/>
          <p:nvPr/>
        </p:nvSpPr>
        <p:spPr>
          <a:xfrm>
            <a:off x="3236976" y="1234440"/>
            <a:ext cx="2926080" cy="914400"/>
          </a:xfrm>
          <a:prstGeom prst="chevron">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2  SEED</a:t>
            </a:r>
          </a:p>
          <a:p>
            <a:pPr algn="ctr"/>
            <a:r>
              <a:rPr sz="1350" b="0" i="0">
                <a:solidFill>
                  <a:srgbClr val="FFFFFF"/>
                </a:solidFill>
                <a:latin typeface="Calibri"/>
              </a:rPr>
              <a:t>Q1 2027</a:t>
            </a:r>
          </a:p>
        </p:txBody>
      </p:sp>
      <p:sp>
        <p:nvSpPr>
          <p:cNvPr id="12" name="Rounded Rectangle 11"/>
          <p:cNvSpPr/>
          <p:nvPr/>
        </p:nvSpPr>
        <p:spPr>
          <a:xfrm>
            <a:off x="3236976" y="2331720"/>
            <a:ext cx="2670048" cy="38862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346704" y="2468880"/>
            <a:ext cx="2468880" cy="370332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Present &amp; sample ~20 priority accounts</a:t>
            </a:r>
          </a:p>
          <a:p>
            <a:pPr marL="182880" indent="-182880" algn="l">
              <a:spcAft>
                <a:spcPts val="800"/>
              </a:spcAft>
              <a:buFont typeface="Arial"/>
              <a:buChar char="•"/>
            </a:pPr>
            <a:r>
              <a:rPr sz="1500" b="0" i="0">
                <a:solidFill>
                  <a:srgbClr val="262626"/>
                </a:solidFill>
                <a:latin typeface="Calibri"/>
              </a:rPr>
              <a:t>Joint visits CJ BIO VN + BJCS</a:t>
            </a:r>
          </a:p>
          <a:p>
            <a:pPr marL="182880" indent="-182880" algn="l">
              <a:spcAft>
                <a:spcPts val="800"/>
              </a:spcAft>
              <a:buFont typeface="Arial"/>
              <a:buChar char="•"/>
            </a:pPr>
            <a:r>
              <a:rPr sz="1500" b="0" i="0">
                <a:solidFill>
                  <a:srgbClr val="262626"/>
                </a:solidFill>
                <a:latin typeface="Calibri"/>
              </a:rPr>
              <a:t>Lab trials (customer labs / BJCS Application Lab)</a:t>
            </a:r>
          </a:p>
        </p:txBody>
      </p:sp>
      <p:sp>
        <p:nvSpPr>
          <p:cNvPr id="14" name="Chevron 13"/>
          <p:cNvSpPr/>
          <p:nvPr/>
        </p:nvSpPr>
        <p:spPr>
          <a:xfrm>
            <a:off x="6016752" y="1234440"/>
            <a:ext cx="2926080" cy="914400"/>
          </a:xfrm>
          <a:prstGeom prst="chevron">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3  VALIDATE</a:t>
            </a:r>
          </a:p>
          <a:p>
            <a:pPr algn="ctr"/>
            <a:r>
              <a:rPr sz="1350" b="0" i="0">
                <a:solidFill>
                  <a:srgbClr val="FFFFFF"/>
                </a:solidFill>
                <a:latin typeface="Calibri"/>
              </a:rPr>
              <a:t>Q2 2027</a:t>
            </a:r>
          </a:p>
        </p:txBody>
      </p:sp>
      <p:sp>
        <p:nvSpPr>
          <p:cNvPr id="15" name="Rounded Rectangle 14"/>
          <p:cNvSpPr/>
          <p:nvPr/>
        </p:nvSpPr>
        <p:spPr>
          <a:xfrm>
            <a:off x="6016752" y="2331720"/>
            <a:ext cx="2670048" cy="38862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126480" y="2468880"/>
            <a:ext cx="2468880" cy="370332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Plant trials &amp; blind sensory tests</a:t>
            </a:r>
          </a:p>
          <a:p>
            <a:pPr marL="182880" indent="-182880" algn="l">
              <a:spcAft>
                <a:spcPts val="800"/>
              </a:spcAft>
              <a:buFont typeface="Arial"/>
              <a:buChar char="•"/>
            </a:pPr>
            <a:r>
              <a:rPr sz="1500" b="0" i="0">
                <a:solidFill>
                  <a:srgbClr val="262626"/>
                </a:solidFill>
                <a:latin typeface="Calibri"/>
              </a:rPr>
              <a:t>Cost-in-use &amp; shelf-life validation</a:t>
            </a:r>
          </a:p>
          <a:p>
            <a:pPr marL="182880" indent="-182880" algn="l">
              <a:spcAft>
                <a:spcPts val="800"/>
              </a:spcAft>
              <a:buFont typeface="Arial"/>
              <a:buChar char="•"/>
            </a:pPr>
            <a:r>
              <a:rPr sz="1500" b="0" i="0">
                <a:solidFill>
                  <a:srgbClr val="262626"/>
                </a:solidFill>
                <a:latin typeface="Calibri"/>
              </a:rPr>
              <a:t>Customer approvals &amp; first orders</a:t>
            </a:r>
          </a:p>
        </p:txBody>
      </p:sp>
      <p:sp>
        <p:nvSpPr>
          <p:cNvPr id="17" name="Chevron 16"/>
          <p:cNvSpPr/>
          <p:nvPr/>
        </p:nvSpPr>
        <p:spPr>
          <a:xfrm>
            <a:off x="8796528" y="1234440"/>
            <a:ext cx="2926080" cy="914400"/>
          </a:xfrm>
          <a:prstGeom prst="chevron">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700" b="1" i="0">
                <a:solidFill>
                  <a:srgbClr val="FFFFFF"/>
                </a:solidFill>
                <a:latin typeface="Calibri"/>
              </a:rPr>
              <a:t>4  SCALE</a:t>
            </a:r>
          </a:p>
          <a:p>
            <a:pPr algn="ctr"/>
            <a:r>
              <a:rPr sz="1350" b="0" i="0">
                <a:solidFill>
                  <a:srgbClr val="FFFFFF"/>
                </a:solidFill>
                <a:latin typeface="Calibri"/>
              </a:rPr>
              <a:t>H2 2027</a:t>
            </a:r>
          </a:p>
        </p:txBody>
      </p:sp>
      <p:sp>
        <p:nvSpPr>
          <p:cNvPr id="18" name="Rounded Rectangle 17"/>
          <p:cNvSpPr/>
          <p:nvPr/>
        </p:nvSpPr>
        <p:spPr>
          <a:xfrm>
            <a:off x="8796528" y="2331720"/>
            <a:ext cx="2670048" cy="3886200"/>
          </a:xfrm>
          <a:prstGeom prst="roundRect">
            <a:avLst>
              <a:gd name="adj" fmla="val 5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8906256" y="2468880"/>
            <a:ext cx="2468880" cy="3703320"/>
          </a:xfrm>
          <a:prstGeom prst="rect">
            <a:avLst/>
          </a:prstGeom>
          <a:noFill/>
        </p:spPr>
        <p:txBody>
          <a:bodyPr wrap="square" lIns="45720" tIns="27432" rIns="45720" bIns="27432" anchor="t"/>
          <a:lstStyle/>
          <a:p>
            <a:pPr marL="182880" indent="-182880" algn="l">
              <a:spcAft>
                <a:spcPts val="800"/>
              </a:spcAft>
              <a:buFont typeface="Arial"/>
              <a:buChar char="•"/>
            </a:pPr>
            <a:r>
              <a:rPr sz="1500" b="0" i="0">
                <a:solidFill>
                  <a:srgbClr val="262626"/>
                </a:solidFill>
                <a:latin typeface="Calibri"/>
              </a:rPr>
              <a:t>Ex-stock inventory for fast delivery</a:t>
            </a:r>
          </a:p>
          <a:p>
            <a:pPr marL="182880" indent="-182880" algn="l">
              <a:spcAft>
                <a:spcPts val="800"/>
              </a:spcAft>
              <a:buFont typeface="Arial"/>
              <a:buChar char="•"/>
            </a:pPr>
            <a:r>
              <a:rPr sz="1500" b="0" i="0">
                <a:solidFill>
                  <a:srgbClr val="262626"/>
                </a:solidFill>
                <a:latin typeface="Calibri"/>
              </a:rPr>
              <a:t>Expand to second-tier &amp; Central-region accounts</a:t>
            </a:r>
          </a:p>
          <a:p>
            <a:pPr marL="182880" indent="-182880" algn="l">
              <a:spcAft>
                <a:spcPts val="800"/>
              </a:spcAft>
              <a:buFont typeface="Arial"/>
              <a:buChar char="•"/>
            </a:pPr>
            <a:r>
              <a:rPr sz="1500" b="0" i="0">
                <a:solidFill>
                  <a:srgbClr val="262626"/>
                </a:solidFill>
                <a:latin typeface="Calibri"/>
              </a:rPr>
              <a:t>Quarterly business review with CJ BIO</a:t>
            </a:r>
          </a:p>
        </p:txBody>
      </p:sp>
      <p:sp>
        <p:nvSpPr>
          <p:cNvPr id="20" name="TextBox 19"/>
          <p:cNvSpPr txBox="1"/>
          <p:nvPr/>
        </p:nvSpPr>
        <p:spPr>
          <a:xfrm>
            <a:off x="457200" y="6400800"/>
            <a:ext cx="11274552" cy="411480"/>
          </a:xfrm>
          <a:prstGeom prst="rect">
            <a:avLst/>
          </a:prstGeom>
          <a:noFill/>
        </p:spPr>
        <p:txBody>
          <a:bodyPr wrap="square" lIns="45720" tIns="27432" rIns="45720" bIns="27432" anchor="t"/>
          <a:lstStyle/>
          <a:p>
            <a:pPr algn="l"/>
            <a:r>
              <a:rPr sz="1800" b="1" i="0">
                <a:solidFill>
                  <a:srgbClr val="284F3E"/>
                </a:solidFill>
                <a:latin typeface="Calibri"/>
              </a:rPr>
              <a:t>What we report to CJ BIO every month</a:t>
            </a:r>
          </a:p>
        </p:txBody>
      </p:sp>
      <p:sp>
        <p:nvSpPr>
          <p:cNvPr id="21" name="Rounded Rectangle 20"/>
          <p:cNvSpPr/>
          <p:nvPr/>
        </p:nvSpPr>
        <p:spPr>
          <a:xfrm>
            <a:off x="457200" y="6858000"/>
            <a:ext cx="2167128" cy="96012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576072" y="7059168"/>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target_w.png"/>
          <p:cNvPicPr>
            <a:picLocks noChangeAspect="1"/>
          </p:cNvPicPr>
          <p:nvPr/>
        </p:nvPicPr>
        <p:blipFill>
          <a:blip r:embed="rId7"/>
          <a:stretch>
            <a:fillRect/>
          </a:stretch>
        </p:blipFill>
        <p:spPr>
          <a:xfrm>
            <a:off x="712134" y="7195230"/>
            <a:ext cx="294802" cy="294802"/>
          </a:xfrm>
          <a:prstGeom prst="rect">
            <a:avLst/>
          </a:prstGeom>
        </p:spPr>
      </p:pic>
      <p:sp>
        <p:nvSpPr>
          <p:cNvPr id="24" name="TextBox 23"/>
          <p:cNvSpPr txBox="1"/>
          <p:nvPr/>
        </p:nvSpPr>
        <p:spPr>
          <a:xfrm>
            <a:off x="1207007" y="6903720"/>
            <a:ext cx="1371600" cy="868680"/>
          </a:xfrm>
          <a:prstGeom prst="rect">
            <a:avLst/>
          </a:prstGeom>
          <a:noFill/>
        </p:spPr>
        <p:txBody>
          <a:bodyPr wrap="square" lIns="45720" tIns="27432" rIns="45720" bIns="27432" anchor="ctr"/>
          <a:lstStyle/>
          <a:p>
            <a:pPr algn="l"/>
            <a:r>
              <a:rPr sz="1450" b="1" i="0">
                <a:solidFill>
                  <a:srgbClr val="284F3E"/>
                </a:solidFill>
                <a:latin typeface="Calibri"/>
              </a:rPr>
              <a:t>Accounts presented</a:t>
            </a:r>
          </a:p>
        </p:txBody>
      </p:sp>
      <p:sp>
        <p:nvSpPr>
          <p:cNvPr id="25" name="Rounded Rectangle 24"/>
          <p:cNvSpPr/>
          <p:nvPr/>
        </p:nvSpPr>
        <p:spPr>
          <a:xfrm>
            <a:off x="2734056" y="6858000"/>
            <a:ext cx="2167128" cy="96012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Oval 25"/>
          <p:cNvSpPr/>
          <p:nvPr/>
        </p:nvSpPr>
        <p:spPr>
          <a:xfrm>
            <a:off x="2852928" y="7059168"/>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ubes_w.png"/>
          <p:cNvPicPr>
            <a:picLocks noChangeAspect="1"/>
          </p:cNvPicPr>
          <p:nvPr/>
        </p:nvPicPr>
        <p:blipFill>
          <a:blip r:embed="rId8"/>
          <a:stretch>
            <a:fillRect/>
          </a:stretch>
        </p:blipFill>
        <p:spPr>
          <a:xfrm>
            <a:off x="2988990" y="7195230"/>
            <a:ext cx="294802" cy="294802"/>
          </a:xfrm>
          <a:prstGeom prst="rect">
            <a:avLst/>
          </a:prstGeom>
        </p:spPr>
      </p:pic>
      <p:sp>
        <p:nvSpPr>
          <p:cNvPr id="28" name="TextBox 27"/>
          <p:cNvSpPr txBox="1"/>
          <p:nvPr/>
        </p:nvSpPr>
        <p:spPr>
          <a:xfrm>
            <a:off x="3483864" y="6903720"/>
            <a:ext cx="1371600" cy="868680"/>
          </a:xfrm>
          <a:prstGeom prst="rect">
            <a:avLst/>
          </a:prstGeom>
          <a:noFill/>
        </p:spPr>
        <p:txBody>
          <a:bodyPr wrap="square" lIns="45720" tIns="27432" rIns="45720" bIns="27432" anchor="ctr"/>
          <a:lstStyle/>
          <a:p>
            <a:pPr algn="l"/>
            <a:r>
              <a:rPr sz="1450" b="1" i="0">
                <a:solidFill>
                  <a:srgbClr val="284F3E"/>
                </a:solidFill>
                <a:latin typeface="Calibri"/>
              </a:rPr>
              <a:t>Samples delivered</a:t>
            </a:r>
          </a:p>
        </p:txBody>
      </p:sp>
      <p:sp>
        <p:nvSpPr>
          <p:cNvPr id="29" name="Rounded Rectangle 28"/>
          <p:cNvSpPr/>
          <p:nvPr/>
        </p:nvSpPr>
        <p:spPr>
          <a:xfrm>
            <a:off x="5010912" y="6858000"/>
            <a:ext cx="2167128" cy="96012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Oval 29"/>
          <p:cNvSpPr/>
          <p:nvPr/>
        </p:nvSpPr>
        <p:spPr>
          <a:xfrm>
            <a:off x="5129784" y="7059168"/>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flask_w.png"/>
          <p:cNvPicPr>
            <a:picLocks noChangeAspect="1"/>
          </p:cNvPicPr>
          <p:nvPr/>
        </p:nvPicPr>
        <p:blipFill>
          <a:blip r:embed="rId9"/>
          <a:stretch>
            <a:fillRect/>
          </a:stretch>
        </p:blipFill>
        <p:spPr>
          <a:xfrm>
            <a:off x="5265846" y="7195230"/>
            <a:ext cx="294802" cy="294802"/>
          </a:xfrm>
          <a:prstGeom prst="rect">
            <a:avLst/>
          </a:prstGeom>
        </p:spPr>
      </p:pic>
      <p:sp>
        <p:nvSpPr>
          <p:cNvPr id="32" name="TextBox 31"/>
          <p:cNvSpPr txBox="1"/>
          <p:nvPr/>
        </p:nvSpPr>
        <p:spPr>
          <a:xfrm>
            <a:off x="5760720" y="6903720"/>
            <a:ext cx="1371600" cy="868680"/>
          </a:xfrm>
          <a:prstGeom prst="rect">
            <a:avLst/>
          </a:prstGeom>
          <a:noFill/>
        </p:spPr>
        <p:txBody>
          <a:bodyPr wrap="square" lIns="45720" tIns="27432" rIns="45720" bIns="27432" anchor="ctr"/>
          <a:lstStyle/>
          <a:p>
            <a:pPr algn="l"/>
            <a:r>
              <a:rPr sz="1450" b="1" i="0">
                <a:solidFill>
                  <a:srgbClr val="284F3E"/>
                </a:solidFill>
                <a:latin typeface="Calibri"/>
              </a:rPr>
              <a:t>Lab &amp; plant trials</a:t>
            </a:r>
          </a:p>
        </p:txBody>
      </p:sp>
      <p:sp>
        <p:nvSpPr>
          <p:cNvPr id="33" name="Rounded Rectangle 32"/>
          <p:cNvSpPr/>
          <p:nvPr/>
        </p:nvSpPr>
        <p:spPr>
          <a:xfrm>
            <a:off x="7287768" y="6858000"/>
            <a:ext cx="2167128" cy="96012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Oval 33"/>
          <p:cNvSpPr/>
          <p:nvPr/>
        </p:nvSpPr>
        <p:spPr>
          <a:xfrm>
            <a:off x="7406640" y="7059168"/>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5" name="Picture 34" descr="check_w.png"/>
          <p:cNvPicPr>
            <a:picLocks noChangeAspect="1"/>
          </p:cNvPicPr>
          <p:nvPr/>
        </p:nvPicPr>
        <p:blipFill>
          <a:blip r:embed="rId10"/>
          <a:stretch>
            <a:fillRect/>
          </a:stretch>
        </p:blipFill>
        <p:spPr>
          <a:xfrm>
            <a:off x="7542702" y="7195230"/>
            <a:ext cx="294802" cy="294802"/>
          </a:xfrm>
          <a:prstGeom prst="rect">
            <a:avLst/>
          </a:prstGeom>
        </p:spPr>
      </p:pic>
      <p:sp>
        <p:nvSpPr>
          <p:cNvPr id="36" name="TextBox 35"/>
          <p:cNvSpPr txBox="1"/>
          <p:nvPr/>
        </p:nvSpPr>
        <p:spPr>
          <a:xfrm>
            <a:off x="8037576" y="6903720"/>
            <a:ext cx="1371600" cy="868680"/>
          </a:xfrm>
          <a:prstGeom prst="rect">
            <a:avLst/>
          </a:prstGeom>
          <a:noFill/>
        </p:spPr>
        <p:txBody>
          <a:bodyPr wrap="square" lIns="45720" tIns="27432" rIns="45720" bIns="27432" anchor="ctr"/>
          <a:lstStyle/>
          <a:p>
            <a:pPr algn="l"/>
            <a:r>
              <a:rPr sz="1450" b="1" i="0">
                <a:solidFill>
                  <a:srgbClr val="284F3E"/>
                </a:solidFill>
                <a:latin typeface="Calibri"/>
              </a:rPr>
              <a:t>Customer approvals</a:t>
            </a:r>
          </a:p>
        </p:txBody>
      </p:sp>
      <p:sp>
        <p:nvSpPr>
          <p:cNvPr id="37" name="Rounded Rectangle 36"/>
          <p:cNvSpPr/>
          <p:nvPr/>
        </p:nvSpPr>
        <p:spPr>
          <a:xfrm>
            <a:off x="9564624" y="6858000"/>
            <a:ext cx="2167128" cy="960120"/>
          </a:xfrm>
          <a:prstGeom prst="roundRect">
            <a:avLst>
              <a:gd name="adj" fmla="val 10000"/>
            </a:avLst>
          </a:prstGeom>
          <a:solidFill>
            <a:srgbClr val="FFFFFF"/>
          </a:solidFill>
          <a:ln w="15875">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Oval 37"/>
          <p:cNvSpPr/>
          <p:nvPr/>
        </p:nvSpPr>
        <p:spPr>
          <a:xfrm>
            <a:off x="9683496" y="7059168"/>
            <a:ext cx="566928" cy="566928"/>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chart_w.png"/>
          <p:cNvPicPr>
            <a:picLocks noChangeAspect="1"/>
          </p:cNvPicPr>
          <p:nvPr/>
        </p:nvPicPr>
        <p:blipFill>
          <a:blip r:embed="rId11"/>
          <a:stretch>
            <a:fillRect/>
          </a:stretch>
        </p:blipFill>
        <p:spPr>
          <a:xfrm>
            <a:off x="9819558" y="7195230"/>
            <a:ext cx="294802" cy="294802"/>
          </a:xfrm>
          <a:prstGeom prst="rect">
            <a:avLst/>
          </a:prstGeom>
        </p:spPr>
      </p:pic>
      <p:sp>
        <p:nvSpPr>
          <p:cNvPr id="40" name="TextBox 39"/>
          <p:cNvSpPr txBox="1"/>
          <p:nvPr/>
        </p:nvSpPr>
        <p:spPr>
          <a:xfrm>
            <a:off x="10314432" y="6903720"/>
            <a:ext cx="1371600" cy="868680"/>
          </a:xfrm>
          <a:prstGeom prst="rect">
            <a:avLst/>
          </a:prstGeom>
          <a:noFill/>
        </p:spPr>
        <p:txBody>
          <a:bodyPr wrap="square" lIns="45720" tIns="27432" rIns="45720" bIns="27432" anchor="ctr"/>
          <a:lstStyle/>
          <a:p>
            <a:pPr algn="l"/>
            <a:r>
              <a:rPr sz="1450" b="1" i="0">
                <a:solidFill>
                  <a:srgbClr val="284F3E"/>
                </a:solidFill>
                <a:latin typeface="Calibri"/>
              </a:rPr>
              <a:t>Pipeline value</a:t>
            </a:r>
          </a:p>
        </p:txBody>
      </p:sp>
      <p:sp>
        <p:nvSpPr>
          <p:cNvPr id="41" name="TextBox 40"/>
          <p:cNvSpPr txBox="1"/>
          <p:nvPr/>
        </p:nvSpPr>
        <p:spPr>
          <a:xfrm>
            <a:off x="457200" y="8046720"/>
            <a:ext cx="11247120" cy="320040"/>
          </a:xfrm>
          <a:prstGeom prst="rect">
            <a:avLst/>
          </a:prstGeom>
          <a:noFill/>
        </p:spPr>
        <p:txBody>
          <a:bodyPr wrap="square" lIns="45720" tIns="27432" rIns="45720" bIns="27432" anchor="t"/>
          <a:lstStyle/>
          <a:p>
            <a:pPr algn="l"/>
            <a:r>
              <a:rPr sz="1000" b="0" i="1">
                <a:solidFill>
                  <a:srgbClr val="595959"/>
                </a:solidFill>
                <a:latin typeface="Calibri"/>
              </a:rPr>
              <a:t>Source: BJC Vietnam plan. Volume targets to be set jointly with CJ BIO once trial results are available.</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37D364D3-592B-2DAA-FD8F-32FC9730A630}"/>
            </a:ext>
          </a:extLst>
        </p:cNvPr>
        <p:cNvGrpSpPr/>
        <p:nvPr/>
      </p:nvGrpSpPr>
      <p:grpSpPr>
        <a:xfrm>
          <a:off x="0" y="0"/>
          <a:ext cx="0" cy="0"/>
          <a:chOff x="0" y="0"/>
          <a:chExt cx="0" cy="0"/>
        </a:xfrm>
      </p:grpSpPr>
      <p:sp>
        <p:nvSpPr>
          <p:cNvPr id="6" name="object 6">
            <a:extLst>
              <a:ext uri="{FF2B5EF4-FFF2-40B4-BE49-F238E27FC236}">
                <a16:creationId xmlns:a16="http://schemas.microsoft.com/office/drawing/2014/main" id="{ABE4F2FD-33A7-D547-A671-8DBC0D24003B}"/>
              </a:ext>
            </a:extLst>
          </p:cNvPr>
          <p:cNvSpPr txBox="1">
            <a:spLocks noGrp="1"/>
          </p:cNvSpPr>
          <p:nvPr>
            <p:ph type="title"/>
          </p:nvPr>
        </p:nvSpPr>
        <p:spPr>
          <a:xfrm>
            <a:off x="587668" y="59059"/>
            <a:ext cx="11379242" cy="727197"/>
          </a:xfrm>
          <a:prstGeom prst="rect">
            <a:avLst/>
          </a:prstGeom>
        </p:spPr>
        <p:txBody>
          <a:bodyPr vert="horz" wrap="square" lIns="0" tIns="228229" rIns="0" bIns="0" rtlCol="0" anchor="ctr">
            <a:spAutoFit/>
          </a:bodyPr>
          <a:lstStyle/>
          <a:p>
            <a:pPr marL="14942" algn="r">
              <a:lnSpc>
                <a:spcPct val="150000"/>
              </a:lnSpc>
              <a:spcBef>
                <a:spcPts val="153"/>
              </a:spcBef>
              <a:tabLst>
                <a:tab pos="454970" algn="l"/>
              </a:tabLst>
            </a:pPr>
            <a:r>
              <a:rPr lang="en-US" sz="2400" b="1" dirty="0">
                <a:solidFill>
                  <a:srgbClr val="0000CC"/>
                </a:solidFill>
              </a:rPr>
              <a:t>Partnership &amp; Next Steps</a:t>
            </a:r>
          </a:p>
        </p:txBody>
      </p:sp>
      <p:pic>
        <p:nvPicPr>
          <p:cNvPr id="3" name="Picture 2">
            <a:extLst>
              <a:ext uri="{FF2B5EF4-FFF2-40B4-BE49-F238E27FC236}">
                <a16:creationId xmlns:a16="http://schemas.microsoft.com/office/drawing/2014/main" id="{AD7562BD-610E-3C5A-3ACD-C4D544C2B078}"/>
              </a:ext>
            </a:extLst>
          </p:cNvPr>
          <p:cNvPicPr/>
          <p:nvPr/>
        </p:nvPicPr>
        <p:blipFill>
          <a:blip r:embed="rId5" cstate="email">
            <a:extLst>
              <a:ext uri="{28A0092B-C50C-407E-A947-70E740481C1C}">
                <a14:useLocalDpi xmlns:a14="http://schemas.microsoft.com/office/drawing/2010/main"/>
              </a:ext>
            </a:extLst>
          </a:blip>
          <a:stretch>
            <a:fillRect/>
          </a:stretch>
        </p:blipFill>
        <p:spPr>
          <a:xfrm>
            <a:off x="225090" y="41812"/>
            <a:ext cx="2894161" cy="868190"/>
          </a:xfrm>
          <a:prstGeom prst="rect">
            <a:avLst/>
          </a:prstGeom>
        </p:spPr>
      </p:pic>
      <p:grpSp>
        <p:nvGrpSpPr>
          <p:cNvPr id="4" name="Group 3">
            <a:extLst>
              <a:ext uri="{FF2B5EF4-FFF2-40B4-BE49-F238E27FC236}">
                <a16:creationId xmlns:a16="http://schemas.microsoft.com/office/drawing/2014/main" id="{B824B298-24CA-49FF-620B-FAFABE4550B9}"/>
              </a:ext>
            </a:extLst>
          </p:cNvPr>
          <p:cNvGrpSpPr/>
          <p:nvPr/>
        </p:nvGrpSpPr>
        <p:grpSpPr>
          <a:xfrm>
            <a:off x="3310103" y="279484"/>
            <a:ext cx="3206924" cy="530891"/>
            <a:chOff x="4160710" y="152186"/>
            <a:chExt cx="7468340" cy="1236347"/>
          </a:xfrm>
        </p:grpSpPr>
        <p:pic>
          <p:nvPicPr>
            <p:cNvPr id="5" name="Picture 4">
              <a:extLst>
                <a:ext uri="{FF2B5EF4-FFF2-40B4-BE49-F238E27FC236}">
                  <a16:creationId xmlns:a16="http://schemas.microsoft.com/office/drawing/2014/main" id="{D3015D98-870E-CA53-E951-0FFE72AF4C83}"/>
                </a:ext>
              </a:extLst>
            </p:cNvPr>
            <p:cNvPicPr>
              <a:picLocks noChangeAspect="1"/>
            </p:cNvPicPr>
            <p:nvPr/>
          </p:nvPicPr>
          <p:blipFill rotWithShape="1">
            <a:blip r:embed="rId6"/>
            <a:srcRect l="24000" t="30128" r="23579" b="58286"/>
            <a:stretch/>
          </p:blipFill>
          <p:spPr>
            <a:xfrm>
              <a:off x="5125178" y="170201"/>
              <a:ext cx="6503872" cy="1078087"/>
            </a:xfrm>
            <a:prstGeom prst="rect">
              <a:avLst/>
            </a:prstGeom>
          </p:spPr>
        </p:pic>
        <p:pic>
          <p:nvPicPr>
            <p:cNvPr id="7" name="Picture 6">
              <a:extLst>
                <a:ext uri="{FF2B5EF4-FFF2-40B4-BE49-F238E27FC236}">
                  <a16:creationId xmlns:a16="http://schemas.microsoft.com/office/drawing/2014/main" id="{895A07E0-6FA9-3CD5-CECB-1E3059157E86}"/>
                </a:ext>
              </a:extLst>
            </p:cNvPr>
            <p:cNvPicPr>
              <a:picLocks noChangeAspect="1"/>
            </p:cNvPicPr>
            <p:nvPr/>
          </p:nvPicPr>
          <p:blipFill rotWithShape="1">
            <a:blip r:embed="rId6"/>
            <a:srcRect l="43239" t="10955" r="42914" b="68933"/>
            <a:stretch/>
          </p:blipFill>
          <p:spPr>
            <a:xfrm>
              <a:off x="4160710" y="152186"/>
              <a:ext cx="1134948" cy="1236347"/>
            </a:xfrm>
            <a:prstGeom prst="rect">
              <a:avLst/>
            </a:prstGeom>
          </p:spPr>
        </p:pic>
      </p:grpSp>
      <p:sp>
        <p:nvSpPr>
          <p:cNvPr id="8" name="Rounded Rectangle 7"/>
          <p:cNvSpPr/>
          <p:nvPr/>
        </p:nvSpPr>
        <p:spPr>
          <a:xfrm>
            <a:off x="457200" y="1188720"/>
            <a:ext cx="3611880" cy="5806440"/>
          </a:xfrm>
          <a:prstGeom prst="roundRect">
            <a:avLst>
              <a:gd name="adj" fmla="val 4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85800"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handshake_w.png"/>
          <p:cNvPicPr>
            <a:picLocks noChangeAspect="1"/>
          </p:cNvPicPr>
          <p:nvPr/>
        </p:nvPicPr>
        <p:blipFill>
          <a:blip r:embed="rId7"/>
          <a:stretch>
            <a:fillRect/>
          </a:stretch>
        </p:blipFill>
        <p:spPr>
          <a:xfrm>
            <a:off x="850392" y="1536192"/>
            <a:ext cx="356616" cy="356616"/>
          </a:xfrm>
          <a:prstGeom prst="rect">
            <a:avLst/>
          </a:prstGeom>
        </p:spPr>
      </p:pic>
      <p:sp>
        <p:nvSpPr>
          <p:cNvPr id="11" name="TextBox 10"/>
          <p:cNvSpPr txBox="1"/>
          <p:nvPr/>
        </p:nvSpPr>
        <p:spPr>
          <a:xfrm>
            <a:off x="1508760" y="1417320"/>
            <a:ext cx="2468880" cy="594360"/>
          </a:xfrm>
          <a:prstGeom prst="rect">
            <a:avLst/>
          </a:prstGeom>
          <a:noFill/>
        </p:spPr>
        <p:txBody>
          <a:bodyPr wrap="square" lIns="45720" tIns="27432" rIns="45720" bIns="27432" anchor="ctr"/>
          <a:lstStyle/>
          <a:p>
            <a:pPr algn="l"/>
            <a:r>
              <a:rPr sz="1900" b="1" i="0">
                <a:solidFill>
                  <a:srgbClr val="284F3E"/>
                </a:solidFill>
                <a:latin typeface="Calibri"/>
              </a:rPr>
              <a:t>Our proposal</a:t>
            </a:r>
          </a:p>
        </p:txBody>
      </p:sp>
      <p:sp>
        <p:nvSpPr>
          <p:cNvPr id="12" name="TextBox 11"/>
          <p:cNvSpPr txBox="1"/>
          <p:nvPr/>
        </p:nvSpPr>
        <p:spPr>
          <a:xfrm>
            <a:off x="685800" y="2286000"/>
            <a:ext cx="3246120" cy="4617720"/>
          </a:xfrm>
          <a:prstGeom prst="rect">
            <a:avLst/>
          </a:prstGeom>
          <a:noFill/>
        </p:spPr>
        <p:txBody>
          <a:bodyPr wrap="square" lIns="45720" tIns="27432" rIns="45720" bIns="27432" anchor="t"/>
          <a:lstStyle/>
          <a:p>
            <a:pPr marL="182880" indent="-182880" algn="l">
              <a:spcAft>
                <a:spcPts val="1000"/>
              </a:spcAft>
              <a:buFont typeface="Arial"/>
              <a:buChar char="•"/>
            </a:pPr>
            <a:r>
              <a:rPr sz="1550" b="0" i="0">
                <a:solidFill>
                  <a:srgbClr val="262626"/>
                </a:solidFill>
                <a:latin typeface="Calibri"/>
              </a:rPr>
              <a:t>Appoint BJCS Vietnam as exclusive distributor of TasteNrich® HYBIND &amp; FGAA in Vietnam</a:t>
            </a:r>
          </a:p>
          <a:p>
            <a:pPr marL="182880" indent="-182880" algn="l">
              <a:spcAft>
                <a:spcPts val="1000"/>
              </a:spcAft>
              <a:buFont typeface="Arial"/>
              <a:buChar char="•"/>
            </a:pPr>
            <a:r>
              <a:rPr sz="1550" b="0" i="0">
                <a:solidFill>
                  <a:srgbClr val="262626"/>
                </a:solidFill>
                <a:latin typeface="Calibri"/>
              </a:rPr>
              <a:t>Joint business plan with quarterly reviews; targets set after trials</a:t>
            </a:r>
          </a:p>
          <a:p>
            <a:pPr marL="182880" indent="-182880" algn="l">
              <a:spcAft>
                <a:spcPts val="1000"/>
              </a:spcAft>
              <a:buFont typeface="Arial"/>
              <a:buChar char="•"/>
            </a:pPr>
            <a:r>
              <a:rPr sz="1550" b="0" i="0">
                <a:solidFill>
                  <a:srgbClr val="262626"/>
                </a:solidFill>
                <a:latin typeface="Calibri"/>
              </a:rPr>
              <a:t>Open to explore the wider CJ BIO portfolio (e.g., nucleotides I+G, TasteNrich® range) at a later stage</a:t>
            </a:r>
          </a:p>
        </p:txBody>
      </p:sp>
      <p:sp>
        <p:nvSpPr>
          <p:cNvPr id="13" name="Rounded Rectangle 12"/>
          <p:cNvSpPr/>
          <p:nvPr/>
        </p:nvSpPr>
        <p:spPr>
          <a:xfrm>
            <a:off x="4288536" y="1188720"/>
            <a:ext cx="3611880" cy="5806440"/>
          </a:xfrm>
          <a:prstGeom prst="roundRect">
            <a:avLst>
              <a:gd name="adj" fmla="val 4000"/>
            </a:avLst>
          </a:prstGeom>
          <a:solidFill>
            <a:srgbClr val="E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4517136"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ink_w.png"/>
          <p:cNvPicPr>
            <a:picLocks noChangeAspect="1"/>
          </p:cNvPicPr>
          <p:nvPr/>
        </p:nvPicPr>
        <p:blipFill>
          <a:blip r:embed="rId8"/>
          <a:stretch>
            <a:fillRect/>
          </a:stretch>
        </p:blipFill>
        <p:spPr>
          <a:xfrm>
            <a:off x="4681728" y="1536192"/>
            <a:ext cx="356616" cy="356616"/>
          </a:xfrm>
          <a:prstGeom prst="rect">
            <a:avLst/>
          </a:prstGeom>
        </p:spPr>
      </p:pic>
      <p:sp>
        <p:nvSpPr>
          <p:cNvPr id="16" name="TextBox 15"/>
          <p:cNvSpPr txBox="1"/>
          <p:nvPr/>
        </p:nvSpPr>
        <p:spPr>
          <a:xfrm>
            <a:off x="5340096" y="1417320"/>
            <a:ext cx="2468880" cy="594360"/>
          </a:xfrm>
          <a:prstGeom prst="rect">
            <a:avLst/>
          </a:prstGeom>
          <a:noFill/>
        </p:spPr>
        <p:txBody>
          <a:bodyPr wrap="square" lIns="45720" tIns="27432" rIns="45720" bIns="27432" anchor="ctr"/>
          <a:lstStyle/>
          <a:p>
            <a:pPr algn="l"/>
            <a:r>
              <a:rPr sz="1900" b="1" i="0">
                <a:solidFill>
                  <a:srgbClr val="284F3E"/>
                </a:solidFill>
                <a:latin typeface="Calibri"/>
              </a:rPr>
              <a:t>Support from CJ BIO</a:t>
            </a:r>
          </a:p>
        </p:txBody>
      </p:sp>
      <p:sp>
        <p:nvSpPr>
          <p:cNvPr id="17" name="TextBox 16"/>
          <p:cNvSpPr txBox="1"/>
          <p:nvPr/>
        </p:nvSpPr>
        <p:spPr>
          <a:xfrm>
            <a:off x="4517136" y="2286000"/>
            <a:ext cx="3246120" cy="4617720"/>
          </a:xfrm>
          <a:prstGeom prst="rect">
            <a:avLst/>
          </a:prstGeom>
          <a:noFill/>
        </p:spPr>
        <p:txBody>
          <a:bodyPr wrap="square" lIns="45720" tIns="27432" rIns="45720" bIns="27432" anchor="t"/>
          <a:lstStyle/>
          <a:p>
            <a:pPr marL="182880" indent="-182880" algn="l">
              <a:spcAft>
                <a:spcPts val="1000"/>
              </a:spcAft>
              <a:buFont typeface="Arial"/>
              <a:buChar char="•"/>
            </a:pPr>
            <a:r>
              <a:rPr sz="1550" b="0" i="0">
                <a:solidFill>
                  <a:srgbClr val="262626"/>
                </a:solidFill>
                <a:latin typeface="Calibri"/>
              </a:rPr>
              <a:t>Samples &amp; documents: TDS, SDS, COA, specs, certificates (Halal, Kosher, Vegan, plant GMP / FSSC)</a:t>
            </a:r>
          </a:p>
          <a:p>
            <a:pPr marL="182880" indent="-182880" algn="l">
              <a:spcAft>
                <a:spcPts val="1000"/>
              </a:spcAft>
              <a:buFont typeface="Arial"/>
              <a:buChar char="•"/>
            </a:pPr>
            <a:r>
              <a:rPr sz="1550" b="0" i="0">
                <a:solidFill>
                  <a:srgbClr val="262626"/>
                </a:solidFill>
                <a:latin typeface="Calibri"/>
              </a:rPr>
              <a:t>HYBIND regulatory classification &amp; label wording</a:t>
            </a:r>
          </a:p>
          <a:p>
            <a:pPr marL="182880" indent="-182880" algn="l">
              <a:spcAft>
                <a:spcPts val="1000"/>
              </a:spcAft>
              <a:buFont typeface="Arial"/>
              <a:buChar char="•"/>
            </a:pPr>
            <a:r>
              <a:rPr sz="1550" b="0" i="0">
                <a:solidFill>
                  <a:srgbClr val="262626"/>
                </a:solidFill>
                <a:latin typeface="Calibri"/>
              </a:rPr>
              <a:t>Price indication, MOQ, lead time, Incoterms</a:t>
            </a:r>
          </a:p>
          <a:p>
            <a:pPr marL="182880" indent="-182880" algn="l">
              <a:spcAft>
                <a:spcPts val="1000"/>
              </a:spcAft>
              <a:buFont typeface="Arial"/>
              <a:buChar char="•"/>
            </a:pPr>
            <a:r>
              <a:rPr sz="1550" b="0" i="0">
                <a:solidFill>
                  <a:srgbClr val="262626"/>
                </a:solidFill>
                <a:latin typeface="Calibri"/>
              </a:rPr>
              <a:t>Application data, product training &amp; joint customer visits</a:t>
            </a:r>
          </a:p>
        </p:txBody>
      </p:sp>
      <p:sp>
        <p:nvSpPr>
          <p:cNvPr id="18" name="Rounded Rectangle 17"/>
          <p:cNvSpPr/>
          <p:nvPr/>
        </p:nvSpPr>
        <p:spPr>
          <a:xfrm>
            <a:off x="8119872" y="1188720"/>
            <a:ext cx="3611880" cy="5806440"/>
          </a:xfrm>
          <a:prstGeom prst="roundRect">
            <a:avLst>
              <a:gd name="adj" fmla="val 4000"/>
            </a:avLst>
          </a:prstGeom>
          <a:solidFill>
            <a:srgbClr val="FFFFFF"/>
          </a:solidFill>
          <a:ln w="19050">
            <a:solidFill>
              <a:srgbClr val="1E9E57"/>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8348472" y="1371600"/>
            <a:ext cx="685800" cy="685800"/>
          </a:xfrm>
          <a:prstGeom prst="ellipse">
            <a:avLst/>
          </a:prstGeom>
          <a:solidFill>
            <a:srgbClr val="1E9E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calendar_w.png"/>
          <p:cNvPicPr>
            <a:picLocks noChangeAspect="1"/>
          </p:cNvPicPr>
          <p:nvPr/>
        </p:nvPicPr>
        <p:blipFill>
          <a:blip r:embed="rId9"/>
          <a:stretch>
            <a:fillRect/>
          </a:stretch>
        </p:blipFill>
        <p:spPr>
          <a:xfrm>
            <a:off x="8513064" y="1536192"/>
            <a:ext cx="356616" cy="356616"/>
          </a:xfrm>
          <a:prstGeom prst="rect">
            <a:avLst/>
          </a:prstGeom>
        </p:spPr>
      </p:pic>
      <p:sp>
        <p:nvSpPr>
          <p:cNvPr id="21" name="TextBox 20"/>
          <p:cNvSpPr txBox="1"/>
          <p:nvPr/>
        </p:nvSpPr>
        <p:spPr>
          <a:xfrm>
            <a:off x="9171432" y="1417320"/>
            <a:ext cx="2468880" cy="594360"/>
          </a:xfrm>
          <a:prstGeom prst="rect">
            <a:avLst/>
          </a:prstGeom>
          <a:noFill/>
        </p:spPr>
        <p:txBody>
          <a:bodyPr wrap="square" lIns="45720" tIns="27432" rIns="45720" bIns="27432" anchor="ctr"/>
          <a:lstStyle/>
          <a:p>
            <a:pPr algn="l"/>
            <a:r>
              <a:rPr sz="1900" b="1" i="0">
                <a:solidFill>
                  <a:srgbClr val="284F3E"/>
                </a:solidFill>
                <a:latin typeface="Calibri"/>
              </a:rPr>
              <a:t>Next steps</a:t>
            </a:r>
          </a:p>
        </p:txBody>
      </p:sp>
      <p:sp>
        <p:nvSpPr>
          <p:cNvPr id="22" name="Oval 21"/>
          <p:cNvSpPr/>
          <p:nvPr/>
        </p:nvSpPr>
        <p:spPr>
          <a:xfrm>
            <a:off x="8394192" y="2377440"/>
            <a:ext cx="219456" cy="219456"/>
          </a:xfrm>
          <a:prstGeom prst="ellipse">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741664" y="2286000"/>
            <a:ext cx="2880360" cy="1097280"/>
          </a:xfrm>
          <a:prstGeom prst="rect">
            <a:avLst/>
          </a:prstGeom>
          <a:noFill/>
        </p:spPr>
        <p:txBody>
          <a:bodyPr wrap="square" lIns="45720" tIns="27432" rIns="45720" bIns="27432" anchor="t"/>
          <a:lstStyle/>
          <a:p>
            <a:pPr algn="l"/>
            <a:r>
              <a:rPr sz="1600" b="1" i="0">
                <a:solidFill>
                  <a:srgbClr val="1E9E57"/>
                </a:solidFill>
                <a:latin typeface="Calibri"/>
              </a:rPr>
              <a:t>15 Oct 2026</a:t>
            </a:r>
          </a:p>
          <a:p>
            <a:pPr algn="l"/>
            <a:r>
              <a:rPr sz="1500" b="0" i="0">
                <a:solidFill>
                  <a:srgbClr val="262626"/>
                </a:solidFill>
                <a:latin typeface="Calibri"/>
              </a:rPr>
              <a:t>Introduction meeting</a:t>
            </a:r>
          </a:p>
        </p:txBody>
      </p:sp>
      <p:sp>
        <p:nvSpPr>
          <p:cNvPr id="24" name="Oval 23"/>
          <p:cNvSpPr/>
          <p:nvPr/>
        </p:nvSpPr>
        <p:spPr>
          <a:xfrm>
            <a:off x="8394192" y="3520440"/>
            <a:ext cx="219456" cy="219456"/>
          </a:xfrm>
          <a:prstGeom prst="ellipse">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41664" y="3429000"/>
            <a:ext cx="2880360" cy="1097280"/>
          </a:xfrm>
          <a:prstGeom prst="rect">
            <a:avLst/>
          </a:prstGeom>
          <a:noFill/>
        </p:spPr>
        <p:txBody>
          <a:bodyPr wrap="square" lIns="45720" tIns="27432" rIns="45720" bIns="27432" anchor="t"/>
          <a:lstStyle/>
          <a:p>
            <a:pPr algn="l"/>
            <a:r>
              <a:rPr sz="1600" b="1" i="0">
                <a:solidFill>
                  <a:srgbClr val="1E9E57"/>
                </a:solidFill>
                <a:latin typeface="Calibri"/>
              </a:rPr>
              <a:t>By 30 Oct</a:t>
            </a:r>
          </a:p>
          <a:p>
            <a:pPr algn="l"/>
            <a:r>
              <a:rPr sz="1500" b="0" i="0">
                <a:solidFill>
                  <a:srgbClr val="262626"/>
                </a:solidFill>
                <a:latin typeface="Calibri"/>
              </a:rPr>
              <a:t>NDA, documents &amp; samples</a:t>
            </a:r>
          </a:p>
        </p:txBody>
      </p:sp>
      <p:sp>
        <p:nvSpPr>
          <p:cNvPr id="26" name="Oval 25"/>
          <p:cNvSpPr/>
          <p:nvPr/>
        </p:nvSpPr>
        <p:spPr>
          <a:xfrm>
            <a:off x="8394192" y="4663440"/>
            <a:ext cx="219456" cy="219456"/>
          </a:xfrm>
          <a:prstGeom prst="ellipse">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741664" y="4572000"/>
            <a:ext cx="2880360" cy="1097280"/>
          </a:xfrm>
          <a:prstGeom prst="rect">
            <a:avLst/>
          </a:prstGeom>
          <a:noFill/>
        </p:spPr>
        <p:txBody>
          <a:bodyPr wrap="square" lIns="45720" tIns="27432" rIns="45720" bIns="27432" anchor="t"/>
          <a:lstStyle/>
          <a:p>
            <a:pPr algn="l"/>
            <a:r>
              <a:rPr sz="1600" b="1" i="0">
                <a:solidFill>
                  <a:srgbClr val="1E9E57"/>
                </a:solidFill>
                <a:latin typeface="Calibri"/>
              </a:rPr>
              <a:t>Nov 2026</a:t>
            </a:r>
          </a:p>
          <a:p>
            <a:pPr algn="l"/>
            <a:r>
              <a:rPr sz="1500" b="0" i="0">
                <a:solidFill>
                  <a:srgbClr val="262626"/>
                </a:solidFill>
                <a:latin typeface="Calibri"/>
              </a:rPr>
              <a:t>Product training; agree priority account list</a:t>
            </a:r>
          </a:p>
        </p:txBody>
      </p:sp>
      <p:sp>
        <p:nvSpPr>
          <p:cNvPr id="28" name="Oval 27"/>
          <p:cNvSpPr/>
          <p:nvPr/>
        </p:nvSpPr>
        <p:spPr>
          <a:xfrm>
            <a:off x="8394192" y="5806440"/>
            <a:ext cx="219456" cy="219456"/>
          </a:xfrm>
          <a:prstGeom prst="ellipse">
            <a:avLst/>
          </a:prstGeom>
          <a:solidFill>
            <a:srgbClr val="1E9E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741664" y="5715000"/>
            <a:ext cx="2880360" cy="1097280"/>
          </a:xfrm>
          <a:prstGeom prst="rect">
            <a:avLst/>
          </a:prstGeom>
          <a:noFill/>
        </p:spPr>
        <p:txBody>
          <a:bodyPr wrap="square" lIns="45720" tIns="27432" rIns="45720" bIns="27432" anchor="t"/>
          <a:lstStyle/>
          <a:p>
            <a:pPr algn="l"/>
            <a:r>
              <a:rPr sz="1600" b="1" i="0">
                <a:solidFill>
                  <a:srgbClr val="1E9E57"/>
                </a:solidFill>
                <a:latin typeface="Calibri"/>
              </a:rPr>
              <a:t>Dec 2026</a:t>
            </a:r>
          </a:p>
          <a:p>
            <a:pPr algn="l"/>
            <a:r>
              <a:rPr sz="1500" b="0" i="0">
                <a:solidFill>
                  <a:srgbClr val="262626"/>
                </a:solidFill>
                <a:latin typeface="Calibri"/>
              </a:rPr>
              <a:t>Distribution agreement; first customer presentations</a:t>
            </a:r>
          </a:p>
        </p:txBody>
      </p:sp>
      <p:sp>
        <p:nvSpPr>
          <p:cNvPr id="30" name="Rounded Rectangle 29"/>
          <p:cNvSpPr/>
          <p:nvPr/>
        </p:nvSpPr>
        <p:spPr>
          <a:xfrm>
            <a:off x="457200" y="7223760"/>
            <a:ext cx="11274552" cy="1188720"/>
          </a:xfrm>
          <a:prstGeom prst="roundRect">
            <a:avLst>
              <a:gd name="adj" fmla="val 8000"/>
            </a:avLst>
          </a:prstGeom>
          <a:solidFill>
            <a:srgbClr val="284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31520" y="7269480"/>
            <a:ext cx="10972800" cy="1097280"/>
          </a:xfrm>
          <a:prstGeom prst="rect">
            <a:avLst/>
          </a:prstGeom>
          <a:noFill/>
        </p:spPr>
        <p:txBody>
          <a:bodyPr wrap="square" lIns="45720" tIns="27432" rIns="45720" bIns="27432" anchor="ctr"/>
          <a:lstStyle/>
          <a:p>
            <a:pPr algn="ctr"/>
            <a:r>
              <a:rPr sz="1800" b="1" i="0">
                <a:solidFill>
                  <a:srgbClr val="BFE3CC"/>
                </a:solidFill>
                <a:latin typeface="Calibri"/>
              </a:rPr>
              <a:t>Our commitment: </a:t>
            </a:r>
            <a:r>
              <a:rPr sz="1800" b="0" i="0">
                <a:solidFill>
                  <a:srgbClr val="FFFFFF"/>
                </a:solidFill>
                <a:latin typeface="Calibri"/>
              </a:rPr>
              <a:t>a dedicated team, structured trials and transparent monthly reporting to CJ BIO Vietnam</a:t>
            </a:r>
          </a:p>
        </p:txBody>
      </p:sp>
    </p:spTree>
    <p:extLst>
      <p:ext uri="{BB962C8B-B14F-4D97-AF65-F5344CB8AC3E}">
        <p14:creationId xmlns:p14="http://schemas.microsoft.com/office/powerpoint/2010/main" val="2587015291"/>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9DF7C6-0D9F-40D7-B0E8-D1A6D1D3C1A5}"/>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767475" y="1749127"/>
            <a:ext cx="8657049" cy="2596941"/>
          </a:xfrm>
          <a:prstGeom prst="rect">
            <a:avLst/>
          </a:prstGeom>
        </p:spPr>
      </p:pic>
      <p:sp>
        <p:nvSpPr>
          <p:cNvPr id="10" name="Rectangle 9">
            <a:extLst>
              <a:ext uri="{FF2B5EF4-FFF2-40B4-BE49-F238E27FC236}">
                <a16:creationId xmlns:a16="http://schemas.microsoft.com/office/drawing/2014/main" id="{9E20BEC3-0421-4860-9DE2-121015213B9F}"/>
              </a:ext>
            </a:extLst>
          </p:cNvPr>
          <p:cNvSpPr>
            <a:spLocks noChangeArrowheads="1"/>
          </p:cNvSpPr>
          <p:nvPr/>
        </p:nvSpPr>
        <p:spPr bwMode="auto">
          <a:xfrm>
            <a:off x="3210114" y="4266130"/>
            <a:ext cx="5384800" cy="850903"/>
          </a:xfrm>
          <a:prstGeom prst="rect">
            <a:avLst/>
          </a:prstGeom>
          <a:noFill/>
          <a:ln w="9525" algn="ctr">
            <a:noFill/>
            <a:miter lim="800000"/>
            <a:headEnd/>
            <a:tailEnd/>
          </a:ln>
          <a:effectLst/>
        </p:spPr>
        <p:txBody>
          <a:bodyPr lIns="600000" tIns="62400" rIns="120000" bIns="62400" anchor="ctr"/>
          <a:lstStyle/>
          <a:p>
            <a:pPr algn="ctr" defTabSz="253994">
              <a:defRPr/>
            </a:pPr>
            <a:r>
              <a:rPr lang="de-DE" sz="5400" b="1" dirty="0">
                <a:solidFill>
                  <a:srgbClr val="284F3E"/>
                </a:solidFill>
                <a:latin typeface="Microsoft New Tai Lue" pitchFamily="34" charset="0"/>
                <a:ea typeface="Tahoma" pitchFamily="34" charset="0"/>
                <a:cs typeface="Microsoft New Tai Lue" pitchFamily="34" charset="0"/>
              </a:rPr>
              <a:t>Thank You</a:t>
            </a:r>
          </a:p>
        </p:txBody>
      </p:sp>
      <p:sp>
        <p:nvSpPr>
          <p:cNvPr id="12" name="Rectangle 11">
            <a:extLst>
              <a:ext uri="{FF2B5EF4-FFF2-40B4-BE49-F238E27FC236}">
                <a16:creationId xmlns:a16="http://schemas.microsoft.com/office/drawing/2014/main" id="{8C201E3F-3E05-4E2D-B0A9-AAE3C9056CEA}"/>
              </a:ext>
            </a:extLst>
          </p:cNvPr>
          <p:cNvSpPr/>
          <p:nvPr/>
        </p:nvSpPr>
        <p:spPr>
          <a:xfrm>
            <a:off x="596898" y="5506034"/>
            <a:ext cx="10972800" cy="2909456"/>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rgbClr val="000000"/>
                </a:solidFill>
                <a:latin typeface="Microsoft New Tai Lue" panose="020B0502040204020203" pitchFamily="34" charset="0"/>
                <a:cs typeface="Microsoft New Tai Lue" panose="020B0502040204020203" pitchFamily="34" charset="0"/>
              </a:rPr>
              <a:t>BJC Specialties Vietnam  |  Nguyen Duc Duy Anh </a:t>
            </a:r>
            <a:endParaRPr lang="en-US" sz="1867" dirty="0">
              <a:solidFill>
                <a:srgbClr val="000000"/>
              </a:solidFill>
              <a:latin typeface="Microsoft New Tai Lue" panose="020B0502040204020203" pitchFamily="34" charset="0"/>
              <a:cs typeface="Microsoft New Tai Lue" panose="020B0502040204020203" pitchFamily="34" charset="0"/>
            </a:endParaRPr>
          </a:p>
          <a:p>
            <a:r>
              <a:rPr lang="en-US" sz="1400" dirty="0">
                <a:solidFill>
                  <a:srgbClr val="000000"/>
                </a:solidFill>
                <a:latin typeface="Microsoft New Tai Lue" panose="020B0502040204020203" pitchFamily="34" charset="0"/>
                <a:cs typeface="Microsoft New Tai Lue" panose="020B0502040204020203" pitchFamily="34" charset="0"/>
              </a:rPr>
              <a:t>HCMC: MM Mega Market Office Complex, Lot B, An Phu – An Khanh New Urban Area, Binh Trung Ward, Ho Chi Minh City</a:t>
            </a:r>
          </a:p>
          <a:p>
            <a:r>
              <a:rPr lang="en-US" sz="1400" dirty="0">
                <a:solidFill>
                  <a:srgbClr val="000000"/>
                </a:solidFill>
                <a:latin typeface="Microsoft New Tai Lue" panose="020B0502040204020203" pitchFamily="34" charset="0"/>
                <a:cs typeface="Microsoft New Tai Lue" panose="020B0502040204020203" pitchFamily="34" charset="0"/>
              </a:rPr>
              <a:t>Hanoi: 3rd Floor, Lobby A, Geleximco Building, 897 Giai Phong Street, Hoang Mai Ward, Hanoi</a:t>
            </a:r>
          </a:p>
          <a:p>
            <a:endParaRPr lang="en-US" sz="1400" dirty="0">
              <a:solidFill>
                <a:srgbClr val="000000"/>
              </a:solidFill>
              <a:latin typeface="Microsoft New Tai Lue" panose="020B0502040204020203" pitchFamily="34" charset="0"/>
              <a:cs typeface="Microsoft New Tai Lue" panose="020B0502040204020203" pitchFamily="34" charset="0"/>
            </a:endParaRPr>
          </a:p>
          <a:p>
            <a:r>
              <a:rPr lang="en-US" sz="1400" dirty="0">
                <a:solidFill>
                  <a:srgbClr val="000000"/>
                </a:solidFill>
                <a:latin typeface="Microsoft New Tai Lue" panose="020B0502040204020203" pitchFamily="34" charset="0"/>
                <a:cs typeface="Microsoft New Tai Lue" panose="020B0502040204020203" pitchFamily="34" charset="0"/>
              </a:rPr>
              <a:t>Mobile: (+84) 908 095 693   |   Email: duyanh@bjc.co.th</a:t>
            </a:r>
          </a:p>
        </p:txBody>
      </p:sp>
      <p:sp>
        <p:nvSpPr>
          <p:cNvPr id="13" name="Rectangle 12">
            <a:extLst>
              <a:ext uri="{FF2B5EF4-FFF2-40B4-BE49-F238E27FC236}">
                <a16:creationId xmlns:a16="http://schemas.microsoft.com/office/drawing/2014/main" id="{0DBF2ED6-469F-4F7F-B802-B82EA5A85AC2}"/>
              </a:ext>
            </a:extLst>
          </p:cNvPr>
          <p:cNvSpPr/>
          <p:nvPr/>
        </p:nvSpPr>
        <p:spPr>
          <a:xfrm>
            <a:off x="596898" y="5316206"/>
            <a:ext cx="2613216" cy="379656"/>
          </a:xfrm>
          <a:prstGeom prst="rect">
            <a:avLst/>
          </a:prstGeom>
        </p:spPr>
        <p:txBody>
          <a:bodyPr wrap="none">
            <a:spAutoFit/>
          </a:bodyPr>
          <a:lstStyle/>
          <a:p>
            <a:r>
              <a:rPr lang="en-US" sz="1867" b="1" dirty="0">
                <a:solidFill>
                  <a:srgbClr val="000000"/>
                </a:solidFill>
                <a:latin typeface="Microsoft New Tai Lue" panose="020B0502040204020203" pitchFamily="34" charset="0"/>
                <a:cs typeface="Microsoft New Tai Lue" panose="020B0502040204020203" pitchFamily="34" charset="0"/>
              </a:rPr>
              <a:t>For more information</a:t>
            </a:r>
          </a:p>
        </p:txBody>
      </p:sp>
    </p:spTree>
    <p:extLst>
      <p:ext uri="{BB962C8B-B14F-4D97-AF65-F5344CB8AC3E}">
        <p14:creationId xmlns:p14="http://schemas.microsoft.com/office/powerpoint/2010/main" val="21590332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RESIZE" val="Yes"/>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RESIZE" val="Yes"/>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RESIZE" val="Yes"/>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20140717 Casino Template - Big C Strategy Team_v03">
  <a:themeElements>
    <a:clrScheme name="Big C New Template 2">
      <a:dk1>
        <a:srgbClr val="000000"/>
      </a:dk1>
      <a:lt1>
        <a:srgbClr val="FFFFFF"/>
      </a:lt1>
      <a:dk2>
        <a:srgbClr val="000000"/>
      </a:dk2>
      <a:lt2>
        <a:srgbClr val="FFFFFF"/>
      </a:lt2>
      <a:accent1>
        <a:srgbClr val="B0D030"/>
      </a:accent1>
      <a:accent2>
        <a:srgbClr val="00B000"/>
      </a:accent2>
      <a:accent3>
        <a:srgbClr val="007400"/>
      </a:accent3>
      <a:accent4>
        <a:srgbClr val="005400"/>
      </a:accent4>
      <a:accent5>
        <a:srgbClr val="D4E4AD"/>
      </a:accent5>
      <a:accent6>
        <a:srgbClr val="00A848"/>
      </a:accent6>
      <a:hlink>
        <a:srgbClr val="F8D800"/>
      </a:hlink>
      <a:folHlink>
        <a:srgbClr val="E81820"/>
      </a:folHlink>
    </a:clrScheme>
    <a:fontScheme name="Nouvelle pré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2"/>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defTabSz="932962">
          <a:defRPr sz="1200" b="1" dirty="0"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pitchFamily="34" charset="0"/>
          </a:defRPr>
        </a:defPPr>
      </a:lstStyle>
    </a:lnDef>
    <a:txDef>
      <a:spPr>
        <a:noFill/>
      </a:spPr>
      <a:bodyPr wrap="square" lIns="0" tIns="0" rIns="0" bIns="0" rtlCol="0">
        <a:spAutoFit/>
      </a:bodyPr>
      <a:lstStyle>
        <a:defPPr>
          <a:spcBef>
            <a:spcPts val="0"/>
          </a:spcBef>
          <a:defRPr sz="1600" b="1" dirty="0" smtClean="0"/>
        </a:defPPr>
      </a:lstStyle>
    </a:txDef>
  </a:objectDefaults>
  <a:extraClrSchemeLst>
    <a:extraClrScheme>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ouvelle pré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ouvelle pré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ouvelle pré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ouvelle pré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ouvelle pré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ouvelle pré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ouvelle pré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ouvelle pré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ouvelle pré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ouvelle pré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ouvelle pré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171218 Discussion Material v.1.potx" id="{BF3878D8-FF8C-42D6-B781-2AC3D95AFE6A}" vid="{D9D29F07-511B-4CD5-BE31-D00566853C1A}"/>
    </a:ext>
  </a:extLst>
</a:theme>
</file>

<file path=ppt/theme/theme5.xml><?xml version="1.0" encoding="utf-8"?>
<a:theme xmlns:a="http://schemas.openxmlformats.org/drawingml/2006/main" name="20140717 Casino Template - Big C Strategy Team_v03">
  <a:themeElements>
    <a:clrScheme name="Big C New Template 2">
      <a:dk1>
        <a:srgbClr val="000000"/>
      </a:dk1>
      <a:lt1>
        <a:srgbClr val="FFFFFF"/>
      </a:lt1>
      <a:dk2>
        <a:srgbClr val="000000"/>
      </a:dk2>
      <a:lt2>
        <a:srgbClr val="FFFFFF"/>
      </a:lt2>
      <a:accent1>
        <a:srgbClr val="B0D030"/>
      </a:accent1>
      <a:accent2>
        <a:srgbClr val="00B000"/>
      </a:accent2>
      <a:accent3>
        <a:srgbClr val="007400"/>
      </a:accent3>
      <a:accent4>
        <a:srgbClr val="005400"/>
      </a:accent4>
      <a:accent5>
        <a:srgbClr val="D4E4AD"/>
      </a:accent5>
      <a:accent6>
        <a:srgbClr val="00A848"/>
      </a:accent6>
      <a:hlink>
        <a:srgbClr val="F8D800"/>
      </a:hlink>
      <a:folHlink>
        <a:srgbClr val="E81820"/>
      </a:folHlink>
    </a:clrScheme>
    <a:fontScheme name="Nouvelle pré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2"/>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defTabSz="932962">
          <a:defRPr sz="1200" b="1" dirty="0"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pitchFamily="34" charset="0"/>
          </a:defRPr>
        </a:defPPr>
      </a:lstStyle>
    </a:lnDef>
    <a:txDef>
      <a:spPr>
        <a:noFill/>
      </a:spPr>
      <a:bodyPr wrap="square" lIns="0" tIns="0" rIns="0" bIns="0" rtlCol="0">
        <a:spAutoFit/>
      </a:bodyPr>
      <a:lstStyle>
        <a:defPPr>
          <a:spcBef>
            <a:spcPts val="0"/>
          </a:spcBef>
          <a:defRPr sz="1600" b="1" dirty="0" smtClean="0"/>
        </a:defPPr>
      </a:lstStyle>
    </a:txDef>
  </a:objectDefaults>
  <a:extraClrSchemeLst>
    <a:extraClrScheme>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ouvelle pré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ouvelle pré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ouvelle pré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ouvelle pré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ouvelle pré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ouvelle pré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ouvelle pré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ouvelle pré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ouvelle pré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ouvelle pré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ouvelle pré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20171218 Discussion Material v.1.potx" id="{BF3878D8-FF8C-42D6-B781-2AC3D95AFE6A}" vid="{D9D29F07-511B-4CD5-BE31-D00566853C1A}"/>
    </a:ext>
  </a:extLst>
</a:theme>
</file>

<file path=ppt/theme/theme6.xml><?xml version="1.0" encoding="utf-8"?>
<a:theme xmlns:a="http://schemas.openxmlformats.org/drawingml/2006/main" name="4_20140717 Casino Template - Big C Strategy Team_v03">
  <a:themeElements>
    <a:clrScheme name="Big C New Template 2">
      <a:dk1>
        <a:srgbClr val="000000"/>
      </a:dk1>
      <a:lt1>
        <a:srgbClr val="FFFFFF"/>
      </a:lt1>
      <a:dk2>
        <a:srgbClr val="000000"/>
      </a:dk2>
      <a:lt2>
        <a:srgbClr val="FFFFFF"/>
      </a:lt2>
      <a:accent1>
        <a:srgbClr val="B0D030"/>
      </a:accent1>
      <a:accent2>
        <a:srgbClr val="00B000"/>
      </a:accent2>
      <a:accent3>
        <a:srgbClr val="007400"/>
      </a:accent3>
      <a:accent4>
        <a:srgbClr val="005400"/>
      </a:accent4>
      <a:accent5>
        <a:srgbClr val="D4E4AD"/>
      </a:accent5>
      <a:accent6>
        <a:srgbClr val="00A848"/>
      </a:accent6>
      <a:hlink>
        <a:srgbClr val="F8D800"/>
      </a:hlink>
      <a:folHlink>
        <a:srgbClr val="E81820"/>
      </a:folHlink>
    </a:clrScheme>
    <a:fontScheme name="Nouvelle pré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2"/>
          </a:solidFill>
          <a:prstDash val="solid"/>
          <a:round/>
          <a:headEnd type="none" w="med" len="med"/>
          <a:tailEnd type="none" w="med" len="med"/>
        </a:ln>
        <a:effectLst/>
      </a:spPr>
      <a:bodyPr vert="horz" wrap="square" lIns="91440" tIns="45720" rIns="91440" bIns="45720" numCol="1" rtlCol="0" anchor="ctr" anchorCtr="0" compatLnSpc="1">
        <a:prstTxWarp prst="textNoShape">
          <a:avLst/>
        </a:prstTxWarp>
      </a:bodyPr>
      <a:lstStyle>
        <a:defPPr defTabSz="932962">
          <a:defRPr sz="1200" b="1" dirty="0"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pitchFamily="34" charset="0"/>
          </a:defRPr>
        </a:defPPr>
      </a:lstStyle>
    </a:lnDef>
    <a:txDef>
      <a:spPr>
        <a:noFill/>
      </a:spPr>
      <a:bodyPr wrap="square" lIns="0" tIns="0" rIns="0" bIns="0" rtlCol="0">
        <a:spAutoFit/>
      </a:bodyPr>
      <a:lstStyle>
        <a:defPPr>
          <a:spcBef>
            <a:spcPts val="0"/>
          </a:spcBef>
          <a:defRPr sz="1600" b="1" dirty="0" smtClean="0"/>
        </a:defPPr>
      </a:lstStyle>
    </a:txDef>
  </a:objectDefaults>
  <a:extraClrSchemeLst>
    <a:extraClrScheme>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Nouvelle pré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Nouvelle pré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Nouvelle pré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Nouvelle pré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Nouvelle pré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Nouvelle pré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Nouvelle pré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Nouvelle pré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Nouvelle pré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Nouvelle pré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Nouvelle pré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Office Theme</Template>
  <TotalTime>5132</TotalTime>
  <Words>6630</Words>
  <Application>Microsoft Office PowerPoint</Application>
  <PresentationFormat>Custom</PresentationFormat>
  <Paragraphs>857</Paragraphs>
  <Slides>29</Slides>
  <Notes>29</Notes>
  <HiddenSlides>0</HiddenSlides>
  <MMClips>0</MMClips>
  <ScaleCrop>false</ScaleCrop>
  <HeadingPairs>
    <vt:vector size="8" baseType="variant">
      <vt:variant>
        <vt:lpstr>Fonts Used</vt:lpstr>
      </vt:variant>
      <vt:variant>
        <vt:i4>6</vt:i4>
      </vt:variant>
      <vt:variant>
        <vt:lpstr>Theme</vt:lpstr>
      </vt:variant>
      <vt:variant>
        <vt:i4>6</vt:i4>
      </vt:variant>
      <vt:variant>
        <vt:lpstr>Embedded OLE Servers</vt:lpstr>
      </vt:variant>
      <vt:variant>
        <vt:i4>1</vt:i4>
      </vt:variant>
      <vt:variant>
        <vt:lpstr>Slide Titles</vt:lpstr>
      </vt:variant>
      <vt:variant>
        <vt:i4>29</vt:i4>
      </vt:variant>
    </vt:vector>
  </HeadingPairs>
  <TitlesOfParts>
    <vt:vector size="42" baseType="lpstr">
      <vt:lpstr>Abadi</vt:lpstr>
      <vt:lpstr>Arial</vt:lpstr>
      <vt:lpstr>Calibri</vt:lpstr>
      <vt:lpstr>Calibri Light</vt:lpstr>
      <vt:lpstr>Century Gothic</vt:lpstr>
      <vt:lpstr>Microsoft New Tai Lue</vt:lpstr>
      <vt:lpstr>Office Theme</vt:lpstr>
      <vt:lpstr>3_Office Theme</vt:lpstr>
      <vt:lpstr>1_Office Theme</vt:lpstr>
      <vt:lpstr>1_20140717 Casino Template - Big C Strategy Team_v03</vt:lpstr>
      <vt:lpstr>20140717 Casino Template - Big C Strategy Team_v03</vt:lpstr>
      <vt:lpstr>4_20140717 Casino Template - Big C Strategy Team_v03</vt:lpstr>
      <vt:lpstr>think-cell Slide</vt:lpstr>
      <vt:lpstr>PowerPoint Presentation</vt:lpstr>
      <vt:lpstr>Executive Summary</vt:lpstr>
      <vt:lpstr>Agenda</vt:lpstr>
      <vt:lpstr>PowerPoint Presentation</vt:lpstr>
      <vt:lpstr>BJC × CJ BIO: Thailand to Vietnam</vt:lpstr>
      <vt:lpstr>BJCS Vietnam – Platform Today</vt:lpstr>
      <vt:lpstr>PowerPoint Presentation</vt:lpstr>
      <vt:lpstr>PowerPoint Presentation</vt:lpstr>
      <vt:lpstr>Vietnam Food Industry at a Glance</vt:lpstr>
      <vt:lpstr>HYBIND – Market Size &amp; Drivers</vt:lpstr>
      <vt:lpstr>FGAA – Market Size &amp; Drivers</vt:lpstr>
      <vt:lpstr>Regulatory Status Today</vt:lpstr>
      <vt:lpstr>Regulatory Pathway &amp; Checklist</vt:lpstr>
      <vt:lpstr>CJ BIO Portfolio – Applications</vt:lpstr>
      <vt:lpstr>HYBIND – Meat &amp; Poultry Map</vt:lpstr>
      <vt:lpstr>HYBIND – Priority Meat Accounts</vt:lpstr>
      <vt:lpstr>HYBIND – Seafood Opportunity</vt:lpstr>
      <vt:lpstr>HYBIND – Seafood Accounts</vt:lpstr>
      <vt:lpstr>FGAA – Segment &amp; Region Map</vt:lpstr>
      <vt:lpstr>FGAA – Priority Accounts</vt:lpstr>
      <vt:lpstr>HYBIND – Value Proposition</vt:lpstr>
      <vt:lpstr>HYBIND – Customer Pain Points</vt:lpstr>
      <vt:lpstr>FGAA – Value Proposition</vt:lpstr>
      <vt:lpstr>FGAA – Customer Pain Points</vt:lpstr>
      <vt:lpstr>Account Approach &amp; Trials</vt:lpstr>
      <vt:lpstr>Competition &amp; CJ Positioning</vt:lpstr>
      <vt:lpstr>Go-to-Market Roadmap</vt:lpstr>
      <vt:lpstr>Partnership &amp; Next Steps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SPD Warissara Chanawisesgul</dc:creator>
  <cp:lastModifiedBy>BJC corp</cp:lastModifiedBy>
  <cp:revision>231</cp:revision>
  <cp:lastPrinted>2024-06-06T15:54:28Z</cp:lastPrinted>
  <dcterms:created xsi:type="dcterms:W3CDTF">2018-03-14T04:56:06Z</dcterms:created>
  <dcterms:modified xsi:type="dcterms:W3CDTF">2026-10-13T02:15:57Z</dcterms:modified>
</cp:coreProperties>
</file>